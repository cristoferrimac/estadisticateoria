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331" r:id="rId2"/>
    <p:sldId id="335" r:id="rId3"/>
    <p:sldId id="337" r:id="rId4"/>
    <p:sldId id="338" r:id="rId5"/>
    <p:sldId id="355" r:id="rId6"/>
    <p:sldId id="364" r:id="rId7"/>
    <p:sldId id="365" r:id="rId8"/>
    <p:sldId id="339" r:id="rId9"/>
    <p:sldId id="356" r:id="rId10"/>
    <p:sldId id="370" r:id="rId11"/>
    <p:sldId id="371" r:id="rId12"/>
    <p:sldId id="372" r:id="rId13"/>
    <p:sldId id="366" r:id="rId14"/>
    <p:sldId id="368" r:id="rId15"/>
    <p:sldId id="367" r:id="rId16"/>
    <p:sldId id="346" r:id="rId17"/>
    <p:sldId id="341" r:id="rId18"/>
    <p:sldId id="342" r:id="rId19"/>
    <p:sldId id="369" r:id="rId20"/>
    <p:sldId id="361" r:id="rId21"/>
    <p:sldId id="380" r:id="rId22"/>
    <p:sldId id="373" r:id="rId23"/>
    <p:sldId id="362" r:id="rId24"/>
    <p:sldId id="347" r:id="rId25"/>
    <p:sldId id="343" r:id="rId26"/>
    <p:sldId id="344" r:id="rId27"/>
    <p:sldId id="345" r:id="rId28"/>
    <p:sldId id="348" r:id="rId29"/>
    <p:sldId id="358" r:id="rId30"/>
    <p:sldId id="375" r:id="rId31"/>
    <p:sldId id="354" r:id="rId32"/>
    <p:sldId id="378" r:id="rId33"/>
    <p:sldId id="349" r:id="rId34"/>
    <p:sldId id="350" r:id="rId35"/>
    <p:sldId id="351" r:id="rId36"/>
    <p:sldId id="376" r:id="rId37"/>
    <p:sldId id="379" r:id="rId38"/>
    <p:sldId id="359" r:id="rId39"/>
  </p:sldIdLst>
  <p:sldSz cx="9144000" cy="6858000" type="screen4x3"/>
  <p:notesSz cx="6781800" cy="992663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CC66"/>
    <a:srgbClr val="FF6600"/>
    <a:srgbClr val="660066"/>
    <a:srgbClr val="FF0000"/>
    <a:srgbClr val="FFFF66"/>
    <a:srgbClr val="FFFF99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UNIV%20BARRANCA\2020-2\TABLAS%20FREC-GRAFICA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UNIV%20BARRANCA\2020-2\TABLAS%20FREC-GRAFICA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Libro1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F:\UNIV%20BARRANCA\2018-2\CONTABILIDAD-ESTADIST%20GRAL\TF-RESUELTO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F:\UNIV%20BARRANCA\2018-2\CONTABILIDAD-ESTADIST%20GRAL\TF-RESUELTO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D:\UNIV%20BARRANCA\2018-2\CONTABILIDAD-ESTADIST%20GRAL\TF-RESUELTO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D:\UNIV%20BARRANCA\2018-2\CONTABILIDAD-ESTADIST%20GRAL\TF-RESUELTO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/>
              <a:t>NUMERO DE ESTUDIANTES SEGUN COLOR DE OJOS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14-4ECA-BE0F-CDA045B6C372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014-4ECA-BE0F-CDA045B6C3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'COLOR OJOS'!$B$13:$B$15</c:f>
              <c:strCache>
                <c:ptCount val="3"/>
                <c:pt idx="0">
                  <c:v>VERDE</c:v>
                </c:pt>
                <c:pt idx="1">
                  <c:v>AZUL</c:v>
                </c:pt>
                <c:pt idx="2">
                  <c:v>MARRON</c:v>
                </c:pt>
              </c:strCache>
            </c:strRef>
          </c:cat>
          <c:val>
            <c:numRef>
              <c:f>'COLOR OJOS'!$C$13:$C$15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14-4ECA-BE0F-CDA045B6C3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50669743"/>
        <c:axId val="2050674319"/>
      </c:barChart>
      <c:catAx>
        <c:axId val="205066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050674319"/>
        <c:crosses val="autoZero"/>
        <c:auto val="1"/>
        <c:lblAlgn val="ctr"/>
        <c:lblOffset val="100"/>
        <c:noMultiLvlLbl val="0"/>
      </c:catAx>
      <c:valAx>
        <c:axId val="2050674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05066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/>
              <a:t>NUMERO DE ESTUDIANTES SEGUN COLOR DE OJOS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C2F-46BD-BCDA-57DC3CF00D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C2F-46BD-BCDA-57DC3CF00D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C2F-46BD-BCDA-57DC3CF00D82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'COLOR OJOS'!$B$13:$B$15</c:f>
              <c:strCache>
                <c:ptCount val="3"/>
                <c:pt idx="0">
                  <c:v>VERDE</c:v>
                </c:pt>
                <c:pt idx="1">
                  <c:v>AZUL</c:v>
                </c:pt>
                <c:pt idx="2">
                  <c:v>MARRON</c:v>
                </c:pt>
              </c:strCache>
            </c:strRef>
          </c:cat>
          <c:val>
            <c:numRef>
              <c:f>'COLOR OJOS'!$C$13:$C$15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C2F-46BD-BCDA-57DC3CF00D8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E0-47FF-9168-63A89C06D108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27-4A1B-B607-FE0186D7474E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27-4A1B-B607-FE0186D747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Hoja2!$B$8:$B$10</c:f>
              <c:strCache>
                <c:ptCount val="3"/>
                <c:pt idx="0">
                  <c:v>B</c:v>
                </c:pt>
                <c:pt idx="1">
                  <c:v>M</c:v>
                </c:pt>
                <c:pt idx="2">
                  <c:v>A</c:v>
                </c:pt>
              </c:strCache>
            </c:strRef>
          </c:cat>
          <c:val>
            <c:numRef>
              <c:f>Hoja2!$C$8:$C$10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27-4A1B-B607-FE0186D747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CC66"/>
    </a:solidFill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'DISCRETA (2)'!$A$5:$A$9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'DISCRETA (2)'!$B$5:$B$9</c:f>
              <c:numCache>
                <c:formatCode>General</c:formatCode>
                <c:ptCount val="5"/>
                <c:pt idx="0">
                  <c:v>5</c:v>
                </c:pt>
                <c:pt idx="1">
                  <c:v>7</c:v>
                </c:pt>
                <c:pt idx="2">
                  <c:v>11</c:v>
                </c:pt>
                <c:pt idx="3">
                  <c:v>10</c:v>
                </c:pt>
                <c:pt idx="4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8E-40CF-A541-C95626EFE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marker val="1"/>
        <c:smooth val="0"/>
        <c:axId val="275659240"/>
        <c:axId val="275660808"/>
      </c:lineChart>
      <c:catAx>
        <c:axId val="275659240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60808"/>
        <c:crosses val="autoZero"/>
        <c:auto val="1"/>
        <c:lblAlgn val="ctr"/>
        <c:lblOffset val="100"/>
        <c:noMultiLvlLbl val="0"/>
      </c:catAx>
      <c:valAx>
        <c:axId val="275660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592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noFill/>
            <a:ln>
              <a:solidFill>
                <a:schemeClr val="tx1"/>
              </a:solidFill>
              <a:prstDash val="sysDot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'DISCRETA (2)'!$C$5:$C$9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23</c:v>
                </c:pt>
                <c:pt idx="3">
                  <c:v>33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4F-42A5-AE94-A54F554CA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75658456"/>
        <c:axId val="275653752"/>
      </c:barChart>
      <c:catAx>
        <c:axId val="275658456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53752"/>
        <c:crosses val="autoZero"/>
        <c:auto val="1"/>
        <c:lblAlgn val="ctr"/>
        <c:lblOffset val="100"/>
        <c:noMultiLvlLbl val="0"/>
      </c:catAx>
      <c:valAx>
        <c:axId val="275653752"/>
        <c:scaling>
          <c:orientation val="minMax"/>
        </c:scaling>
        <c:delete val="0"/>
        <c:axPos val="l"/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58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CC66"/>
    </a:solidFill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noFill/>
            <a:ln w="127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CONTINUA!$I$11:$I$18</c:f>
              <c:numCache>
                <c:formatCode>General</c:formatCode>
                <c:ptCount val="8"/>
                <c:pt idx="0">
                  <c:v>2.5</c:v>
                </c:pt>
                <c:pt idx="1">
                  <c:v>9.5</c:v>
                </c:pt>
                <c:pt idx="2">
                  <c:v>16.5</c:v>
                </c:pt>
                <c:pt idx="3">
                  <c:v>23.5</c:v>
                </c:pt>
                <c:pt idx="4">
                  <c:v>30.5</c:v>
                </c:pt>
                <c:pt idx="5">
                  <c:v>37.5</c:v>
                </c:pt>
                <c:pt idx="6">
                  <c:v>44.5</c:v>
                </c:pt>
                <c:pt idx="7">
                  <c:v>51.5</c:v>
                </c:pt>
              </c:numCache>
            </c:numRef>
          </c:cat>
          <c:val>
            <c:numRef>
              <c:f>CONTINUA!$J$11:$J$18</c:f>
              <c:numCache>
                <c:formatCode>General</c:formatCode>
                <c:ptCount val="8"/>
                <c:pt idx="0">
                  <c:v>0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3</c:v>
                </c:pt>
                <c:pt idx="5">
                  <c:v>4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C-4918-8DBB-B5D4FF79C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75650616"/>
        <c:axId val="275656888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CONTINUA!$J$11:$J$18</c:f>
              <c:numCache>
                <c:formatCode>General</c:formatCode>
                <c:ptCount val="8"/>
                <c:pt idx="0">
                  <c:v>0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3</c:v>
                </c:pt>
                <c:pt idx="5">
                  <c:v>4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6C-4918-8DBB-B5D4FF79C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5650616"/>
        <c:axId val="275656888"/>
      </c:lineChart>
      <c:catAx>
        <c:axId val="275650616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56888"/>
        <c:crosses val="autoZero"/>
        <c:auto val="1"/>
        <c:lblAlgn val="ctr"/>
        <c:lblOffset val="100"/>
        <c:noMultiLvlLbl val="0"/>
      </c:catAx>
      <c:valAx>
        <c:axId val="275656888"/>
        <c:scaling>
          <c:orientation val="minMax"/>
        </c:scaling>
        <c:delete val="0"/>
        <c:axPos val="l"/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50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CC66"/>
    </a:solidFill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CONTINUA!$H$11:$H$17</c:f>
              <c:numCache>
                <c:formatCode>General</c:formatCode>
                <c:ptCount val="7"/>
                <c:pt idx="0">
                  <c:v>6</c:v>
                </c:pt>
                <c:pt idx="1">
                  <c:v>13</c:v>
                </c:pt>
                <c:pt idx="2">
                  <c:v>20</c:v>
                </c:pt>
                <c:pt idx="3">
                  <c:v>27</c:v>
                </c:pt>
                <c:pt idx="4">
                  <c:v>34</c:v>
                </c:pt>
                <c:pt idx="5">
                  <c:v>41</c:v>
                </c:pt>
                <c:pt idx="6">
                  <c:v>48</c:v>
                </c:pt>
              </c:numCache>
            </c:numRef>
          </c:cat>
          <c:val>
            <c:numRef>
              <c:f>CONTINUA!$K$11:$K$17</c:f>
              <c:numCache>
                <c:formatCode>General</c:formatCode>
                <c:ptCount val="7"/>
                <c:pt idx="0">
                  <c:v>0</c:v>
                </c:pt>
                <c:pt idx="1">
                  <c:v>8</c:v>
                </c:pt>
                <c:pt idx="2">
                  <c:v>20</c:v>
                </c:pt>
                <c:pt idx="3">
                  <c:v>36</c:v>
                </c:pt>
                <c:pt idx="4">
                  <c:v>39</c:v>
                </c:pt>
                <c:pt idx="5">
                  <c:v>43</c:v>
                </c:pt>
                <c:pt idx="6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7D-4255-89F9-D3F5DAC76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5654536"/>
        <c:axId val="275651400"/>
      </c:lineChart>
      <c:catAx>
        <c:axId val="275654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51400"/>
        <c:crosses val="autoZero"/>
        <c:auto val="1"/>
        <c:lblAlgn val="ctr"/>
        <c:lblOffset val="100"/>
        <c:noMultiLvlLbl val="0"/>
      </c:catAx>
      <c:valAx>
        <c:axId val="275651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275654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CC66"/>
    </a:solidFill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288286-6DF3-42DE-B0D7-7EAD9D5501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B9D759C-8965-4E6C-90B3-6318E8825F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3338" y="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A56DC57-71D1-4E6B-9397-8BBA88D2F2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4875"/>
            <a:ext cx="49720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03D34C2-9D11-478A-8D7E-6C9E7E4267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C133A4B-CA31-43C1-BD03-C8C5C2D5D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338" y="9429750"/>
            <a:ext cx="29384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B00F1A0-44AB-4B5D-88EB-89C12F16E14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677" cy="6858000"/>
          </a:xfrm>
        </p:grpSpPr>
        <p:pic>
          <p:nvPicPr>
            <p:cNvPr id="5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4208E60-F1FE-4E4F-8BC8-14388DC526C7}"/>
                </a:ext>
              </a:extLst>
            </p:cNvPr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7" name="Picture 11" descr="HDRibbonTitle-UniformTri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8"/>
            <a:stretch>
              <a:fillRect/>
            </a:stretch>
          </p:blipFill>
          <p:spPr bwMode="auto">
            <a:xfrm>
              <a:off x="0" y="3128434"/>
              <a:ext cx="1664208" cy="612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2" descr="HDRibbonTitle-UniformTri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8"/>
            <a:stretch>
              <a:fillRect/>
            </a:stretch>
          </p:blipFill>
          <p:spPr bwMode="auto">
            <a:xfrm>
              <a:off x="7480469" y="3128434"/>
              <a:ext cx="1664208" cy="612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E4154752-0F87-421B-894F-B49AC7B1B11C}"/>
              </a:ext>
            </a:extLst>
          </p:cNvPr>
          <p:cNvCxnSpPr/>
          <p:nvPr/>
        </p:nvCxnSpPr>
        <p:spPr>
          <a:xfrm>
            <a:off x="2019300" y="3471863"/>
            <a:ext cx="511333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19DA6F5-5826-4C7C-8669-C1BFAF90C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65838" y="5054600"/>
            <a:ext cx="6731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8ADED96-9709-497F-952F-8E68DB981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2463" y="5054600"/>
            <a:ext cx="40640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13B518-110E-4D56-A381-D97DA82C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6725" y="5054600"/>
            <a:ext cx="414338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A11F4-FED8-493B-9E61-A595EAD4B15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540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4E334105-AD05-4097-AFFA-B15FD0C8C67B}"/>
              </a:ext>
            </a:extLst>
          </p:cNvPr>
          <p:cNvCxnSpPr/>
          <p:nvPr/>
        </p:nvCxnSpPr>
        <p:spPr>
          <a:xfrm>
            <a:off x="1277938" y="235585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9B98324-31E2-45C8-A646-3D0724DE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A2A17B-1EA3-4006-8092-5037C4F8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1C3539-0196-44B5-91AD-D01DC96A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F19BF-A31C-4DF6-B057-2A31D92C176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751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0">
            <a:extLst>
              <a:ext uri="{FF2B5EF4-FFF2-40B4-BE49-F238E27FC236}">
                <a16:creationId xmlns:a16="http://schemas.microsoft.com/office/drawing/2014/main" id="{3CECF049-7CE3-4014-9DC2-A6D1C80B49E0}"/>
              </a:ext>
            </a:extLst>
          </p:cNvPr>
          <p:cNvCxnSpPr/>
          <p:nvPr/>
        </p:nvCxnSpPr>
        <p:spPr>
          <a:xfrm>
            <a:off x="1277938" y="35988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C2A2B9E-0486-4B0B-ACFD-CEA009B8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4FD85B-7219-4473-BBEA-87ED9AC5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2EFC5E-EEEB-4DCA-85E0-8C73A1D6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DFA2E-FE89-4077-92F9-FE11B6DBC16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484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6BBD478C-A737-4F93-9B28-8170501A59B4}"/>
              </a:ext>
            </a:extLst>
          </p:cNvPr>
          <p:cNvCxnSpPr/>
          <p:nvPr/>
        </p:nvCxnSpPr>
        <p:spPr>
          <a:xfrm>
            <a:off x="1277938" y="235585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68F1C46-ADF0-4F98-9EA7-5F5F78ED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C8C0E68-247D-4AA1-A536-8532FD94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464573C-55DB-4F2C-9A50-B9A97B41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957F1-4260-4A16-A76A-97235CE040A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055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40">
            <a:extLst>
              <a:ext uri="{FF2B5EF4-FFF2-40B4-BE49-F238E27FC236}">
                <a16:creationId xmlns:a16="http://schemas.microsoft.com/office/drawing/2014/main" id="{AC101ABA-0F32-4C51-A1AC-64C2F5D8B949}"/>
              </a:ext>
            </a:extLst>
          </p:cNvPr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5472764D-D6B8-45C4-AF25-B0893F9A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5AC60F6C-2A58-41DF-BF6A-807CC787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A94CB05-2040-4D6E-A528-C3B2B298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53097-5235-4914-9C34-8457F78D291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299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94E5AB51-8117-41C7-9993-C736C0B5FFEA}"/>
              </a:ext>
            </a:extLst>
          </p:cNvPr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3FE6E4D-3317-45A4-BA8D-DDB7C888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8542EF-42E4-424E-A701-A27ABF93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83B66A1-2F54-46CC-ACF3-797EF529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7E0E8-51C7-4AE1-AD31-3B97789EB53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15070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81CD13B-E960-4D71-8D84-EB4868BA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0EDA6E-51F2-434B-B9A8-15CFE5A9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E889CA-7702-408A-BDF0-904E4210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EBBEA-0221-4363-8007-47D5675A008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971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5">
            <a:extLst>
              <a:ext uri="{FF2B5EF4-FFF2-40B4-BE49-F238E27FC236}">
                <a16:creationId xmlns:a16="http://schemas.microsoft.com/office/drawing/2014/main" id="{333A5EC3-72F6-4A2F-8302-357B1844F2BD}"/>
              </a:ext>
            </a:extLst>
          </p:cNvPr>
          <p:cNvCxnSpPr/>
          <p:nvPr/>
        </p:nvCxnSpPr>
        <p:spPr>
          <a:xfrm>
            <a:off x="1277938" y="2913063"/>
            <a:ext cx="23336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569DE21-5AE6-4670-8253-FEA95658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589EEA4-51E3-4A67-BB2F-3E0B28F8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32D155F-AF79-4876-BD9D-7E354189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4A93C5-6AF3-4185-84CD-3DB5CC81D3D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375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81CD13B-E960-4D71-8D84-EB4868BA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EDA6E-51F2-434B-B9A8-15CFE5A9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E889CA-7702-408A-BDF0-904E4210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2D1FB-BA74-4550-8225-50BE58C8216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733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81CD13B-E960-4D71-8D84-EB4868BA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EDA6E-51F2-434B-B9A8-15CFE5A9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E889CA-7702-408A-BDF0-904E4210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86392-AF4E-43B6-8806-D3435F9F3E2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4104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4">
            <a:extLst>
              <a:ext uri="{FF2B5EF4-FFF2-40B4-BE49-F238E27FC236}">
                <a16:creationId xmlns:a16="http://schemas.microsoft.com/office/drawing/2014/main" id="{680985E6-79EB-4338-83A7-128E66A69E13}"/>
              </a:ext>
            </a:extLst>
          </p:cNvPr>
          <p:cNvCxnSpPr/>
          <p:nvPr/>
        </p:nvCxnSpPr>
        <p:spPr>
          <a:xfrm>
            <a:off x="1277938" y="4140200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7B3E644-F3D1-4056-ACDC-E34F8E33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9C867BA-A487-4662-ADA9-8178502A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931DFEA-881D-4EC0-836C-38510004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B9244-7237-47CE-80A5-8F0C48E9A31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7778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3">
            <a:extLst>
              <a:ext uri="{FF2B5EF4-FFF2-40B4-BE49-F238E27FC236}">
                <a16:creationId xmlns:a16="http://schemas.microsoft.com/office/drawing/2014/main" id="{15707A62-335A-4B38-9501-6CA3420F4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904875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es-PE" sz="7200"/>
              <a:t>“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CF082929-9124-4C60-A5E7-FD79548C3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288" y="2827338"/>
            <a:ext cx="4572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defRPr/>
            </a:pPr>
            <a:r>
              <a:rPr lang="en-US" altLang="es-PE" sz="7200"/>
              <a:t>”</a:t>
            </a:r>
          </a:p>
        </p:txBody>
      </p:sp>
      <p:cxnSp>
        <p:nvCxnSpPr>
          <p:cNvPr id="7" name="Straight Connector 18">
            <a:extLst>
              <a:ext uri="{FF2B5EF4-FFF2-40B4-BE49-F238E27FC236}">
                <a16:creationId xmlns:a16="http://schemas.microsoft.com/office/drawing/2014/main" id="{3E105819-9A61-4F23-9C7F-34D4FEDC950C}"/>
              </a:ext>
            </a:extLst>
          </p:cNvPr>
          <p:cNvCxnSpPr/>
          <p:nvPr/>
        </p:nvCxnSpPr>
        <p:spPr>
          <a:xfrm>
            <a:off x="1277938" y="414020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C65D48E-4F9B-4363-8C4C-EAEAAA6286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8926C0B-6849-45C6-820F-E39ABDC492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C6EA80F-886A-4F35-BF79-66E66F8BF9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E8BA0-7F1A-423F-AEC6-93D48B9AC9D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3563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CD13B-E960-4D71-8D84-EB4868BA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EDA6E-51F2-434B-B9A8-15CFE5A9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889CA-7702-408A-BDF0-904E4210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D8122-9202-4C52-BB53-FA2FFD14F62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433866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1">
            <a:extLst>
              <a:ext uri="{FF2B5EF4-FFF2-40B4-BE49-F238E27FC236}">
                <a16:creationId xmlns:a16="http://schemas.microsoft.com/office/drawing/2014/main" id="{A713580F-B897-4122-BD83-8C9B5C598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896938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defRPr/>
            </a:pPr>
            <a:r>
              <a:rPr lang="en-US" altLang="es-PE" sz="8000"/>
              <a:t>“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C5283291-9CD6-4146-B620-2D0D3C8A0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163" y="2608263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defRPr/>
            </a:pPr>
            <a:r>
              <a:rPr lang="en-US" altLang="es-PE" sz="8000"/>
              <a:t>”</a:t>
            </a:r>
          </a:p>
        </p:txBody>
      </p:sp>
      <p:cxnSp>
        <p:nvCxnSpPr>
          <p:cNvPr id="7" name="Straight Connector 25">
            <a:extLst>
              <a:ext uri="{FF2B5EF4-FFF2-40B4-BE49-F238E27FC236}">
                <a16:creationId xmlns:a16="http://schemas.microsoft.com/office/drawing/2014/main" id="{78D584BD-000A-429B-9A9D-4CC3EABB297A}"/>
              </a:ext>
            </a:extLst>
          </p:cNvPr>
          <p:cNvCxnSpPr/>
          <p:nvPr/>
        </p:nvCxnSpPr>
        <p:spPr>
          <a:xfrm>
            <a:off x="1277938" y="3429000"/>
            <a:ext cx="65960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96F01E1-010C-4BD9-A9FB-6B8229EAF78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06A6BD7-820E-4CCC-A44C-F447660835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866163-0664-40AE-945E-F6E98B18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574FA-6673-4E54-85F2-708193308E2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88090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6980334E-AEE5-4E58-BA55-A3993A0D8D8A}"/>
              </a:ext>
            </a:extLst>
          </p:cNvPr>
          <p:cNvCxnSpPr/>
          <p:nvPr/>
        </p:nvCxnSpPr>
        <p:spPr>
          <a:xfrm>
            <a:off x="1277938" y="3429000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rtlCol="0">
            <a:normAutofit/>
          </a:bodyPr>
          <a:lstStyle>
            <a:lvl1pPr>
              <a:defRPr lang="en-US" sz="3200" b="0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122176-287D-4739-B6D6-DED1C9799F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8820FDC-5DC2-419F-9C3E-F78DE744C5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06C5ECB-2284-43C0-9B23-9F37F4854E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70E89-647E-4F98-9463-0D23BF1007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852719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>
            <a:extLst>
              <a:ext uri="{FF2B5EF4-FFF2-40B4-BE49-F238E27FC236}">
                <a16:creationId xmlns:a16="http://schemas.microsoft.com/office/drawing/2014/main" id="{D1BE2891-B474-4E13-94D6-B1E737D4C5C9}"/>
              </a:ext>
            </a:extLst>
          </p:cNvPr>
          <p:cNvCxnSpPr/>
          <p:nvPr/>
        </p:nvCxnSpPr>
        <p:spPr>
          <a:xfrm>
            <a:off x="1277938" y="2354263"/>
            <a:ext cx="66071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99E5F5-5303-49DE-B0D0-B4993ED5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CBCE257-3B71-43E8-B1B3-7602AF91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F78ECA7-51B8-41A9-9974-9345A343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0A4AB-00BD-4CD7-B281-7D394144431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4698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3">
            <a:extLst>
              <a:ext uri="{FF2B5EF4-FFF2-40B4-BE49-F238E27FC236}">
                <a16:creationId xmlns:a16="http://schemas.microsoft.com/office/drawing/2014/main" id="{B44B8FE4-D556-4614-AC1D-6DEE35600618}"/>
              </a:ext>
            </a:extLst>
          </p:cNvPr>
          <p:cNvCxnSpPr/>
          <p:nvPr/>
        </p:nvCxnSpPr>
        <p:spPr>
          <a:xfrm>
            <a:off x="6245225" y="906463"/>
            <a:ext cx="0" cy="4968875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6F4CD6-B530-4B3B-AF46-ED80A72A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00DB286-8E56-4436-9098-CFDA60AFB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F8FC58D-8C19-423E-9087-FE82A559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23D2B-002A-4D49-8FA4-D210778D2C2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37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0" y="0"/>
            <a:ext cx="9151938" cy="6858000"/>
            <a:chOff x="0" y="0"/>
            <a:chExt cx="9152467" cy="6858000"/>
          </a:xfrm>
        </p:grpSpPr>
        <p:pic>
          <p:nvPicPr>
            <p:cNvPr id="1032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3C5284-75EF-4C3D-99A6-723EEA387F1C}"/>
                </a:ext>
              </a:extLst>
            </p:cNvPr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36" name="Picture 9" descr="HDRibbonContent-UniformTrim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0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7" name="Picture 10" descr="HDRibbonContent-UniformTrim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8466667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176338" y="915988"/>
            <a:ext cx="6799262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76338" y="2490788"/>
            <a:ext cx="6799262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  <a:endParaRPr lang="en-US" alt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CD13B-E960-4D71-8D84-EB4868BA4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56350" y="5961063"/>
            <a:ext cx="11493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EDA6E-51F2-434B-B9A8-15CFE5A91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6338" y="5961063"/>
            <a:ext cx="51054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889CA-7702-408A-BDF0-904E42105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80313" y="5961063"/>
            <a:ext cx="39528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D497647B-6530-476D-84A1-811B548E492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81" r:id="rId7"/>
    <p:sldLayoutId id="2147484091" r:id="rId8"/>
    <p:sldLayoutId id="2147484082" r:id="rId9"/>
    <p:sldLayoutId id="2147484083" r:id="rId10"/>
    <p:sldLayoutId id="2147484092" r:id="rId11"/>
    <p:sldLayoutId id="2147484093" r:id="rId12"/>
    <p:sldLayoutId id="2147484084" r:id="rId13"/>
    <p:sldLayoutId id="2147484094" r:id="rId14"/>
    <p:sldLayoutId id="2147484095" r:id="rId15"/>
    <p:sldLayoutId id="2147484096" r:id="rId16"/>
    <p:sldLayoutId id="2147484097" r:id="rId17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rgbClr val="262626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3pPr>
      <a:lvl4pPr marL="15430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600" kern="1200">
          <a:solidFill>
            <a:srgbClr val="262626"/>
          </a:solidFill>
          <a:latin typeface="+mn-lt"/>
          <a:ea typeface="+mn-ea"/>
          <a:cs typeface="+mn-cs"/>
        </a:defRPr>
      </a:lvl4pPr>
      <a:lvl5pPr marL="20002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oleObject" Target="../embeddings/oleObject5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para que es la estadist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881" y="3736975"/>
            <a:ext cx="5184775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ítulo 4"/>
          <p:cNvSpPr>
            <a:spLocks noGrp="1"/>
          </p:cNvSpPr>
          <p:nvPr>
            <p:ph type="ctrTitle"/>
          </p:nvPr>
        </p:nvSpPr>
        <p:spPr>
          <a:xfrm>
            <a:off x="179388" y="668338"/>
            <a:ext cx="7772400" cy="1046162"/>
          </a:xfrm>
        </p:spPr>
        <p:txBody>
          <a:bodyPr/>
          <a:lstStyle/>
          <a:p>
            <a:pPr eaLnBrk="1" hangingPunct="1"/>
            <a:r>
              <a:rPr lang="es-PE" altLang="es-PE" dirty="0">
                <a:ln>
                  <a:noFill/>
                </a:ln>
                <a:solidFill>
                  <a:srgbClr val="FF6600"/>
                </a:solidFill>
                <a:latin typeface="Algerian" panose="04020705040A02060702" pitchFamily="82" charset="0"/>
              </a:rPr>
              <a:t>ESTADISTICA </a:t>
            </a:r>
            <a:br>
              <a:rPr lang="es-PE" altLang="es-PE" dirty="0">
                <a:ln>
                  <a:noFill/>
                </a:ln>
                <a:solidFill>
                  <a:srgbClr val="FF6600"/>
                </a:solidFill>
                <a:latin typeface="Algerian" panose="04020705040A02060702" pitchFamily="82" charset="0"/>
              </a:rPr>
            </a:br>
            <a:endParaRPr lang="es-PE" altLang="es-PE" dirty="0">
              <a:ln>
                <a:noFill/>
              </a:ln>
              <a:solidFill>
                <a:srgbClr val="FF6600"/>
              </a:solidFill>
              <a:latin typeface="Algerian" panose="04020705040A02060702" pitchFamily="82" charset="0"/>
            </a:endParaRPr>
          </a:p>
        </p:txBody>
      </p:sp>
      <p:sp>
        <p:nvSpPr>
          <p:cNvPr id="16388" name="Subtítulo 5"/>
          <p:cNvSpPr>
            <a:spLocks noGrp="1"/>
          </p:cNvSpPr>
          <p:nvPr>
            <p:ph type="subTitle" idx="1"/>
          </p:nvPr>
        </p:nvSpPr>
        <p:spPr>
          <a:xfrm>
            <a:off x="-746125" y="5178425"/>
            <a:ext cx="6113463" cy="1752600"/>
          </a:xfrm>
        </p:spPr>
        <p:txBody>
          <a:bodyPr/>
          <a:lstStyle/>
          <a:p>
            <a:pPr eaLnBrk="1" hangingPunct="1"/>
            <a:endParaRPr lang="es-PE" altLang="es-PE" dirty="0"/>
          </a:p>
          <a:p>
            <a:pPr eaLnBrk="1" hangingPunct="1"/>
            <a:endParaRPr lang="es-PE" altLang="es-PE" dirty="0"/>
          </a:p>
          <a:p>
            <a:pPr eaLnBrk="1" hangingPunct="1"/>
            <a:r>
              <a:rPr lang="es-PE" altLang="es-PE" sz="2400" dirty="0"/>
              <a:t>Mg. Edward I. Terrones Gálvez</a:t>
            </a:r>
          </a:p>
        </p:txBody>
      </p:sp>
      <p:sp>
        <p:nvSpPr>
          <p:cNvPr id="16389" name="Marcador de número de diapositiva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400">
                <a:solidFill>
                  <a:srgbClr val="262626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17CBD96-EAD8-4670-AE95-75759C7354AE}" type="slidenum">
              <a:rPr lang="es-ES" altLang="es-PE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s-ES" altLang="es-PE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17C81835-BB27-42D1-8B5E-853A28381274}"/>
              </a:ext>
            </a:extLst>
          </p:cNvPr>
          <p:cNvSpPr txBox="1">
            <a:spLocks/>
          </p:cNvSpPr>
          <p:nvPr/>
        </p:nvSpPr>
        <p:spPr bwMode="auto">
          <a:xfrm>
            <a:off x="685800" y="1472208"/>
            <a:ext cx="7772400" cy="2191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s-PE" sz="3200" b="0" kern="0" dirty="0">
              <a:latin typeface="Algerian" panose="04020705040A02060702" pitchFamily="82" charset="0"/>
            </a:endParaRPr>
          </a:p>
          <a:p>
            <a:pPr>
              <a:defRPr/>
            </a:pPr>
            <a:r>
              <a:rPr lang="es-PE" sz="3200" b="0" kern="0" dirty="0">
                <a:solidFill>
                  <a:srgbClr val="00B0F0"/>
                </a:solidFill>
                <a:latin typeface="Algerian" panose="04020705040A02060702" pitchFamily="82" charset="0"/>
              </a:rPr>
              <a:t>DISTRIBUCION DE FRECUENCIAS – GRAFICOS</a:t>
            </a:r>
          </a:p>
          <a:p>
            <a:pPr>
              <a:defRPr/>
            </a:pPr>
            <a:r>
              <a:rPr lang="es-PE" sz="3200" b="0" kern="0" dirty="0">
                <a:solidFill>
                  <a:srgbClr val="00B0F0"/>
                </a:solidFill>
                <a:latin typeface="Algerian" panose="04020705040A02060702" pitchFamily="82" charset="0"/>
              </a:rPr>
              <a:t>VARIABLES CUALITATIVAS-CUANTITATIVAS</a:t>
            </a:r>
          </a:p>
          <a:p>
            <a:pPr>
              <a:defRPr/>
            </a:pPr>
            <a:endParaRPr lang="es-PE" sz="3200" b="0" kern="0" dirty="0">
              <a:latin typeface="Algerian" panose="04020705040A02060702" pitchFamily="82" charset="0"/>
            </a:endParaRPr>
          </a:p>
        </p:txBody>
      </p:sp>
      <p:pic>
        <p:nvPicPr>
          <p:cNvPr id="9" name="Picture 2" descr="Universidad Nacional de Barranca">
            <a:extLst>
              <a:ext uri="{FF2B5EF4-FFF2-40B4-BE49-F238E27FC236}">
                <a16:creationId xmlns:a16="http://schemas.microsoft.com/office/drawing/2014/main" id="{328DC68F-83A0-420D-85ED-41B253A8C7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6" b="23845"/>
          <a:stretch/>
        </p:blipFill>
        <p:spPr bwMode="auto">
          <a:xfrm>
            <a:off x="7035759" y="20266"/>
            <a:ext cx="2143125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9F486D4-AF2A-4016-8E05-E7514893B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36575"/>
            <a:ext cx="6797675" cy="8763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PE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 DE FRECUENCIAS PARA VARIABLES CUALITATIVAS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BE5DE8C-351C-4C92-92ED-0E9D2C8A28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5650" y="2449513"/>
          <a:ext cx="7632700" cy="379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129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Variable(Categorías)</a:t>
                      </a:r>
                      <a:endParaRPr lang="es-P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F. Absolutas: fi</a:t>
                      </a:r>
                      <a:endParaRPr lang="es-P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F. Relativas: hi</a:t>
                      </a:r>
                      <a:endParaRPr lang="es-P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F. Porcentual: pi</a:t>
                      </a:r>
                      <a:endParaRPr lang="es-P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605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c1</a:t>
                      </a:r>
                    </a:p>
                    <a:p>
                      <a:pPr algn="ctr"/>
                      <a:r>
                        <a:rPr lang="es-MX" sz="1800" dirty="0"/>
                        <a:t>c2</a:t>
                      </a:r>
                    </a:p>
                    <a:p>
                      <a:pPr algn="ctr"/>
                      <a:r>
                        <a:rPr lang="es-MX" sz="1800" dirty="0"/>
                        <a:t>c3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 err="1"/>
                        <a:t>ck</a:t>
                      </a:r>
                      <a:endParaRPr lang="es-MX" sz="1800" dirty="0"/>
                    </a:p>
                    <a:p>
                      <a:pPr algn="ctr"/>
                      <a:endParaRPr lang="es-PE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f1</a:t>
                      </a:r>
                    </a:p>
                    <a:p>
                      <a:pPr algn="ctr"/>
                      <a:r>
                        <a:rPr lang="es-MX" sz="1800" dirty="0"/>
                        <a:t>f2</a:t>
                      </a:r>
                    </a:p>
                    <a:p>
                      <a:pPr algn="ctr"/>
                      <a:r>
                        <a:rPr lang="es-MX" sz="1800" dirty="0"/>
                        <a:t>f3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 err="1"/>
                        <a:t>fk</a:t>
                      </a:r>
                      <a:endParaRPr lang="es-PE" sz="1800" dirty="0"/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h1</a:t>
                      </a:r>
                    </a:p>
                    <a:p>
                      <a:pPr algn="ctr"/>
                      <a:r>
                        <a:rPr lang="es-MX" sz="1800" dirty="0"/>
                        <a:t>h2</a:t>
                      </a:r>
                    </a:p>
                    <a:p>
                      <a:pPr algn="ctr"/>
                      <a:r>
                        <a:rPr lang="es-MX" sz="1800" dirty="0"/>
                        <a:t>h3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 err="1"/>
                        <a:t>hk</a:t>
                      </a:r>
                      <a:endParaRPr lang="es-PE" sz="1800" dirty="0"/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p1</a:t>
                      </a:r>
                    </a:p>
                    <a:p>
                      <a:pPr algn="ctr"/>
                      <a:r>
                        <a:rPr lang="es-MX" sz="1800" dirty="0"/>
                        <a:t>p2</a:t>
                      </a:r>
                    </a:p>
                    <a:p>
                      <a:pPr algn="ctr"/>
                      <a:r>
                        <a:rPr lang="es-MX" sz="1800" dirty="0"/>
                        <a:t>p3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/>
                        <a:t>.</a:t>
                      </a:r>
                    </a:p>
                    <a:p>
                      <a:pPr algn="ctr"/>
                      <a:r>
                        <a:rPr lang="es-MX" sz="1800" dirty="0" err="1"/>
                        <a:t>pk</a:t>
                      </a:r>
                      <a:endParaRPr lang="es-PE" sz="1800" dirty="0"/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216">
                <a:tc>
                  <a:txBody>
                    <a:bodyPr/>
                    <a:lstStyle/>
                    <a:p>
                      <a:pPr algn="ctr"/>
                      <a:endParaRPr lang="es-PE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n</a:t>
                      </a:r>
                      <a:endParaRPr lang="es-PE" sz="1800" dirty="0"/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1</a:t>
                      </a:r>
                      <a:endParaRPr lang="es-PE" sz="1800" dirty="0"/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100</a:t>
                      </a:r>
                      <a:endParaRPr lang="es-PE" sz="1800" dirty="0"/>
                    </a:p>
                  </a:txBody>
                  <a:tcPr marL="91438" marR="91438" marT="45712" marB="45712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AE8AB68-7CC3-419A-8C26-A6E76EBE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7B99A-101E-40BB-BF6A-FA184E6E2E4C}" type="slidenum">
              <a:rPr lang="es-ES"/>
              <a:pPr>
                <a:defRPr/>
              </a:pPr>
              <a:t>2</a:t>
            </a:fld>
            <a:endParaRPr lang="es-ES"/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FF4D7C3E-66B0-45A3-B13A-604C3F9B1DAF}"/>
              </a:ext>
            </a:extLst>
          </p:cNvPr>
          <p:cNvSpPr txBox="1">
            <a:spLocks/>
          </p:cNvSpPr>
          <p:nvPr/>
        </p:nvSpPr>
        <p:spPr bwMode="auto">
          <a:xfrm>
            <a:off x="977900" y="1446213"/>
            <a:ext cx="67976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4000" kern="1200">
                <a:ln w="3175" cmpd="sng">
                  <a:noFill/>
                </a:ln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PE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Supongamos que en una muestra de n unidades estadísticas se observan k categorías diferentes c1, c2, c3, … </a:t>
            </a:r>
            <a:r>
              <a:rPr lang="es-PE" sz="2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ck</a:t>
            </a:r>
            <a:r>
              <a:rPr lang="es-PE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de una variable cualitativa 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C7B081-4951-4665-9859-105A83DE4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8" y="765175"/>
            <a:ext cx="7696968" cy="5475288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Frecuencia absoluta(fi):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Número de observaciones en cada categoría.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Frecuencia relativa(hi):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Proporción de observaciones en cada categoría.   hi:= fi/n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Frecuencia porcentual(pi):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Porcentaje de observaciones en cada categoría.   pi= hi*100%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Propiedades:				Gráficos: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£fi=n				             - Barras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£hi=1						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£pi=100					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				   -Sectores o pastel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-Barras dobles, múltiples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F8CD5E-F781-4A47-8578-A48BBBC0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2EF9FA-8EF2-4FBA-A628-8D624F885DD5}" type="slidenum">
              <a:rPr lang="es-ES" smtClean="0"/>
              <a:pPr>
                <a:defRPr/>
              </a:pPr>
              <a:t>3</a:t>
            </a:fld>
            <a:endParaRPr lang="es-ES"/>
          </a:p>
        </p:txBody>
      </p:sp>
      <p:graphicFrame>
        <p:nvGraphicFramePr>
          <p:cNvPr id="19460" name="Object 6"/>
          <p:cNvGraphicFramePr>
            <a:graphicFrameLocks noChangeAspect="1"/>
          </p:cNvGraphicFramePr>
          <p:nvPr/>
        </p:nvGraphicFramePr>
        <p:xfrm>
          <a:off x="5885656" y="2644776"/>
          <a:ext cx="2413000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Hoja de cálculo" r:id="rId2" imgW="4648561" imgH="2591282" progId="Excel.Sheet.8">
                  <p:embed/>
                </p:oleObj>
              </mc:Choice>
              <mc:Fallback>
                <p:oleObj name="Hoja de cálculo" r:id="rId2" imgW="4648561" imgH="2591282" progId="Excel.Sheet.8">
                  <p:embed/>
                  <p:pic>
                    <p:nvPicPr>
                      <p:cNvPr id="1946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5656" y="2644776"/>
                        <a:ext cx="2413000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1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4589463"/>
            <a:ext cx="2881313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621744-9AAD-486C-A93F-D67BFC3CA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313" y="631825"/>
            <a:ext cx="6799262" cy="546100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Ej1:En una encuesta de opinión acerca de las preferencias del color de un dispositivo móvil : Negro(N), blanco(B) y rojo(R); 20 consumidores dieron las siguientes respuestas: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B,N,N,B,R,N,N,B,B,N,B,N,N,R,B,N,B,R,B,N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Construir la TF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Cual es la marca preferida de los consumidores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Interprete: f2, h3 y p2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Diseñe la grafica adecuada.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SOL: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F14BEC-E81D-4F27-B646-90BA3CE9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FF2634-E03F-4423-87F3-2A173BEFAF1C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7E0703-C891-44E2-B7FD-949A5EFB847B}"/>
              </a:ext>
            </a:extLst>
          </p:cNvPr>
          <p:cNvGraphicFramePr>
            <a:graphicFrameLocks noGrp="1"/>
          </p:cNvGraphicFramePr>
          <p:nvPr/>
        </p:nvGraphicFramePr>
        <p:xfrm>
          <a:off x="2484438" y="4398963"/>
          <a:ext cx="4608512" cy="15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34664654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2047771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1179856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998537687"/>
                    </a:ext>
                  </a:extLst>
                </a:gridCol>
              </a:tblGrid>
              <a:tr h="517977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COLOR PREFERIDO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fi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hi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pi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776520"/>
                  </a:ext>
                </a:extLst>
              </a:tr>
              <a:tr h="731303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N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B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R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0.45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0.40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0.15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45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40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74825"/>
                  </a:ext>
                </a:extLst>
              </a:tr>
              <a:tr h="31282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n=20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100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T="45663" marB="4566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108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F4C791-5D47-4CC4-84AE-45770791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B8216-EFE7-4A76-AC22-64F8083238DD}" type="slidenum">
              <a:rPr lang="es-ES" smtClean="0"/>
              <a:pPr>
                <a:defRPr/>
              </a:pPr>
              <a:t>5</a:t>
            </a:fld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E8921F0-CB4E-4B2E-835C-76C62C196A55}"/>
              </a:ext>
            </a:extLst>
          </p:cNvPr>
          <p:cNvGraphicFramePr>
            <a:graphicFrameLocks noGrp="1"/>
          </p:cNvGraphicFramePr>
          <p:nvPr/>
        </p:nvGraphicFramePr>
        <p:xfrm>
          <a:off x="1476375" y="765175"/>
          <a:ext cx="3600449" cy="1751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1346646542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1204777103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11798564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3998537687"/>
                    </a:ext>
                  </a:extLst>
                </a:gridCol>
              </a:tblGrid>
              <a:tr h="714797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PREFER GASEOSA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fi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hi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pi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776520"/>
                  </a:ext>
                </a:extLst>
              </a:tr>
              <a:tr h="731462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N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B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R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0.45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0.40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0.15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45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40</a:t>
                      </a:r>
                    </a:p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74825"/>
                  </a:ext>
                </a:extLst>
              </a:tr>
              <a:tr h="304754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n=20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100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1441" marR="91441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10819"/>
                  </a:ext>
                </a:extLst>
              </a:tr>
            </a:tbl>
          </a:graphicData>
        </a:graphic>
      </p:graphicFrame>
      <p:sp>
        <p:nvSpPr>
          <p:cNvPr id="21529" name="Marcador de contenido 6"/>
          <p:cNvSpPr>
            <a:spLocks noGrp="1"/>
          </p:cNvSpPr>
          <p:nvPr>
            <p:ph idx="1"/>
          </p:nvPr>
        </p:nvSpPr>
        <p:spPr>
          <a:xfrm>
            <a:off x="704850" y="747713"/>
            <a:ext cx="7947025" cy="5634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b) Como el dispositivo negro lo prefieren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9 personas, entonces es la mas preferida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c) f2=8: 8 consumidores prefieren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el dispositivo de color negro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h3=0.15: es la proporción de consumidores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que prefieren el dispositivo de color rojo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p2=40%: es el porcentaje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 consumidores que prefieren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el dispositivo de color blanco.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530" name="Gráfico 7"/>
          <p:cNvGraphicFramePr>
            <a:graphicFrameLocks/>
          </p:cNvGraphicFramePr>
          <p:nvPr/>
        </p:nvGraphicFramePr>
        <p:xfrm>
          <a:off x="5076824" y="2343749"/>
          <a:ext cx="3821112" cy="392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3828620" imgH="3932261" progId="Excel.Chart.8">
                  <p:embed/>
                </p:oleObj>
              </mc:Choice>
              <mc:Fallback>
                <p:oleObj name="Gráfico" r:id="rId2" imgW="3828620" imgH="3932261" progId="Excel.Chart.8">
                  <p:embed/>
                  <p:pic>
                    <p:nvPicPr>
                      <p:cNvPr id="21530" name="Gráfico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4" y="2343749"/>
                        <a:ext cx="3821112" cy="392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31D23DF4-8C25-458A-BCBA-28AFD25F342D}"/>
              </a:ext>
            </a:extLst>
          </p:cNvPr>
          <p:cNvSpPr txBox="1"/>
          <p:nvPr/>
        </p:nvSpPr>
        <p:spPr>
          <a:xfrm>
            <a:off x="1452694" y="836712"/>
            <a:ext cx="1008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highlight>
                  <a:srgbClr val="FFFF00"/>
                </a:highlight>
              </a:rPr>
              <a:t>COLOR PREFERIDO</a:t>
            </a:r>
            <a:endParaRPr lang="es-PE" sz="1200" dirty="0">
              <a:highlight>
                <a:srgbClr val="FFFF00"/>
              </a:highligh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B0CDD2-6C44-4421-88A6-69A2B1FBC005}"/>
              </a:ext>
            </a:extLst>
          </p:cNvPr>
          <p:cNvSpPr txBox="1"/>
          <p:nvPr/>
        </p:nvSpPr>
        <p:spPr>
          <a:xfrm>
            <a:off x="5724128" y="2516212"/>
            <a:ext cx="25922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100" dirty="0">
                <a:highlight>
                  <a:srgbClr val="FFFF00"/>
                </a:highlight>
              </a:rPr>
              <a:t>NUMERO DE CONSUMIDORES SEGÚN COLOR PREFERIDO DEL DISPOSITIVO MOVIL</a:t>
            </a:r>
            <a:endParaRPr lang="es-PE" sz="11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1560" y="1700808"/>
            <a:ext cx="7704856" cy="4234855"/>
          </a:xfrm>
        </p:spPr>
        <p:txBody>
          <a:bodyPr/>
          <a:lstStyle/>
          <a:p>
            <a:pPr marL="0" indent="0">
              <a:buNone/>
            </a:pPr>
            <a:r>
              <a:rPr lang="es-MX" sz="1800" b="1" i="1" dirty="0"/>
              <a:t>Marron Verde </a:t>
            </a:r>
            <a:r>
              <a:rPr lang="es-MX" sz="1800" b="1" i="1" dirty="0" err="1"/>
              <a:t>Verde</a:t>
            </a:r>
            <a:r>
              <a:rPr lang="es-MX" sz="1800" b="1" i="1" dirty="0"/>
              <a:t> Azul Marron Azul Marron </a:t>
            </a:r>
            <a:r>
              <a:rPr lang="es-MX" sz="1800" b="1" i="1" dirty="0" err="1"/>
              <a:t>Marron</a:t>
            </a:r>
            <a:r>
              <a:rPr lang="es-MX" sz="1800" b="1" i="1" dirty="0"/>
              <a:t> Azul Marron Azul Marron </a:t>
            </a:r>
            <a:r>
              <a:rPr lang="en-US" sz="1800" b="1" i="1" dirty="0"/>
              <a:t>Verde Marron Verde Marron Azul Verde </a:t>
            </a:r>
            <a:r>
              <a:rPr lang="es-MX" sz="1800" b="1" i="1" dirty="0"/>
              <a:t>Marron </a:t>
            </a:r>
            <a:r>
              <a:rPr lang="es-MX" sz="1800" b="1" i="1" dirty="0" err="1"/>
              <a:t>Marron</a:t>
            </a:r>
            <a:r>
              <a:rPr lang="es-MX" sz="1800" b="1" i="1" dirty="0"/>
              <a:t> Azul Marron Verde Marron Verde Verde Marron </a:t>
            </a:r>
            <a:r>
              <a:rPr lang="es-MX" sz="1800" b="1" i="1" dirty="0" err="1"/>
              <a:t>Marron</a:t>
            </a:r>
            <a:r>
              <a:rPr lang="es-MX" sz="1800" b="1" i="1" dirty="0"/>
              <a:t> </a:t>
            </a:r>
            <a:r>
              <a:rPr lang="es-MX" sz="1800" b="1" i="1" dirty="0" err="1"/>
              <a:t>Marron</a:t>
            </a:r>
            <a:r>
              <a:rPr lang="es-MX" sz="1800" b="1" i="1" dirty="0"/>
              <a:t> </a:t>
            </a:r>
            <a:r>
              <a:rPr lang="es-MX" sz="1800" b="1" i="1" dirty="0" err="1"/>
              <a:t>Marron</a:t>
            </a:r>
            <a:endParaRPr lang="es-MX" sz="1800" b="1" i="1" dirty="0"/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Construir la TF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¿Qué % de alumnos tienen ojos azules?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Interprete: f1, h2 y p3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Diseñe la grafica adecuada</a:t>
            </a:r>
          </a:p>
          <a:p>
            <a:pPr marL="0" indent="0">
              <a:buNone/>
            </a:pPr>
            <a:endParaRPr lang="es-MX" sz="1800" b="1" i="1" dirty="0"/>
          </a:p>
          <a:p>
            <a:pPr marL="0" indent="0">
              <a:buNone/>
            </a:pPr>
            <a:r>
              <a:rPr lang="es-MX" sz="1800" b="1" i="1" dirty="0"/>
              <a:t>SOL:</a:t>
            </a:r>
            <a:endParaRPr lang="en-U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491FB4-188C-4CD1-B74E-DD461B33915C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  <p:sp>
        <p:nvSpPr>
          <p:cNvPr id="6" name="Rectángulo 5"/>
          <p:cNvSpPr/>
          <p:nvPr/>
        </p:nvSpPr>
        <p:spPr>
          <a:xfrm>
            <a:off x="755576" y="764704"/>
            <a:ext cx="770485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i="1" dirty="0" err="1">
                <a:latin typeface="CMBXTI10"/>
              </a:rPr>
              <a:t>Ej</a:t>
            </a:r>
            <a:r>
              <a:rPr lang="es-MX" i="1" dirty="0">
                <a:latin typeface="CMBXTI10"/>
              </a:rPr>
              <a:t> 3: Se recopilo información sobre el color de ojos de los estudiantes de la universidad.</a:t>
            </a:r>
            <a:endParaRPr lang="es-MX" sz="1800" i="1" dirty="0">
              <a:latin typeface="CMBXTI10"/>
            </a:endParaRPr>
          </a:p>
          <a:p>
            <a:r>
              <a:rPr lang="es-MX" sz="1800" i="1" dirty="0">
                <a:latin typeface="CMBXTI10"/>
              </a:rPr>
              <a:t>Color de los ojos de una muestra de alumnos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873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</p:nvPr>
        </p:nvGraphicFramePr>
        <p:xfrm>
          <a:off x="539552" y="742599"/>
          <a:ext cx="3600400" cy="1512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4014874157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1980959753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216282267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3548706307"/>
                    </a:ext>
                  </a:extLst>
                </a:gridCol>
              </a:tblGrid>
              <a:tr h="47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COLOR OJOS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fi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hi=fi/n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pi=hi*100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8484311"/>
                  </a:ext>
                </a:extLst>
              </a:tr>
              <a:tr h="260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VERDE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0,27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26,67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7648268"/>
                  </a:ext>
                </a:extLst>
              </a:tr>
              <a:tr h="260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AZUL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0,20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20,00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966772"/>
                  </a:ext>
                </a:extLst>
              </a:tr>
              <a:tr h="260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MARRON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0,53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53,33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9296393"/>
                  </a:ext>
                </a:extLst>
              </a:tr>
              <a:tr h="260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solidFill>
                            <a:schemeClr val="tx1"/>
                          </a:solidFill>
                          <a:effectLst/>
                        </a:rPr>
                        <a:t>1,00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100,00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3968399"/>
                  </a:ext>
                </a:extLst>
              </a:tr>
            </a:tbl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491FB4-188C-4CD1-B74E-DD461B33915C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  <p:graphicFrame>
        <p:nvGraphicFramePr>
          <p:cNvPr id="6" name="Gráfico 5"/>
          <p:cNvGraphicFramePr>
            <a:graphicFrameLocks/>
          </p:cNvGraphicFramePr>
          <p:nvPr/>
        </p:nvGraphicFramePr>
        <p:xfrm>
          <a:off x="4427983" y="548680"/>
          <a:ext cx="3653517" cy="2230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/>
          <p:cNvGraphicFramePr>
            <a:graphicFrameLocks/>
          </p:cNvGraphicFramePr>
          <p:nvPr/>
        </p:nvGraphicFramePr>
        <p:xfrm>
          <a:off x="4681966" y="2924944"/>
          <a:ext cx="3306536" cy="2466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a 9"/>
          <p:cNvGraphicFramePr>
            <a:graphicFrameLocks noGrp="1"/>
          </p:cNvGraphicFramePr>
          <p:nvPr/>
        </p:nvGraphicFramePr>
        <p:xfrm>
          <a:off x="683568" y="2769926"/>
          <a:ext cx="3816421" cy="1667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03">
                  <a:extLst>
                    <a:ext uri="{9D8B030D-6E8A-4147-A177-3AD203B41FA5}">
                      <a16:colId xmlns:a16="http://schemas.microsoft.com/office/drawing/2014/main" val="1196502526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3593299736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3048977064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1242127350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74419999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3056928644"/>
                    </a:ext>
                  </a:extLst>
                </a:gridCol>
                <a:gridCol w="545203">
                  <a:extLst>
                    <a:ext uri="{9D8B030D-6E8A-4147-A177-3AD203B41FA5}">
                      <a16:colId xmlns:a16="http://schemas.microsoft.com/office/drawing/2014/main" val="2268858900"/>
                    </a:ext>
                  </a:extLst>
                </a:gridCol>
              </a:tblGrid>
              <a:tr h="3033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B)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>
                          <a:effectLst/>
                        </a:rPr>
                        <a:t>20%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5232257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C)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f1: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MX" sz="1100" b="1" u="none" strike="noStrike">
                          <a:effectLst/>
                        </a:rPr>
                        <a:t>8 estudiantes tienen ojos verdes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482575"/>
                  </a:ext>
                </a:extLst>
              </a:tr>
              <a:tr h="407358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h2: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s-MX" sz="1100" b="1" u="none" strike="noStrike">
                          <a:effectLst/>
                        </a:rPr>
                        <a:t>0,20 es la proporcion de estudiantes q tienen ojos azules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458002"/>
                  </a:ext>
                </a:extLst>
              </a:tr>
              <a:tr h="549101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p3: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1100" b="1" u="none" strike="noStrike">
                          <a:effectLst/>
                        </a:rPr>
                        <a:t>el 53.33% de estudiantesn tienen ojos marrones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5106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596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881D37-2ED1-4266-B29E-D5EFFC6E9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8" y="765175"/>
            <a:ext cx="6797675" cy="5195888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Ej2.Al investigar el nivel socioeconómico en los valores bajo(B), medio(M) y alto(A);; 25 familias dieron las siguientes respuestas: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M,B,B,M,A,B,B,M,M,B,M,B,B,A,M,B,M,A,M,B,A,A,A,B,M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Construir la TF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¿Qué % de familias respondieron un nivel medio?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Interprete: f1, h2 y p3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Diseñe la grafica adecuada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SOL:</a:t>
            </a:r>
            <a:endParaRPr lang="es-PE" sz="2000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C3AB73-2A21-4A5C-8C53-70B2FFD5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246B50-C720-4B2F-8D39-E35E0A2001D6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FA4745B-317A-4025-9288-88A61441DB1D}"/>
              </a:ext>
            </a:extLst>
          </p:cNvPr>
          <p:cNvGraphicFramePr>
            <a:graphicFrameLocks noGrp="1"/>
          </p:cNvGraphicFramePr>
          <p:nvPr/>
        </p:nvGraphicFramePr>
        <p:xfrm>
          <a:off x="2051050" y="4232275"/>
          <a:ext cx="6096000" cy="2062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73707726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6480434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1283304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08091017"/>
                    </a:ext>
                  </a:extLst>
                </a:gridCol>
              </a:tblGrid>
              <a:tr h="579100"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NIV. SOCIOECON.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991729"/>
                  </a:ext>
                </a:extLst>
              </a:tr>
              <a:tr h="370766"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083368"/>
                  </a:ext>
                </a:extLst>
              </a:tr>
              <a:tr h="370766"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92480"/>
                  </a:ext>
                </a:extLst>
              </a:tr>
              <a:tr h="370766"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037190"/>
                  </a:ext>
                </a:extLst>
              </a:tr>
              <a:tr h="370766">
                <a:tc>
                  <a:txBody>
                    <a:bodyPr/>
                    <a:lstStyle/>
                    <a:p>
                      <a:endParaRPr lang="en-US" sz="16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380363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3265CC4D-AC1F-40DD-8225-0CDDC6C595D6}"/>
              </a:ext>
            </a:extLst>
          </p:cNvPr>
          <p:cNvSpPr/>
          <p:nvPr/>
        </p:nvSpPr>
        <p:spPr>
          <a:xfrm>
            <a:off x="1908175" y="4076700"/>
            <a:ext cx="6480175" cy="2217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Marcador de contenido 2"/>
          <p:cNvSpPr>
            <a:spLocks noGrp="1"/>
          </p:cNvSpPr>
          <p:nvPr>
            <p:ph idx="1"/>
          </p:nvPr>
        </p:nvSpPr>
        <p:spPr>
          <a:xfrm>
            <a:off x="776288" y="836613"/>
            <a:ext cx="7540625" cy="49688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>
                <a:latin typeface="Arial" panose="020B0604020202020204" pitchFamily="34" charset="0"/>
                <a:cs typeface="Arial" panose="020B0604020202020204" pitchFamily="34" charset="0"/>
              </a:rPr>
              <a:t>b) p2=36%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>
                <a:latin typeface="Arial" panose="020B0604020202020204" pitchFamily="34" charset="0"/>
                <a:cs typeface="Arial" panose="020B0604020202020204" pitchFamily="34" charset="0"/>
              </a:rPr>
              <a:t>c) f1=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>
                <a:latin typeface="Arial" panose="020B0604020202020204" pitchFamily="34" charset="0"/>
                <a:cs typeface="Arial" panose="020B0604020202020204" pitchFamily="34" charset="0"/>
              </a:rPr>
              <a:t>    h2=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>
                <a:latin typeface="Arial" panose="020B0604020202020204" pitchFamily="34" charset="0"/>
                <a:cs typeface="Arial" panose="020B0604020202020204" pitchFamily="34" charset="0"/>
              </a:rPr>
              <a:t>    p3=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n-US" sz="2000">
                <a:latin typeface="Arial" panose="020B0604020202020204" pitchFamily="34" charset="0"/>
                <a:cs typeface="Arial" panose="020B0604020202020204" pitchFamily="34" charset="0"/>
              </a:rPr>
              <a:t>d) 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1EC974-40CD-4DAF-98D4-E1CB1D98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50AC3-63A3-43FE-918D-72309D83666D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4CF584DC-E7E0-4A57-8FA5-76F48729167D}"/>
              </a:ext>
            </a:extLst>
          </p:cNvPr>
          <p:cNvGraphicFramePr>
            <a:graphicFrameLocks/>
          </p:cNvGraphicFramePr>
          <p:nvPr/>
        </p:nvGraphicFramePr>
        <p:xfrm>
          <a:off x="1907704" y="3286886"/>
          <a:ext cx="5328592" cy="2953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6B50D1D0-071F-4631-AB6E-17F470EE32DB}"/>
              </a:ext>
            </a:extLst>
          </p:cNvPr>
          <p:cNvSpPr/>
          <p:nvPr/>
        </p:nvSpPr>
        <p:spPr>
          <a:xfrm>
            <a:off x="683568" y="836613"/>
            <a:ext cx="7848872" cy="54038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3837A5-D57C-B472-DAD0-D0585F8D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931" y="3925926"/>
            <a:ext cx="6799262" cy="3444875"/>
          </a:xfrm>
        </p:spPr>
        <p:txBody>
          <a:bodyPr/>
          <a:lstStyle/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Construir la TF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Que refresco se vendio en mayor cantidad?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¿Qué proporción de puntos de venta de refrescos se vendio </a:t>
            </a:r>
            <a:r>
              <a:rPr lang="es-PE" sz="1600" dirty="0" err="1"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600" dirty="0" err="1">
                <a:latin typeface="Arial" panose="020B0604020202020204" pitchFamily="34" charset="0"/>
                <a:cs typeface="Arial" panose="020B0604020202020204" pitchFamily="34" charset="0"/>
              </a:rPr>
              <a:t>Pepper</a:t>
            </a: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¿Qué tipo de refrescos se vendio menos del 20%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Interprete: f1, h2 y p3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sz="1600" dirty="0">
                <a:latin typeface="Arial" panose="020B0604020202020204" pitchFamily="34" charset="0"/>
                <a:cs typeface="Arial" panose="020B0604020202020204" pitchFamily="34" charset="0"/>
              </a:rPr>
              <a:t>Diseñe la grafica adecuada</a:t>
            </a:r>
          </a:p>
          <a:p>
            <a:pPr marL="0" indent="0">
              <a:buNone/>
            </a:pPr>
            <a:endParaRPr lang="es-PE" sz="1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8EE446-0DF0-0220-A662-3BD6160E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DD71BF-6660-9F4B-29D0-66EB5C8870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3"/>
          <a:stretch/>
        </p:blipFill>
        <p:spPr>
          <a:xfrm>
            <a:off x="467544" y="476672"/>
            <a:ext cx="4104456" cy="331236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32D3939-5CF8-B376-10B3-31EAD60E0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836712"/>
            <a:ext cx="3672407" cy="195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54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B811C9-696B-4ECD-9BAB-D27FE9A1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8EB660-470C-F415-95D0-ECCFC4EE7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620688"/>
            <a:ext cx="5925377" cy="86409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3A89DEA-1092-CE4C-55AC-2CBED4C09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28800"/>
            <a:ext cx="6336704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08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9EFB99-799F-6727-3A4C-A5075FE6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FD2911-0223-EC22-C307-D08C71DA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7" y="1124744"/>
            <a:ext cx="6896745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7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334EF0-5F79-99B5-4E76-CF372262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491FB4-188C-4CD1-B74E-DD461B33915C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3E8A2C-1EDF-714B-D733-A31F3DB18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476672"/>
            <a:ext cx="6807200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16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6338" y="2276872"/>
            <a:ext cx="6799262" cy="2304256"/>
          </a:xfrm>
        </p:spPr>
        <p:txBody>
          <a:bodyPr/>
          <a:lstStyle/>
          <a:p>
            <a:pPr marL="0" indent="0" algn="ctr">
              <a:buNone/>
            </a:pPr>
            <a:r>
              <a:rPr lang="es-MX" sz="11500" dirty="0">
                <a:solidFill>
                  <a:srgbClr val="00B0F0"/>
                </a:solidFill>
                <a:latin typeface="Algerian" panose="04020705040A02060702" pitchFamily="82" charset="0"/>
              </a:rPr>
              <a:t>GRACIAS</a:t>
            </a:r>
            <a:endParaRPr lang="en-US" sz="115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147F49-CBF8-40C2-89C8-F1EC049B0424}" type="slidenum">
              <a:rPr lang="es-ES" smtClean="0"/>
              <a:pPr>
                <a:defRPr/>
              </a:pPr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558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9B556-B6BA-47AF-8ED6-967F75EF4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813" y="692150"/>
            <a:ext cx="6799262" cy="925513"/>
          </a:xfrm>
        </p:spPr>
        <p:txBody>
          <a:bodyPr/>
          <a:lstStyle/>
          <a:p>
            <a:pPr eaLnBrk="1" hangingPunct="1">
              <a:defRPr/>
            </a:pPr>
            <a:r>
              <a:rPr lang="es-PE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 DE FRECUENCIAS PARA VARIABLES CUANTITATIVAS</a:t>
            </a:r>
            <a:endParaRPr lang="es-PE" sz="2400" dirty="0"/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808ED64E-06A5-435F-AAAA-39C13EF8DE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6425" y="3019425"/>
          <a:ext cx="7997824" cy="3221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87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4527"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Clase </a:t>
                      </a:r>
                      <a:r>
                        <a:rPr lang="es-PE" sz="12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 absoluta: fi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 relativa: hi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 porcentual: pi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F.A. acumulada: Fi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F.R. acumulada: Hi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F.P. acumulada: Pi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3761"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y1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y2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y3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ym</a:t>
                      </a:r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f3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h1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h3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hm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F3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H1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H3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Hm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750">
                <a:tc>
                  <a:txBody>
                    <a:bodyPr/>
                    <a:lstStyle/>
                    <a:p>
                      <a:pPr algn="ctr"/>
                      <a:endParaRPr lang="es-PE" sz="1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3" marR="91433" marT="45708" marB="457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63E1AA-1B4A-4569-BC3C-4AE1AB2C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85AD34-F1DC-48BB-8D03-F1D1B886707A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  <p:sp>
        <p:nvSpPr>
          <p:cNvPr id="6" name="Título 2">
            <a:extLst>
              <a:ext uri="{FF2B5EF4-FFF2-40B4-BE49-F238E27FC236}">
                <a16:creationId xmlns:a16="http://schemas.microsoft.com/office/drawing/2014/main" id="{7A0FCE23-A867-4A67-9C58-1A9DEDA7BE9C}"/>
              </a:ext>
            </a:extLst>
          </p:cNvPr>
          <p:cNvSpPr txBox="1">
            <a:spLocks/>
          </p:cNvSpPr>
          <p:nvPr/>
        </p:nvSpPr>
        <p:spPr bwMode="auto">
          <a:xfrm>
            <a:off x="977900" y="1557338"/>
            <a:ext cx="67976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4000" kern="1200">
                <a:ln w="3175" cmpd="sng">
                  <a:noFill/>
                </a:ln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Supongamos que en una muestra de n observaciones discretas y sean y1,y2,….</a:t>
            </a:r>
            <a:r>
              <a:rPr lang="es-PE"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ym</a:t>
            </a: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conjunto de valores diferentes de una variable cuantitativa discreta “Y”</a:t>
            </a: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8ACBE716-FD92-4F25-8D74-5AF0614C5F3E}"/>
              </a:ext>
            </a:extLst>
          </p:cNvPr>
          <p:cNvSpPr txBox="1">
            <a:spLocks/>
          </p:cNvSpPr>
          <p:nvPr/>
        </p:nvSpPr>
        <p:spPr bwMode="auto">
          <a:xfrm>
            <a:off x="949325" y="2443163"/>
            <a:ext cx="67976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4000" kern="1200">
                <a:ln w="3175" cmpd="sng">
                  <a:noFill/>
                </a:ln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PE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 de frecuencias para variables cuantitativas discretas: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D98DAD-97C6-41FE-9D0F-A273BE8E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8" y="765175"/>
            <a:ext cx="6797675" cy="5195888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Frecuencia absoluta acumulada(Fi):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Número de observaciones en forma acumulada de las fi en cada clase.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Frecuencia relativa acumulada(Hi):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Proporción de observaciones en forma acumulada de las hi en cada clase.   Hi:= Fi/n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Frecuencia porcentual acumulada (Pi):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Porcentaje de observaciones en forma acumulada de las pi en cada clase.    Pi= Hi*100%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Propiedades:				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£fi=n				 Fm=n                    F</a:t>
            </a:r>
            <a:r>
              <a:rPr lang="es-MX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+ f</a:t>
            </a:r>
            <a:r>
              <a:rPr lang="es-MX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= Fi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£hi=1			 Hm=1 			   H</a:t>
            </a:r>
            <a:r>
              <a:rPr lang="es-MX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+ h</a:t>
            </a:r>
            <a:r>
              <a:rPr lang="es-MX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= Hi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£pi=100			 Pm=100 		   P</a:t>
            </a:r>
            <a:r>
              <a:rPr lang="es-MX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i-1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 + p</a:t>
            </a:r>
            <a:r>
              <a:rPr lang="es-MX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= Pi 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					                              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1CCBF5-3DD2-4A08-8484-6A91F41E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80861-B0CD-4E61-8B7B-3230D26EB6DD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>
          <a:xfrm>
            <a:off x="781050" y="674688"/>
            <a:ext cx="6799263" cy="495300"/>
          </a:xfrm>
        </p:spPr>
        <p:txBody>
          <a:bodyPr/>
          <a:lstStyle/>
          <a:p>
            <a:pPr algn="l" eaLnBrk="1" hangingPunct="1"/>
            <a:r>
              <a:rPr lang="es-PE" altLang="es-PE" sz="24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GRAFICOS:</a:t>
            </a:r>
          </a:p>
        </p:txBody>
      </p:sp>
      <p:sp>
        <p:nvSpPr>
          <p:cNvPr id="33795" name="Marcador de contenido 2">
            <a:extLst>
              <a:ext uri="{FF2B5EF4-FFF2-40B4-BE49-F238E27FC236}">
                <a16:creationId xmlns:a16="http://schemas.microsoft.com/office/drawing/2014/main" id="{B4B303DF-7521-4FF2-A8A0-ADC6171B2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1341438"/>
            <a:ext cx="6799263" cy="34448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Para frecuencias simples: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Bastón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Líneas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87EEA2-C072-4656-82EF-DBB595F5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08A00-8838-4E88-AE1B-85744FC09E3A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  <p:graphicFrame>
        <p:nvGraphicFramePr>
          <p:cNvPr id="26629" name="Object 19"/>
          <p:cNvGraphicFramePr>
            <a:graphicFrameLocks noChangeAspect="1"/>
          </p:cNvGraphicFramePr>
          <p:nvPr/>
        </p:nvGraphicFramePr>
        <p:xfrm>
          <a:off x="2443163" y="4062413"/>
          <a:ext cx="4360862" cy="217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4058101" imgH="2505557" progId="Excel.Chart.8">
                  <p:embed/>
                </p:oleObj>
              </mc:Choice>
              <mc:Fallback>
                <p:oleObj name="Gráfico" r:id="rId2" imgW="4058101" imgH="2505557" progId="Excel.Chart.8">
                  <p:embed/>
                  <p:pic>
                    <p:nvPicPr>
                      <p:cNvPr id="2662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4062413"/>
                        <a:ext cx="4360862" cy="217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B4683131-6994-40E9-9514-DA4CFB39783E}"/>
              </a:ext>
            </a:extLst>
          </p:cNvPr>
          <p:cNvGraphicFramePr>
            <a:graphicFrameLocks/>
          </p:cNvGraphicFramePr>
          <p:nvPr/>
        </p:nvGraphicFramePr>
        <p:xfrm>
          <a:off x="2699792" y="1772816"/>
          <a:ext cx="4104456" cy="2034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Marcador de contenido 2">
            <a:extLst>
              <a:ext uri="{FF2B5EF4-FFF2-40B4-BE49-F238E27FC236}">
                <a16:creationId xmlns:a16="http://schemas.microsoft.com/office/drawing/2014/main" id="{8EAE4752-4378-4046-8774-1AA440D6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08" y="1484784"/>
            <a:ext cx="6799263" cy="34448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Para frecuencias acumuladas: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Grafica de frecuencias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    acumuladas(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Escalonada</a:t>
            </a: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69CDC1-5F52-4656-8B94-811E0ACF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76F742-D2CE-4023-8F8D-8E9DA3FFC3DE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A192ECE-DC1D-4D93-A644-C8D6B8CE45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125970"/>
              </p:ext>
            </p:extLst>
          </p:nvPr>
        </p:nvGraphicFramePr>
        <p:xfrm>
          <a:off x="1979712" y="3140968"/>
          <a:ext cx="4352553" cy="236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25EF9E-423F-56B8-242E-FB74FD3F8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617537"/>
            <a:ext cx="6799262" cy="651223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highlight>
                  <a:srgbClr val="FFFF00"/>
                </a:highlight>
              </a:rPr>
              <a:t>EJERCICIOS</a:t>
            </a:r>
            <a:endParaRPr lang="es-PE" dirty="0">
              <a:highlight>
                <a:srgbClr val="FFFF00"/>
              </a:highlight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7B2910-1614-B601-135A-224F321F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19</a:t>
            </a:fld>
            <a:endParaRPr lang="es-ES"/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924DA2D-0243-A91E-61A5-8FB303B0541F}"/>
              </a:ext>
            </a:extLst>
          </p:cNvPr>
          <p:cNvSpPr txBox="1">
            <a:spLocks/>
          </p:cNvSpPr>
          <p:nvPr/>
        </p:nvSpPr>
        <p:spPr bwMode="auto">
          <a:xfrm>
            <a:off x="684361" y="1484784"/>
            <a:ext cx="679767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4000" kern="1200">
                <a:ln w="3175" cmpd="sng">
                  <a:noFill/>
                </a:ln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PE" sz="18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 realiza una encuesta a 16 familias, se les pregunto el números de hijos que tienen; los resultados fueron: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2,1,3,1,2,1,3,0,2,1,2,3,4,1,1,2.</a:t>
            </a:r>
          </a:p>
          <a:p>
            <a:pPr marL="342900" indent="-342900" algn="just" eaLnBrk="1" fontAlgn="auto" hangingPunct="1">
              <a:spcAft>
                <a:spcPts val="0"/>
              </a:spcAft>
              <a:buFontTx/>
              <a:buAutoNum type="alphaLcParenR"/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Construir la tabla de frecuencias</a:t>
            </a:r>
          </a:p>
          <a:p>
            <a:pPr marL="342900" indent="-342900" algn="just" eaLnBrk="1" fontAlgn="auto" hangingPunct="1">
              <a:spcAft>
                <a:spcPts val="0"/>
              </a:spcAft>
              <a:buFontTx/>
              <a:buAutoNum type="alphaLcParenR"/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Cuantas familias tienen 2 hijos</a:t>
            </a:r>
          </a:p>
          <a:p>
            <a:pPr marL="342900" indent="-342900" algn="just" eaLnBrk="1" fontAlgn="auto" hangingPunct="1">
              <a:spcAft>
                <a:spcPts val="0"/>
              </a:spcAft>
              <a:buFontTx/>
              <a:buAutoNum type="alphaLcParenR"/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Proporción de familias que tienen de 1 a menos de 4 hijos</a:t>
            </a:r>
          </a:p>
          <a:p>
            <a:pPr marL="342900" indent="-342900" algn="just" eaLnBrk="1" fontAlgn="auto" hangingPunct="1">
              <a:spcAft>
                <a:spcPts val="0"/>
              </a:spcAft>
              <a:buFontTx/>
              <a:buAutoNum type="alphaLcParenR"/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Porcentaje de familias que tienen a lo mas 3 hijos</a:t>
            </a:r>
          </a:p>
          <a:p>
            <a:pPr marL="342900" indent="-342900" algn="just" eaLnBrk="1" fontAlgn="auto" hangingPunct="1">
              <a:spcAft>
                <a:spcPts val="0"/>
              </a:spcAft>
              <a:buFontTx/>
              <a:buAutoNum type="alphaLcParenR"/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Graficar usando las fi y las Hi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s-PE" sz="18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614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6"/>
          <p:cNvSpPr>
            <a:spLocks noGrp="1"/>
          </p:cNvSpPr>
          <p:nvPr>
            <p:ph type="title"/>
          </p:nvPr>
        </p:nvSpPr>
        <p:spPr>
          <a:xfrm>
            <a:off x="539750" y="3357563"/>
            <a:ext cx="4679950" cy="2882900"/>
          </a:xfrm>
        </p:spPr>
        <p:txBody>
          <a:bodyPr/>
          <a:lstStyle/>
          <a:p>
            <a:pPr algn="l"/>
            <a: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r>
              <a:rPr lang="es-MX" altLang="en-US" sz="2000" dirty="0" err="1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Rpta</a:t>
            </a:r>
            <a: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s-MX" altLang="en-US" sz="2000" dirty="0" err="1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Rpta</a:t>
            </a:r>
            <a: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d) </a:t>
            </a:r>
            <a:r>
              <a:rPr lang="es-MX" altLang="en-US" sz="2000" dirty="0" err="1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Rpta</a:t>
            </a:r>
            <a:r>
              <a:rPr lang="es-MX" altLang="en-US" sz="200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: &lt;=3 hijos=</a:t>
            </a:r>
            <a:endParaRPr lang="en-US" altLang="en-US" sz="2000" dirty="0">
              <a:ln>
                <a:noFill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38D931-F89F-47FE-A7B2-DD414E5DB83A}" type="slidenum">
              <a:rPr lang="es-ES" smtClean="0"/>
              <a:pPr>
                <a:defRPr/>
              </a:pPr>
              <a:t>20</a:t>
            </a:fld>
            <a:endParaRPr lang="es-ES"/>
          </a:p>
        </p:txBody>
      </p:sp>
      <p:pic>
        <p:nvPicPr>
          <p:cNvPr id="28676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725488"/>
            <a:ext cx="3146425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Tabla 15"/>
          <p:cNvGraphicFramePr>
            <a:graphicFrameLocks noGrp="1"/>
          </p:cNvGraphicFramePr>
          <p:nvPr/>
        </p:nvGraphicFramePr>
        <p:xfrm>
          <a:off x="573088" y="725488"/>
          <a:ext cx="4646612" cy="2847978"/>
        </p:xfrm>
        <a:graphic>
          <a:graphicData uri="http://schemas.openxmlformats.org/drawingml/2006/table">
            <a:tbl>
              <a:tblPr/>
              <a:tblGrid>
                <a:gridCol w="842286">
                  <a:extLst>
                    <a:ext uri="{9D8B030D-6E8A-4147-A177-3AD203B41FA5}">
                      <a16:colId xmlns:a16="http://schemas.microsoft.com/office/drawing/2014/main" val="760487373"/>
                    </a:ext>
                  </a:extLst>
                </a:gridCol>
                <a:gridCol w="842286">
                  <a:extLst>
                    <a:ext uri="{9D8B030D-6E8A-4147-A177-3AD203B41FA5}">
                      <a16:colId xmlns:a16="http://schemas.microsoft.com/office/drawing/2014/main" val="220054883"/>
                    </a:ext>
                  </a:extLst>
                </a:gridCol>
                <a:gridCol w="842286">
                  <a:extLst>
                    <a:ext uri="{9D8B030D-6E8A-4147-A177-3AD203B41FA5}">
                      <a16:colId xmlns:a16="http://schemas.microsoft.com/office/drawing/2014/main" val="1935707595"/>
                    </a:ext>
                  </a:extLst>
                </a:gridCol>
                <a:gridCol w="842286">
                  <a:extLst>
                    <a:ext uri="{9D8B030D-6E8A-4147-A177-3AD203B41FA5}">
                      <a16:colId xmlns:a16="http://schemas.microsoft.com/office/drawing/2014/main" val="3709621256"/>
                    </a:ext>
                  </a:extLst>
                </a:gridCol>
                <a:gridCol w="842286">
                  <a:extLst>
                    <a:ext uri="{9D8B030D-6E8A-4147-A177-3AD203B41FA5}">
                      <a16:colId xmlns:a16="http://schemas.microsoft.com/office/drawing/2014/main" val="2271749090"/>
                    </a:ext>
                  </a:extLst>
                </a:gridCol>
                <a:gridCol w="435182">
                  <a:extLst>
                    <a:ext uri="{9D8B030D-6E8A-4147-A177-3AD203B41FA5}">
                      <a16:colId xmlns:a16="http://schemas.microsoft.com/office/drawing/2014/main" val="3236141349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hijos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134057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18335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212047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37454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26059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451205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204629"/>
                  </a:ext>
                </a:extLst>
              </a:tr>
            </a:tbl>
          </a:graphicData>
        </a:graphic>
      </p:graphicFrame>
      <p:pic>
        <p:nvPicPr>
          <p:cNvPr id="28735" name="Imagen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709988"/>
            <a:ext cx="3671888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87BE292-F6D3-26ED-0745-91B281E9BD64}"/>
              </a:ext>
            </a:extLst>
          </p:cNvPr>
          <p:cNvSpPr/>
          <p:nvPr/>
        </p:nvSpPr>
        <p:spPr>
          <a:xfrm>
            <a:off x="539750" y="476672"/>
            <a:ext cx="8208714" cy="59766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5428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2108926-7DE9-4A7D-AC0D-11B07A4F3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44" y="2564904"/>
            <a:ext cx="7936904" cy="366033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a) Construir La Tabla De Frecuencias.</a:t>
            </a:r>
          </a:p>
          <a:p>
            <a:pPr marL="0" indent="0">
              <a:buNone/>
            </a:pPr>
            <a:r>
              <a:rPr lang="es-MX" dirty="0"/>
              <a:t>b) Cuantos estudiantes escucharon de 3 a menos de 8 canciones</a:t>
            </a:r>
          </a:p>
          <a:p>
            <a:pPr marL="0" indent="0">
              <a:buNone/>
            </a:pPr>
            <a:r>
              <a:rPr lang="es-MX" dirty="0"/>
              <a:t>c) </a:t>
            </a:r>
            <a:r>
              <a:rPr lang="es-MX" dirty="0" err="1"/>
              <a:t>Proporcion</a:t>
            </a:r>
            <a:r>
              <a:rPr lang="es-MX" dirty="0"/>
              <a:t> de estudiantes que escucharon mas de 6 canciones</a:t>
            </a:r>
          </a:p>
          <a:p>
            <a:pPr marL="0" indent="0">
              <a:buNone/>
            </a:pPr>
            <a:r>
              <a:rPr lang="es-PE" dirty="0"/>
              <a:t>d) % de estudiantes que escucharon a lo mas 9 canciones</a:t>
            </a:r>
          </a:p>
          <a:p>
            <a:pPr marL="0" indent="0">
              <a:buNone/>
            </a:pPr>
            <a:r>
              <a:rPr lang="es-PE" dirty="0"/>
              <a:t>e) Cuantas canciones escucharon menos de la mitad de los estudiantes</a:t>
            </a:r>
          </a:p>
          <a:p>
            <a:pPr marL="0" indent="0">
              <a:buNone/>
            </a:pPr>
            <a:r>
              <a:rPr lang="es-PE" dirty="0"/>
              <a:t>f) Graficar usando hi y Pi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D6EB68D-7C81-4CFE-85DE-B33580DC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B7E0E8-51C7-4AE1-AD31-3B97789EB537}" type="slidenum">
              <a:rPr lang="es-ES" smtClean="0"/>
              <a:pPr>
                <a:defRPr/>
              </a:pPr>
              <a:t>21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2E18AB-B220-451B-A584-AC0AC54BCC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166"/>
          <a:stretch/>
        </p:blipFill>
        <p:spPr>
          <a:xfrm>
            <a:off x="667544" y="632761"/>
            <a:ext cx="7720879" cy="203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31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3C8698-02B4-2B98-75F8-3AF44E0C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B7E0E8-51C7-4AE1-AD31-3B97789EB537}" type="slidenum">
              <a:rPr lang="es-ES" smtClean="0"/>
              <a:pPr>
                <a:defRPr/>
              </a:pPr>
              <a:t>22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FD87C1-84B0-BF1A-3529-ADFB573EA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76" y="617536"/>
            <a:ext cx="6268325" cy="24634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FAD556-4913-8E0B-97AB-86218FC46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629799"/>
            <a:ext cx="6552728" cy="261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47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6338" y="2276872"/>
            <a:ext cx="6799262" cy="2304256"/>
          </a:xfrm>
        </p:spPr>
        <p:txBody>
          <a:bodyPr/>
          <a:lstStyle/>
          <a:p>
            <a:pPr marL="0" indent="0" algn="ctr">
              <a:buNone/>
            </a:pPr>
            <a:r>
              <a:rPr lang="es-MX" sz="11500" dirty="0">
                <a:solidFill>
                  <a:srgbClr val="00B0F0"/>
                </a:solidFill>
                <a:latin typeface="Algerian" panose="04020705040A02060702" pitchFamily="82" charset="0"/>
              </a:rPr>
              <a:t>GRACIAS</a:t>
            </a:r>
            <a:endParaRPr lang="en-US" sz="115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147F49-CBF8-40C2-89C8-F1EC049B0424}" type="slidenum">
              <a:rPr lang="es-ES" smtClean="0"/>
              <a:pPr>
                <a:defRPr/>
              </a:pPr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860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8CDD79E1-F98B-43D5-AF3A-A298EB2C6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3277830"/>
              </p:ext>
            </p:extLst>
          </p:nvPr>
        </p:nvGraphicFramePr>
        <p:xfrm>
          <a:off x="606425" y="1928813"/>
          <a:ext cx="7926389" cy="431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433">
                  <a:extLst>
                    <a:ext uri="{9D8B030D-6E8A-4147-A177-3AD203B41FA5}">
                      <a16:colId xmlns:a16="http://schemas.microsoft.com/office/drawing/2014/main" val="833881170"/>
                    </a:ext>
                  </a:extLst>
                </a:gridCol>
                <a:gridCol w="1145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1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33242"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Intervalo de clase [y’</a:t>
                      </a:r>
                      <a:r>
                        <a:rPr lang="es-PE" sz="12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2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</a:t>
                      </a:r>
                      <a:r>
                        <a:rPr lang="es-PE" sz="1200" b="1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2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2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es-PE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Marca de clase </a:t>
                      </a:r>
                      <a:r>
                        <a:rPr lang="es-PE" sz="12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 absoluta: fi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 relativa: hi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 porcentual: pi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F.A. acumulada Fi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F.R. acumulada</a:t>
                      </a:r>
                    </a:p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Hi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F.P. acumulada</a:t>
                      </a:r>
                    </a:p>
                    <a:p>
                      <a:pPr algn="ctr"/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811"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4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s-PE" sz="14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–y’</a:t>
                      </a:r>
                      <a:r>
                        <a:rPr lang="es-PE" sz="14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4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s-PE" sz="14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–y’</a:t>
                      </a:r>
                      <a:r>
                        <a:rPr lang="es-PE" sz="14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4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s-PE" sz="14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–y’</a:t>
                      </a:r>
                      <a:r>
                        <a:rPr lang="es-PE" sz="14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PE" sz="14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400" b="1" baseline="-25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endParaRPr lang="es-PE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[y’</a:t>
                      </a:r>
                      <a:r>
                        <a:rPr lang="es-PE" sz="11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m-1 </a:t>
                      </a:r>
                      <a:r>
                        <a:rPr lang="es-PE" sz="11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</a:t>
                      </a:r>
                      <a:r>
                        <a:rPr lang="es-PE" sz="1100" b="1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1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PE" sz="11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PE" sz="11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]</a:t>
                      </a:r>
                    </a:p>
                    <a:p>
                      <a:pPr algn="ctr"/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y1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y2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y3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ym</a:t>
                      </a:r>
                      <a:endParaRPr lang="es-PE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f3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  <a:endParaRPr lang="es-PE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h1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h3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hm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F3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H1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H2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H3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Hm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ctr"/>
                      <a:r>
                        <a:rPr lang="es-PE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597">
                <a:tc>
                  <a:txBody>
                    <a:bodyPr/>
                    <a:lstStyle/>
                    <a:p>
                      <a:pPr algn="ctr"/>
                      <a:endParaRPr lang="es-PE" sz="1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7" marR="91437" marT="45697" marB="456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452B10-13D4-4C55-85F7-4353219D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379E4-70E2-43D1-8446-DA0A9C48D8D1}" type="slidenum">
              <a:rPr lang="es-ES" smtClean="0"/>
              <a:pPr>
                <a:defRPr/>
              </a:pPr>
              <a:t>24</a:t>
            </a:fld>
            <a:endParaRPr lang="es-ES"/>
          </a:p>
        </p:txBody>
      </p:sp>
      <p:sp>
        <p:nvSpPr>
          <p:cNvPr id="6" name="Título 2">
            <a:extLst>
              <a:ext uri="{FF2B5EF4-FFF2-40B4-BE49-F238E27FC236}">
                <a16:creationId xmlns:a16="http://schemas.microsoft.com/office/drawing/2014/main" id="{739128FA-B7FD-4E60-AF66-FB672C77EB0D}"/>
              </a:ext>
            </a:extLst>
          </p:cNvPr>
          <p:cNvSpPr txBox="1">
            <a:spLocks/>
          </p:cNvSpPr>
          <p:nvPr/>
        </p:nvSpPr>
        <p:spPr bwMode="auto">
          <a:xfrm>
            <a:off x="606425" y="1112838"/>
            <a:ext cx="67976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4000" kern="1200">
                <a:ln w="3175" cmpd="sng">
                  <a:noFill/>
                </a:ln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PE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Supongamos que en una muestra de n unidades estadísticas se observan datos de tipo continuo; entonces la tabla resulta:</a:t>
            </a:r>
          </a:p>
        </p:txBody>
      </p:sp>
      <p:sp>
        <p:nvSpPr>
          <p:cNvPr id="9" name="Título 2">
            <a:extLst>
              <a:ext uri="{FF2B5EF4-FFF2-40B4-BE49-F238E27FC236}">
                <a16:creationId xmlns:a16="http://schemas.microsoft.com/office/drawing/2014/main" id="{03C76A87-D6F6-43E3-83A6-ADC71F4887D3}"/>
              </a:ext>
            </a:extLst>
          </p:cNvPr>
          <p:cNvSpPr txBox="1">
            <a:spLocks/>
          </p:cNvSpPr>
          <p:nvPr/>
        </p:nvSpPr>
        <p:spPr bwMode="auto">
          <a:xfrm>
            <a:off x="606425" y="636588"/>
            <a:ext cx="67976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4000" kern="1200">
                <a:ln w="3175" cmpd="sng">
                  <a:noFill/>
                </a:ln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262626"/>
                </a:solidFill>
                <a:latin typeface="Garamond" panose="02020404030301010803" pitchFamily="18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PE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 de frecuencias para variables cuantitativas continuas: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Marcador de contenido 2">
            <a:extLst>
              <a:ext uri="{FF2B5EF4-FFF2-40B4-BE49-F238E27FC236}">
                <a16:creationId xmlns:a16="http://schemas.microsoft.com/office/drawing/2014/main" id="{5877A278-2DF3-4893-A5FE-B7044A897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836613"/>
            <a:ext cx="7607300" cy="54038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Intervalos de clase: Esta delimitado por el limite inferior 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 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el limite superior </a:t>
            </a:r>
            <a:r>
              <a:rPr 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Marcas de clase (</a:t>
            </a: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yi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): Punto medio de cada intervalo de clase.      </a:t>
            </a: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yi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 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/2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s-PE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Construcción de una tabla de frecuencias por intervalos: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P1:Determinar el rango o recorrido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R= </a:t>
            </a:r>
            <a:r>
              <a:rPr 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Xmax</a:t>
            </a: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 </a:t>
            </a:r>
            <a:r>
              <a:rPr 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endParaRPr lang="es-PE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P2: Determinar el numero de intervalos: REGLA DE STURGES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m= 1+ 3.322*log(n)            m es entero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P3: Determinar la amplitud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c=R / m               c es entero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358C45-6FA8-456E-9579-2551C857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74FCAE-881E-4FFD-84C9-0C44512190E7}" type="slidenum">
              <a:rPr lang="es-ES" smtClean="0"/>
              <a:pPr>
                <a:defRPr/>
              </a:pPr>
              <a:t>25</a:t>
            </a:fld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Marcador de contenido 2"/>
          <p:cNvSpPr>
            <a:spLocks noGrp="1"/>
          </p:cNvSpPr>
          <p:nvPr>
            <p:ph idx="1"/>
          </p:nvPr>
        </p:nvSpPr>
        <p:spPr>
          <a:xfrm>
            <a:off x="765175" y="908050"/>
            <a:ext cx="7694613" cy="518477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Luego de realizar los pasos anteriores los intervalos de clase se construyen de la siguiente manera: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Limite inferior:</a:t>
            </a:r>
            <a:r>
              <a:rPr lang="es-PE" alt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y’</a:t>
            </a:r>
            <a:r>
              <a:rPr lang="es-PE" altLang="es-PE" sz="2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i-1 </a:t>
            </a: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		   Limite superior: </a:t>
            </a:r>
            <a:r>
              <a:rPr lang="es-PE" altLang="es-PE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20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PE" alt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1er intervalo:       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PE" alt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y’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PE" alt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  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2do intervalo: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y’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PE" alt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 				y’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PE" alt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+ 2c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3er intervalo:       y’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PE" alt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+ 2c 			y’</a:t>
            </a: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PE" altLang="es-PE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+ 3c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.                           Xmin+3C                              Xmin+4c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m-</a:t>
            </a:r>
            <a:r>
              <a:rPr lang="es-PE" altLang="es-PE" sz="1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esimo</a:t>
            </a:r>
            <a:r>
              <a:rPr lang="es-PE" altLang="es-PE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intervalo: y’</a:t>
            </a:r>
            <a:r>
              <a:rPr lang="es-PE" altLang="es-PE" sz="19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m-1</a:t>
            </a:r>
            <a:r>
              <a:rPr lang="es-PE" altLang="es-PE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PE" altLang="es-PE" sz="1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(m-1)c       y’</a:t>
            </a:r>
            <a:r>
              <a:rPr lang="es-PE" altLang="es-PE" sz="19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m-1</a:t>
            </a:r>
            <a:r>
              <a:rPr lang="es-PE" altLang="es-PE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PE" altLang="es-PE" sz="1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Xmin</a:t>
            </a:r>
            <a:r>
              <a:rPr lang="es-PE" altLang="es-PE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mc= </a:t>
            </a:r>
            <a:r>
              <a:rPr lang="es-PE" altLang="es-PE" sz="1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Xmax</a:t>
            </a:r>
            <a:endParaRPr lang="es-PE" altLang="es-PE" sz="19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s-PE" altLang="es-PE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s-PE" alt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579BFB-D1E1-4926-BB2E-DF640933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F3846-86A3-486E-99D5-B1449D7DC6A0}" type="slidenum">
              <a:rPr lang="es-ES" smtClean="0"/>
              <a:pPr>
                <a:defRPr/>
              </a:pPr>
              <a:t>26</a:t>
            </a:fld>
            <a:endParaRPr lang="es-E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Marcador de contenido 2">
            <a:extLst>
              <a:ext uri="{FF2B5EF4-FFF2-40B4-BE49-F238E27FC236}">
                <a16:creationId xmlns:a16="http://schemas.microsoft.com/office/drawing/2014/main" id="{08787E15-0CB1-40B3-B9FE-B63FCD57E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620713"/>
            <a:ext cx="6799263" cy="534035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alt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GRAFICOS: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es-PE" alt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Para frecuencias simples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s-PE" alt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Histograma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s-PE" alt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Polígono de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alt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    frecuencias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es-PE" alt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Para frecuencias  acumuladas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s-PE" altLang="es-PE" sz="1800" b="1" dirty="0">
                <a:latin typeface="Arial" panose="020B0604020202020204" pitchFamily="34" charset="0"/>
                <a:cs typeface="Arial" panose="020B0604020202020204" pitchFamily="34" charset="0"/>
              </a:rPr>
              <a:t>Ojiva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PE" altLang="es-PE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95FC57-F0F2-4145-9B69-0EDE080E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593023-C73B-461B-87E5-3429182786B1}" type="slidenum">
              <a:rPr lang="es-ES" smtClean="0"/>
              <a:pPr>
                <a:defRPr/>
              </a:pPr>
              <a:t>27</a:t>
            </a:fld>
            <a:endParaRPr lang="es-ES"/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1362506A-B600-42A6-8042-8B3BBEBFE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638" y="743975"/>
            <a:ext cx="3352730" cy="146089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774AC5C5-D721-41CE-B645-5E63D84A01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0116441"/>
              </p:ext>
            </p:extLst>
          </p:nvPr>
        </p:nvGraphicFramePr>
        <p:xfrm>
          <a:off x="3275856" y="2441916"/>
          <a:ext cx="3888432" cy="1697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86BC8075-B69E-4528-A994-FA1E5C9719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5051203"/>
              </p:ext>
            </p:extLst>
          </p:nvPr>
        </p:nvGraphicFramePr>
        <p:xfrm>
          <a:off x="4572000" y="4509095"/>
          <a:ext cx="3888432" cy="1728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Marcador de contenido 2">
            <a:extLst>
              <a:ext uri="{FF2B5EF4-FFF2-40B4-BE49-F238E27FC236}">
                <a16:creationId xmlns:a16="http://schemas.microsoft.com/office/drawing/2014/main" id="{01BFA27F-5178-45BE-97B8-F489EBD61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620713"/>
            <a:ext cx="7678738" cy="534035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PE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EJERCICIOS:</a:t>
            </a:r>
          </a:p>
          <a:p>
            <a:pPr marL="0" indent="0" algn="just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s-PE" altLang="es-PE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 1 : Se realizo una encuesta a 35 trabajadores de la UNAB, se les pregunto sobre su edad en años cumplidos; las respuestas fueron: 20,21,22,23,24,25,26,27,28,29,30,22,24,26,28,30,32,34,36,38,40,30,33,36,39,42,45,48,50,50,40,36,32,28,28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Construir la tabla de frecuencias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Cuantos trabajadores tienen edades menores a 32.5 años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¿Qué % de trabajadores tienen de 22.5 a menos de 42.5 años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¿Cuantos trabajadores tienen de 25 a 45 años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Interpretar: f2,h3,F3,H5 y P6</a:t>
            </a:r>
          </a:p>
          <a:p>
            <a:pPr marL="457200" indent="-457200" eaLnBrk="1" hangingPunct="1">
              <a:buFont typeface="Arial" panose="020B0604020202020204" pitchFamily="34" charset="0"/>
              <a:buAutoNum type="alphaLcParenR"/>
              <a:defRPr/>
            </a:pPr>
            <a:r>
              <a:rPr lang="es-PE" altLang="es-PE" sz="2000" dirty="0">
                <a:latin typeface="Arial" panose="020B0604020202020204" pitchFamily="34" charset="0"/>
                <a:cs typeface="Arial" panose="020B0604020202020204" pitchFamily="34" charset="0"/>
              </a:rPr>
              <a:t>Graficar usando las fi y las Hi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91906C-D7EF-486F-9B9E-9BEDFA9B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8F79D1-322B-4826-A7C1-6E3B47769F52}" type="slidenum">
              <a:rPr lang="es-ES" smtClean="0"/>
              <a:pPr>
                <a:defRPr/>
              </a:pPr>
              <a:t>28</a:t>
            </a:fld>
            <a:endParaRPr lang="es-E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7"/>
          <p:cNvSpPr>
            <a:spLocks noGrp="1"/>
          </p:cNvSpPr>
          <p:nvPr>
            <p:ph type="title"/>
          </p:nvPr>
        </p:nvSpPr>
        <p:spPr>
          <a:xfrm>
            <a:off x="468313" y="574675"/>
            <a:ext cx="4391025" cy="2638425"/>
          </a:xfrm>
        </p:spPr>
        <p:txBody>
          <a:bodyPr/>
          <a:lstStyle/>
          <a:p>
            <a:pPr algn="l"/>
            <a: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P1:Hallar el rango:</a:t>
            </a:r>
            <a:b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R=Xmax – Xmin=30</a:t>
            </a:r>
            <a:b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P2: Numero de intervalos</a:t>
            </a:r>
            <a:b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m= 1+ 3.32*log(n)=</a:t>
            </a:r>
            <a:b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    =1+3.32*log(35)=6.126 ≈ 7</a:t>
            </a:r>
            <a:b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P3: Hallr la amplitud</a:t>
            </a:r>
            <a:b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altLang="es-PE" sz="200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c=R/m= 30/7=4.285 ≈ 5</a:t>
            </a:r>
            <a:endParaRPr lang="en-US" altLang="es-PE" sz="2000">
              <a:ln>
                <a:noFill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87A5EB-C314-42C3-850A-4DB8EFEA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B2EF24-FAFB-402B-967D-C9F23D5C7D93}" type="slidenum">
              <a:rPr lang="es-ES" smtClean="0"/>
              <a:pPr>
                <a:defRPr/>
              </a:pPr>
              <a:t>29</a:t>
            </a:fld>
            <a:endParaRPr lang="es-ES"/>
          </a:p>
        </p:txBody>
      </p:sp>
      <p:graphicFrame>
        <p:nvGraphicFramePr>
          <p:cNvPr id="34820" name="Gráfico 13"/>
          <p:cNvGraphicFramePr>
            <a:graphicFrameLocks/>
          </p:cNvGraphicFramePr>
          <p:nvPr/>
        </p:nvGraphicFramePr>
        <p:xfrm>
          <a:off x="4521200" y="434975"/>
          <a:ext cx="4278313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4285859" imgH="2719052" progId="Excel.Chart.8">
                  <p:embed/>
                </p:oleObj>
              </mc:Choice>
              <mc:Fallback>
                <p:oleObj name="Gráfico" r:id="rId2" imgW="4285859" imgH="2719052" progId="Excel.Chart.8">
                  <p:embed/>
                  <p:pic>
                    <p:nvPicPr>
                      <p:cNvPr id="0" name="Gráfico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434975"/>
                        <a:ext cx="4278313" cy="271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Gráfico 14"/>
          <p:cNvGraphicFramePr>
            <a:graphicFrameLocks/>
          </p:cNvGraphicFramePr>
          <p:nvPr/>
        </p:nvGraphicFramePr>
        <p:xfrm>
          <a:off x="5318125" y="3133725"/>
          <a:ext cx="3641725" cy="315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4" imgW="3645724" imgH="3164098" progId="Excel.Chart.8">
                  <p:embed/>
                </p:oleObj>
              </mc:Choice>
              <mc:Fallback>
                <p:oleObj name="Gráfico" r:id="rId4" imgW="3645724" imgH="3164098" progId="Excel.Chart.8">
                  <p:embed/>
                  <p:pic>
                    <p:nvPicPr>
                      <p:cNvPr id="0" name="Gráfico 1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3133725"/>
                        <a:ext cx="3641725" cy="315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323B04D-F95A-40AE-99F1-31504EA6C537}"/>
              </a:ext>
            </a:extLst>
          </p:cNvPr>
          <p:cNvGraphicFramePr>
            <a:graphicFrameLocks noGrp="1"/>
          </p:cNvGraphicFramePr>
          <p:nvPr/>
        </p:nvGraphicFramePr>
        <p:xfrm>
          <a:off x="688975" y="3152775"/>
          <a:ext cx="4457701" cy="3087689"/>
        </p:xfrm>
        <a:graphic>
          <a:graphicData uri="http://schemas.openxmlformats.org/drawingml/2006/table">
            <a:tbl>
              <a:tblPr/>
              <a:tblGrid>
                <a:gridCol w="471510">
                  <a:extLst>
                    <a:ext uri="{9D8B030D-6E8A-4147-A177-3AD203B41FA5}">
                      <a16:colId xmlns:a16="http://schemas.microsoft.com/office/drawing/2014/main" val="3449068473"/>
                    </a:ext>
                  </a:extLst>
                </a:gridCol>
                <a:gridCol w="452265">
                  <a:extLst>
                    <a:ext uri="{9D8B030D-6E8A-4147-A177-3AD203B41FA5}">
                      <a16:colId xmlns:a16="http://schemas.microsoft.com/office/drawing/2014/main" val="1517667790"/>
                    </a:ext>
                  </a:extLst>
                </a:gridCol>
                <a:gridCol w="317854">
                  <a:extLst>
                    <a:ext uri="{9D8B030D-6E8A-4147-A177-3AD203B41FA5}">
                      <a16:colId xmlns:a16="http://schemas.microsoft.com/office/drawing/2014/main" val="3001813217"/>
                    </a:ext>
                  </a:extLst>
                </a:gridCol>
                <a:gridCol w="393805">
                  <a:extLst>
                    <a:ext uri="{9D8B030D-6E8A-4147-A177-3AD203B41FA5}">
                      <a16:colId xmlns:a16="http://schemas.microsoft.com/office/drawing/2014/main" val="2194823523"/>
                    </a:ext>
                  </a:extLst>
                </a:gridCol>
                <a:gridCol w="393805">
                  <a:extLst>
                    <a:ext uri="{9D8B030D-6E8A-4147-A177-3AD203B41FA5}">
                      <a16:colId xmlns:a16="http://schemas.microsoft.com/office/drawing/2014/main" val="2677293813"/>
                    </a:ext>
                  </a:extLst>
                </a:gridCol>
                <a:gridCol w="525073">
                  <a:extLst>
                    <a:ext uri="{9D8B030D-6E8A-4147-A177-3AD203B41FA5}">
                      <a16:colId xmlns:a16="http://schemas.microsoft.com/office/drawing/2014/main" val="1901758486"/>
                    </a:ext>
                  </a:extLst>
                </a:gridCol>
                <a:gridCol w="459439">
                  <a:extLst>
                    <a:ext uri="{9D8B030D-6E8A-4147-A177-3AD203B41FA5}">
                      <a16:colId xmlns:a16="http://schemas.microsoft.com/office/drawing/2014/main" val="58806618"/>
                    </a:ext>
                  </a:extLst>
                </a:gridCol>
                <a:gridCol w="459439">
                  <a:extLst>
                    <a:ext uri="{9D8B030D-6E8A-4147-A177-3AD203B41FA5}">
                      <a16:colId xmlns:a16="http://schemas.microsoft.com/office/drawing/2014/main" val="1127781063"/>
                    </a:ext>
                  </a:extLst>
                </a:gridCol>
                <a:gridCol w="984511">
                  <a:extLst>
                    <a:ext uri="{9D8B030D-6E8A-4147-A177-3AD203B41FA5}">
                      <a16:colId xmlns:a16="http://schemas.microsoft.com/office/drawing/2014/main" val="2738507038"/>
                    </a:ext>
                  </a:extLst>
                </a:gridCol>
              </a:tblGrid>
              <a:tr h="2375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NUMERO HORAS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Yi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75507"/>
                  </a:ext>
                </a:extLst>
              </a:tr>
              <a:tr h="2493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     Yi-1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Yi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75425"/>
                  </a:ext>
                </a:extLst>
              </a:tr>
              <a:tr h="38002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17.5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0.114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0.114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11.43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11.429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026136"/>
                  </a:ext>
                </a:extLst>
              </a:tr>
              <a:tr h="344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0.314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31.429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251172"/>
                  </a:ext>
                </a:extLst>
              </a:tr>
              <a:tr h="320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0.286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0.600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28.57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60.000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634613"/>
                  </a:ext>
                </a:extLst>
              </a:tr>
              <a:tr h="320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0.143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0.743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74.286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45802"/>
                  </a:ext>
                </a:extLst>
              </a:tr>
              <a:tr h="320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0.143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0.886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88.571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690847"/>
                  </a:ext>
                </a:extLst>
              </a:tr>
              <a:tr h="3087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0.029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0.914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2.86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91.429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149291"/>
                  </a:ext>
                </a:extLst>
              </a:tr>
              <a:tr h="3562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0.086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1.000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100.000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265743"/>
                  </a:ext>
                </a:extLst>
              </a:tr>
              <a:tr h="2493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120707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14188B7F-15DE-8C35-5E6A-ED3E18AE8770}"/>
              </a:ext>
            </a:extLst>
          </p:cNvPr>
          <p:cNvSpPr/>
          <p:nvPr/>
        </p:nvSpPr>
        <p:spPr>
          <a:xfrm>
            <a:off x="539552" y="434975"/>
            <a:ext cx="8259961" cy="59880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FB0586-A254-4BE8-B3AB-8D8589236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572" y="692696"/>
            <a:ext cx="7704856" cy="3444875"/>
          </a:xfrm>
        </p:spPr>
        <p:txBody>
          <a:bodyPr/>
          <a:lstStyle/>
          <a:p>
            <a:pPr marL="0" indent="0" algn="just">
              <a:buNone/>
            </a:pPr>
            <a:r>
              <a:rPr lang="es-ES" sz="2000" b="1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ES" sz="2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2: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 siguiente</a:t>
            </a:r>
            <a:r>
              <a:rPr lang="es-E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tabla presenta la duración en días de una muestra de auditorías de fin de año de 20 clientes de una empresa pequeña </a:t>
            </a:r>
            <a:r>
              <a:rPr lang="es-PE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de contadores públicos.</a:t>
            </a:r>
          </a:p>
          <a:p>
            <a:pPr marL="514350" indent="-514350" algn="just">
              <a:buClr>
                <a:srgbClr val="FF0000"/>
              </a:buClr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Construir la TF</a:t>
            </a:r>
          </a:p>
          <a:p>
            <a:pPr marL="0" indent="0" algn="just">
              <a:buNone/>
            </a:pPr>
            <a:r>
              <a:rPr lang="es-P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Cuantos auditorias duraron</a:t>
            </a:r>
          </a:p>
          <a:p>
            <a:pPr marL="0" indent="0" algn="just">
              <a:buNone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    entre 14.5  a menos de 18.5 días</a:t>
            </a:r>
          </a:p>
          <a:p>
            <a:pPr marL="0" indent="0" algn="just">
              <a:buNone/>
            </a:pPr>
            <a:r>
              <a:rPr lang="es-P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Que proporción de auditorias</a:t>
            </a:r>
          </a:p>
          <a:p>
            <a:pPr marL="0" indent="0" algn="just">
              <a:buNone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duraron de 18.5 a menos de 30.5 días</a:t>
            </a:r>
          </a:p>
          <a:p>
            <a:pPr marL="0" indent="0" algn="just">
              <a:buNone/>
            </a:pPr>
            <a:r>
              <a:rPr lang="es-P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Cuantos auditorias duraron </a:t>
            </a:r>
          </a:p>
          <a:p>
            <a:pPr marL="0" indent="0" algn="just">
              <a:buNone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menos de 22.5 días</a:t>
            </a:r>
            <a:r>
              <a:rPr lang="es-PE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P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e)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Diseñar la grafica apropiada</a:t>
            </a:r>
          </a:p>
          <a:p>
            <a:pPr marL="0" indent="0" algn="just">
              <a:buNone/>
            </a:pPr>
            <a:endParaRPr lang="es-P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B67A87-09C0-494C-B33D-9DB45333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30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1881C5-4B22-49EA-96AA-0128B29CC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1772816"/>
            <a:ext cx="2998701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98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Marcador de contenido 2">
            <a:extLst>
              <a:ext uri="{FF2B5EF4-FFF2-40B4-BE49-F238E27FC236}">
                <a16:creationId xmlns:a16="http://schemas.microsoft.com/office/drawing/2014/main" id="{61B4F377-1C7E-474E-81FB-F7AF6A29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549275"/>
            <a:ext cx="7678738" cy="5832475"/>
          </a:xfrm>
        </p:spPr>
        <p:txBody>
          <a:bodyPr/>
          <a:lstStyle/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DISTRIBUCION SIMETRICA EN UNA TABLA DE FRECUENCIAS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Una tabla de distribución de frecuencias que tiene un numero impar de clases, se dice que es simétrica, si las clases equidistantes de la clase central tienen frecuencias iguales.</a:t>
            </a: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Una tabla de distribución de frecuencias que tiene un numero par de clases, se dice que es simétrica, si las dos clases centrales tienen frecuencias iguales , y las clases equidistantes de éstas centrales, tienen también frecuencias iguales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D6D64E-57FC-43A6-9792-D93209D7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89562F-EF8F-46B6-8245-C8A14F58D2B0}" type="slidenum">
              <a:rPr lang="es-ES" smtClean="0"/>
              <a:pPr>
                <a:defRPr/>
              </a:pPr>
              <a:t>31</a:t>
            </a:fld>
            <a:endParaRPr lang="es-ES"/>
          </a:p>
        </p:txBody>
      </p:sp>
      <p:pic>
        <p:nvPicPr>
          <p:cNvPr id="39938" name="Picture 2" descr="Histograma de Frecuencias - La guía completa">
            <a:extLst>
              <a:ext uri="{FF2B5EF4-FFF2-40B4-BE49-F238E27FC236}">
                <a16:creationId xmlns:a16="http://schemas.microsoft.com/office/drawing/2014/main" id="{6C54BDD7-D906-8553-FEF1-297C6680A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4149080"/>
            <a:ext cx="3024337" cy="200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0" name="Picture 4" descr="Estadístico de forma de la distribución">
            <a:extLst>
              <a:ext uri="{FF2B5EF4-FFF2-40B4-BE49-F238E27FC236}">
                <a16:creationId xmlns:a16="http://schemas.microsoft.com/office/drawing/2014/main" id="{AEA719D0-3AB1-CA67-AD3D-8725E2DF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187303"/>
            <a:ext cx="2952328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602F58-3661-4D3D-A768-5B9984060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937" y="1412776"/>
            <a:ext cx="6799262" cy="3444875"/>
          </a:xfrm>
        </p:spPr>
        <p:txBody>
          <a:bodyPr/>
          <a:lstStyle/>
          <a:p>
            <a:pPr marL="0" indent="0" algn="just">
              <a:buClrTx/>
              <a:buFont typeface="Arial" panose="020B0604020202020204" pitchFamily="34" charset="0"/>
              <a:buNone/>
              <a:defRPr/>
            </a:pPr>
            <a:r>
              <a:rPr lang="es-PE" sz="2400" dirty="0">
                <a:latin typeface="Arial" panose="020B0604020202020204" pitchFamily="34" charset="0"/>
                <a:cs typeface="Arial" panose="020B0604020202020204" pitchFamily="34" charset="0"/>
              </a:rPr>
              <a:t>7.  En una tabla de distribución simétrica con m=7 , c=</a:t>
            </a:r>
            <a:r>
              <a:rPr lang="es-PE" sz="2400" dirty="0" err="1"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es-PE" sz="2400" dirty="0">
                <a:latin typeface="Arial" panose="020B0604020202020204" pitchFamily="34" charset="0"/>
                <a:cs typeface="Arial" panose="020B0604020202020204" pitchFamily="34" charset="0"/>
              </a:rPr>
              <a:t> ; se conocen los datos siguientes:</a:t>
            </a:r>
          </a:p>
          <a:p>
            <a:pPr marL="0" indent="0" algn="just">
              <a:buClrTx/>
              <a:buFont typeface="Arial" panose="020B0604020202020204" pitchFamily="34" charset="0"/>
              <a:buNone/>
              <a:defRPr/>
            </a:pPr>
            <a:r>
              <a:rPr lang="es-PE" sz="2400" dirty="0">
                <a:latin typeface="Arial" panose="020B0604020202020204" pitchFamily="34" charset="0"/>
                <a:cs typeface="Arial" panose="020B0604020202020204" pitchFamily="34" charset="0"/>
              </a:rPr>
              <a:t>c=10 , f1=8 , y3*f3=1260 , f2+f5=62 , h3=0.21 y  H6=0.96  Reconstruye la tabla de frecuencias</a:t>
            </a: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B8B1EB-77A1-48AF-A2B2-0B77087E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0263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C854FF-95B6-4F11-BFAD-E7E017DFB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836613"/>
            <a:ext cx="7678738" cy="540385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EJERCICIOS: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AutoNum type="arabicPeriod"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La tabla de frecuencias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      que se da a continuación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      faltan datos, complétala: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endParaRPr lang="es-PE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endParaRPr lang="es-PE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2. Las notas del examen parcial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de 60 estudiantes del curso de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estadística dieron la siguiente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distribución de frecuencias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Completar la T.F.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b) ¿Cuántos estudiantes obtuvieron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notas de 6 a menos de 15 puntos.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c) ¿Qué proporción de estudiantes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Obtuvieron menos de 15 puntos.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d) ¿Qué porcentaje de estudiantes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r>
              <a:rPr lang="es-PE" sz="1800" dirty="0">
                <a:latin typeface="Arial" panose="020B0604020202020204" pitchFamily="34" charset="0"/>
                <a:cs typeface="Arial" panose="020B0604020202020204" pitchFamily="34" charset="0"/>
              </a:rPr>
              <a:t>Obtuvieron notas de [9 – 15&gt;?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EA9256-5797-4011-9D77-56F07E0A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780680-5D67-45D8-BC47-7B110C4AF7AA}" type="slidenum">
              <a:rPr lang="es-ES" smtClean="0"/>
              <a:pPr>
                <a:defRPr/>
              </a:pPr>
              <a:t>33</a:t>
            </a:fld>
            <a:endParaRPr lang="es-E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81F0CE8-8AF0-46A6-9F6C-8A3BE0EE8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288024"/>
              </p:ext>
            </p:extLst>
          </p:nvPr>
        </p:nvGraphicFramePr>
        <p:xfrm>
          <a:off x="4688893" y="617536"/>
          <a:ext cx="3283755" cy="2469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593">
                  <a:extLst>
                    <a:ext uri="{9D8B030D-6E8A-4147-A177-3AD203B41FA5}">
                      <a16:colId xmlns:a16="http://schemas.microsoft.com/office/drawing/2014/main" val="3688139783"/>
                    </a:ext>
                  </a:extLst>
                </a:gridCol>
                <a:gridCol w="719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95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998">
                <a:tc>
                  <a:txBody>
                    <a:bodyPr/>
                    <a:lstStyle/>
                    <a:p>
                      <a:r>
                        <a:rPr lang="es-PE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837"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998"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D0ABD79-6022-4EBC-9461-D76A75A48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41982"/>
              </p:ext>
            </p:extLst>
          </p:nvPr>
        </p:nvGraphicFramePr>
        <p:xfrm>
          <a:off x="4572000" y="3495675"/>
          <a:ext cx="3887788" cy="247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48">
                <a:tc>
                  <a:txBody>
                    <a:bodyPr/>
                    <a:lstStyle/>
                    <a:p>
                      <a:pPr algn="ctr"/>
                      <a:r>
                        <a:rPr lang="es-PE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[y’</a:t>
                      </a:r>
                      <a:r>
                        <a:rPr lang="es-PE" sz="1800" b="1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 </a:t>
                      </a:r>
                      <a:r>
                        <a:rPr lang="es-PE" sz="18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</a:t>
                      </a:r>
                      <a:r>
                        <a:rPr lang="es-PE" sz="1800" b="1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y’</a:t>
                      </a:r>
                      <a:r>
                        <a:rPr lang="es-PE" sz="1800" b="1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PE" sz="18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es-PE"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</a:t>
                      </a:r>
                      <a:endParaRPr lang="es-PE"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825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     </a:t>
                      </a:r>
                      <a:r>
                        <a:rPr lang="es-PE" sz="1800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[6</a:t>
                      </a:r>
                      <a:r>
                        <a:rPr lang="es-PE" sz="1800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     &gt;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es-PE" sz="1800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     &gt;</a:t>
                      </a:r>
                      <a:endParaRPr lang="es-PE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PE" sz="1800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     &gt;</a:t>
                      </a:r>
                      <a:endParaRPr lang="es-PE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s-PE" sz="1800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es-PE" sz="1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     ]</a:t>
                      </a:r>
                      <a:endParaRPr lang="es-PE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13.5</a:t>
                      </a: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</a:t>
                      </a: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  <a:p>
                      <a:r>
                        <a:rPr lang="es-PE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48"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45744" marB="457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28FEE7-C897-45D1-8F0B-F1C26E565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692150"/>
            <a:ext cx="7678738" cy="34448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3. Los ingresos en miles de soles de una empresa dedicada a la construcción, se tabularon con m=6 ; c=</a:t>
            </a:r>
            <a:r>
              <a:rPr lang="es-PE" sz="1900" dirty="0" err="1"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 ,  y2=40 , y4=80 , h1=h6  , h3=h5 , h4=0.25 , h2=h4-h1 , h3=h1+0.10 y F6=60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Completar la T.F.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¿Cuántas empresas tienen ingresos de 10 a menos de 50 mil soles?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¿Proporción de empresas que tienen ingresos de 15 a 80 mil soles?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¿Cuántas empresa tienen ingresos menores a 90 mil soles?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¿Qué porcentaje de empresas tienen ingresos menores a 50 mil soles?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1900" dirty="0">
                <a:latin typeface="Arial" panose="020B0604020202020204" pitchFamily="34" charset="0"/>
                <a:cs typeface="Arial" panose="020B0604020202020204" pitchFamily="34" charset="0"/>
              </a:rPr>
              <a:t>Graficar usando las hi y Fi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F807C3-A316-44C1-9033-72C3D743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FFE5EE-C44D-461C-A23B-71D132CD35E9}" type="slidenum">
              <a:rPr lang="es-ES" smtClean="0"/>
              <a:pPr>
                <a:defRPr/>
              </a:pPr>
              <a:t>34</a:t>
            </a:fld>
            <a:endParaRPr lang="es-E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Marcador de contenido 2">
            <a:extLst>
              <a:ext uri="{FF2B5EF4-FFF2-40B4-BE49-F238E27FC236}">
                <a16:creationId xmlns:a16="http://schemas.microsoft.com/office/drawing/2014/main" id="{3013E26C-CD5F-4656-A538-7C8B6839A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836712"/>
            <a:ext cx="7678738" cy="58324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4. En base a la siguiente información construir la T.F.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  m= 6 ,  y2= 550  , y5= 850  , h6= 4/100=H1 , h2=0.14 , H4=0.76 , h5=0.20 , H3 – h2=0.26 y c= cte.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5. Las marcas de clase de una distribución de frecuencias con intervalos de c=</a:t>
            </a:r>
            <a:r>
              <a:rPr lang="es-PE" sz="1700" dirty="0" err="1"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 son: 46,55,64,73,82,91. Hallar:</a:t>
            </a:r>
          </a:p>
          <a:p>
            <a:pPr marL="457200" indent="-457200">
              <a:buClrTx/>
              <a:buFont typeface="Arial" panose="020B0604020202020204" pitchFamily="34" charset="0"/>
              <a:buAutoNum type="alphaLcParenR"/>
              <a:defRPr/>
            </a:pP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La amplitud        b) Los intervalos de clase           c) El rango</a:t>
            </a:r>
          </a:p>
          <a:p>
            <a:pPr marL="0" indent="0">
              <a:buClrTx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6. Se tiene una distribución de frecuencias con m=4 y c=</a:t>
            </a:r>
            <a:r>
              <a:rPr lang="es-PE" sz="1700" dirty="0" err="1"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, y lo siguientes datos: y1=10 , y4=22 , h1=0.30 , h4=17.5%,  H2=0.45 y n=120 . Reconstruir la T.F.</a:t>
            </a: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endParaRPr lang="es-PE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  <a:defRPr/>
            </a:pPr>
            <a:r>
              <a:rPr lang="es-PE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FB219B-1844-41D0-8EBD-4EB27EB9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05688E-E9A3-4B06-892C-F08180CB48B0}" type="slidenum">
              <a:rPr lang="es-ES" smtClean="0"/>
              <a:pPr>
                <a:defRPr/>
              </a:pPr>
              <a:t>35</a:t>
            </a:fld>
            <a:endParaRPr lang="es-E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3596CB6-9F23-4A91-9DA3-C7055915E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0464" y="692696"/>
                <a:ext cx="7637959" cy="5400600"/>
              </a:xfrm>
            </p:spPr>
            <p:txBody>
              <a:bodyPr/>
              <a:lstStyle/>
              <a:p>
                <a:pPr marL="0" indent="0" algn="just">
                  <a:buClrTx/>
                  <a:buFont typeface="Arial" panose="020B0604020202020204" pitchFamily="34" charset="0"/>
                  <a:buNone/>
                  <a:defRPr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7. Los puntajes de 50 alumnos se clasifican en una tabla de distribución de frecuencias con m=4 y c=</a:t>
                </a:r>
                <a:r>
                  <a:rPr lang="es-PE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cte</a:t>
                </a: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. Se sabe que: y2=50 , f1=4, F2=20 , f3=25 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1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=62 . Reconstruir la T.F.</a:t>
                </a:r>
              </a:p>
              <a:p>
                <a:pPr marL="0" indent="0" algn="just">
                  <a:buClrTx/>
                  <a:buFont typeface="Arial" panose="020B0604020202020204" pitchFamily="34" charset="0"/>
                  <a:buNone/>
                  <a:defRPr/>
                </a:pPr>
                <a:endParaRPr lang="es-PE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ClrTx/>
                  <a:buFont typeface="Arial" panose="020B0604020202020204" pitchFamily="34" charset="0"/>
                  <a:buNone/>
                  <a:defRPr/>
                </a:pPr>
                <a:r>
                  <a:rPr lang="es-PE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8. Una compañía tiene 60 trabajadores. El sueldo mínimo de un trabajador es 100 soles y el máximo 590 soles mensuales. El 80% de los trabajadores ganan por lo menos 210 soles, 18 perciben haberes inferiores a 390 soles, 20% son profesionales y reciben un haber de por lo menos de 490 soles. Construir la tabla de distribución de frecuencias relativas.</a:t>
                </a:r>
              </a:p>
              <a:p>
                <a:pPr algn="just"/>
                <a:endParaRPr lang="es-PE" sz="18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3596CB6-9F23-4A91-9DA3-C7055915E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0464" y="692696"/>
                <a:ext cx="7637959" cy="5400600"/>
              </a:xfrm>
              <a:blipFill>
                <a:blip r:embed="rId2"/>
                <a:stretch>
                  <a:fillRect l="-638" t="-677" r="-71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01BF7-1B62-44AF-AA12-01EED3E7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36</a:t>
            </a:fld>
            <a:endParaRPr lang="es-ES"/>
          </a:p>
        </p:txBody>
      </p:sp>
      <p:pic>
        <p:nvPicPr>
          <p:cNvPr id="5" name="Marcador de contenido 5">
            <a:extLst>
              <a:ext uri="{FF2B5EF4-FFF2-40B4-BE49-F238E27FC236}">
                <a16:creationId xmlns:a16="http://schemas.microsoft.com/office/drawing/2014/main" id="{66B3B47D-C803-4220-B912-E94AACD75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99592" y="3862354"/>
            <a:ext cx="5760640" cy="2267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358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89AD8BA-0845-4A37-969C-601E33A18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050" y="617537"/>
            <a:ext cx="7194549" cy="2295624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0F74BD-67FC-4F1C-BAA8-26510CAE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F19BF-A31C-4DF6-B057-2A31D92C1768}" type="slidenum">
              <a:rPr lang="es-ES" smtClean="0"/>
              <a:pPr>
                <a:defRPr/>
              </a:pPr>
              <a:t>37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A9EFD5A-A11F-49BA-8158-8600AEE72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93" y="3356992"/>
            <a:ext cx="7967414" cy="216024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9A4E7AF-1147-4680-A3F0-A3ADD1CFE248}"/>
              </a:ext>
            </a:extLst>
          </p:cNvPr>
          <p:cNvSpPr/>
          <p:nvPr/>
        </p:nvSpPr>
        <p:spPr>
          <a:xfrm>
            <a:off x="588293" y="617537"/>
            <a:ext cx="383307" cy="219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/>
              <a:t>10</a:t>
            </a:r>
            <a:endParaRPr lang="es-PE" sz="10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E6F6F86-B538-4476-B16C-0D8C8FA790EA}"/>
              </a:ext>
            </a:extLst>
          </p:cNvPr>
          <p:cNvSpPr/>
          <p:nvPr/>
        </p:nvSpPr>
        <p:spPr>
          <a:xfrm>
            <a:off x="396639" y="3429000"/>
            <a:ext cx="383307" cy="219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dirty="0"/>
              <a:t>11</a:t>
            </a:r>
            <a:endParaRPr lang="es-PE" sz="1050" dirty="0"/>
          </a:p>
        </p:txBody>
      </p:sp>
    </p:spTree>
    <p:extLst>
      <p:ext uri="{BB962C8B-B14F-4D97-AF65-F5344CB8AC3E}">
        <p14:creationId xmlns:p14="http://schemas.microsoft.com/office/powerpoint/2010/main" val="2603914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6338" y="2276872"/>
            <a:ext cx="6799262" cy="2304256"/>
          </a:xfrm>
        </p:spPr>
        <p:txBody>
          <a:bodyPr/>
          <a:lstStyle/>
          <a:p>
            <a:pPr marL="0" indent="0" algn="ctr">
              <a:buNone/>
            </a:pPr>
            <a:r>
              <a:rPr lang="es-MX" sz="11500" dirty="0">
                <a:solidFill>
                  <a:srgbClr val="00B0F0"/>
                </a:solidFill>
                <a:latin typeface="Algerian" panose="04020705040A02060702" pitchFamily="82" charset="0"/>
              </a:rPr>
              <a:t>GRACIAS</a:t>
            </a:r>
            <a:endParaRPr lang="en-US" sz="115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147F49-CBF8-40C2-89C8-F1EC049B0424}" type="slidenum">
              <a:rPr lang="es-ES" smtClean="0"/>
              <a:pPr>
                <a:defRPr/>
              </a:pPr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0252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Overr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Overr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Overr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Overr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rgánico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  <a:fontScheme name="Orgánico">
    <a:majorFont>
      <a:latin typeface="Garamond" panose="02020404030301010803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Garamond" panose="02020404030301010803"/>
      <a:ea typeface=""/>
      <a:cs typeface=""/>
      <a:font script="Jpan" typeface="ＭＳ Ｐ明朝"/>
      <a:font script="Hang" typeface="바탕"/>
      <a:font script="Hans" typeface="方正舒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inorFont>
  </a:fontScheme>
  <a:fmtScheme name="Orgánico">
    <a:fillStyleLst>
      <a:solidFill>
        <a:schemeClr val="phClr"/>
      </a:solidFill>
      <a:gradFill rotWithShape="1">
        <a:gsLst>
          <a:gs pos="0">
            <a:schemeClr val="phClr">
              <a:tint val="60000"/>
              <a:lumMod val="110000"/>
            </a:schemeClr>
          </a:gs>
          <a:gs pos="100000">
            <a:schemeClr val="phClr">
              <a:tint val="82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shade val="74000"/>
              <a:satMod val="130000"/>
              <a:lumMod val="90000"/>
            </a:schemeClr>
            <a:schemeClr val="phClr">
              <a:tint val="94000"/>
              <a:satMod val="120000"/>
              <a:lumMod val="104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>
          <a:innerShdw blurRad="25400" dist="12700" dir="13500000">
            <a:srgbClr val="000000">
              <a:alpha val="45000"/>
            </a:srgbClr>
          </a:innerShdw>
        </a:effectLst>
      </a:effectStyle>
      <a:effectStyle>
        <a:effectLst>
          <a:outerShdw blurRad="38100" dist="25400" dir="5400000" rotWithShape="0">
            <a:srgbClr val="000000">
              <a:alpha val="60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90000"/>
              <a:lumMod val="110000"/>
            </a:schemeClr>
          </a:gs>
          <a:gs pos="100000">
            <a:schemeClr val="phClr">
              <a:shade val="88000"/>
              <a:lumMod val="98000"/>
            </a:schemeClr>
          </a:gs>
        </a:gsLst>
        <a:lin ang="5400000" scaled="0"/>
      </a:gradFill>
      <a:blipFill>
        <a:blip xmlns:r="http://schemas.openxmlformats.org/officeDocument/2006/relationships" r:embed="rId2"/>
        <a:stretch/>
      </a:blipFill>
    </a:bgFillStyleLst>
  </a:fmtScheme>
</a:themeOverride>
</file>

<file path=ppt/theme/themeOverride3.xml><?xml version="1.0" encoding="utf-8"?>
<a:themeOverride xmlns:a="http://schemas.openxmlformats.org/drawingml/2006/main">
  <a:clrScheme name="Orgánico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  <a:fontScheme name="Orgánico">
    <a:majorFont>
      <a:latin typeface="Garamond" panose="02020404030301010803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Garamond" panose="02020404030301010803"/>
      <a:ea typeface=""/>
      <a:cs typeface=""/>
      <a:font script="Jpan" typeface="ＭＳ Ｐ明朝"/>
      <a:font script="Hang" typeface="바탕"/>
      <a:font script="Hans" typeface="方正舒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inorFont>
  </a:fontScheme>
  <a:fmtScheme name="Orgánico">
    <a:fillStyleLst>
      <a:solidFill>
        <a:schemeClr val="phClr"/>
      </a:solidFill>
      <a:gradFill rotWithShape="1">
        <a:gsLst>
          <a:gs pos="0">
            <a:schemeClr val="phClr">
              <a:tint val="60000"/>
              <a:lumMod val="110000"/>
            </a:schemeClr>
          </a:gs>
          <a:gs pos="100000">
            <a:schemeClr val="phClr">
              <a:tint val="82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shade val="74000"/>
              <a:satMod val="130000"/>
              <a:lumMod val="90000"/>
            </a:schemeClr>
            <a:schemeClr val="phClr">
              <a:tint val="94000"/>
              <a:satMod val="120000"/>
              <a:lumMod val="104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>
          <a:innerShdw blurRad="25400" dist="12700" dir="13500000">
            <a:srgbClr val="000000">
              <a:alpha val="45000"/>
            </a:srgbClr>
          </a:innerShdw>
        </a:effectLst>
      </a:effectStyle>
      <a:effectStyle>
        <a:effectLst>
          <a:outerShdw blurRad="38100" dist="25400" dir="5400000" rotWithShape="0">
            <a:srgbClr val="000000">
              <a:alpha val="60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90000"/>
              <a:lumMod val="110000"/>
            </a:schemeClr>
          </a:gs>
          <a:gs pos="100000">
            <a:schemeClr val="phClr">
              <a:shade val="88000"/>
              <a:lumMod val="98000"/>
            </a:schemeClr>
          </a:gs>
        </a:gsLst>
        <a:lin ang="5400000" scaled="0"/>
      </a:gradFill>
      <a:blipFill>
        <a:blip xmlns:r="http://schemas.openxmlformats.org/officeDocument/2006/relationships" r:embed="rId2"/>
        <a:stretch/>
      </a:blipFill>
    </a:bgFillStyleLst>
  </a:fmtScheme>
</a:themeOverride>
</file>

<file path=ppt/theme/themeOverride4.xml><?xml version="1.0" encoding="utf-8"?>
<a:themeOverride xmlns:a="http://schemas.openxmlformats.org/drawingml/2006/main">
  <a:clrScheme name="Orgánico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  <a:fontScheme name="Orgánico">
    <a:majorFont>
      <a:latin typeface="Garamond" panose="02020404030301010803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Garamond" panose="02020404030301010803"/>
      <a:ea typeface=""/>
      <a:cs typeface=""/>
      <a:font script="Jpan" typeface="ＭＳ Ｐ明朝"/>
      <a:font script="Hang" typeface="바탕"/>
      <a:font script="Hans" typeface="方正舒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inorFont>
  </a:fontScheme>
  <a:fmtScheme name="Orgánico">
    <a:fillStyleLst>
      <a:solidFill>
        <a:schemeClr val="phClr"/>
      </a:solidFill>
      <a:gradFill rotWithShape="1">
        <a:gsLst>
          <a:gs pos="0">
            <a:schemeClr val="phClr">
              <a:tint val="60000"/>
              <a:lumMod val="110000"/>
            </a:schemeClr>
          </a:gs>
          <a:gs pos="100000">
            <a:schemeClr val="phClr">
              <a:tint val="82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shade val="74000"/>
              <a:satMod val="130000"/>
              <a:lumMod val="90000"/>
            </a:schemeClr>
            <a:schemeClr val="phClr">
              <a:tint val="94000"/>
              <a:satMod val="120000"/>
              <a:lumMod val="104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>
          <a:innerShdw blurRad="25400" dist="12700" dir="13500000">
            <a:srgbClr val="000000">
              <a:alpha val="45000"/>
            </a:srgbClr>
          </a:innerShdw>
        </a:effectLst>
      </a:effectStyle>
      <a:effectStyle>
        <a:effectLst>
          <a:outerShdw blurRad="38100" dist="25400" dir="5400000" rotWithShape="0">
            <a:srgbClr val="000000">
              <a:alpha val="60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90000"/>
              <a:lumMod val="110000"/>
            </a:schemeClr>
          </a:gs>
          <a:gs pos="100000">
            <a:schemeClr val="phClr">
              <a:shade val="88000"/>
              <a:lumMod val="98000"/>
            </a:schemeClr>
          </a:gs>
        </a:gsLst>
        <a:lin ang="5400000" scaled="0"/>
      </a:gradFill>
      <a:blipFill>
        <a:blip xmlns:r="http://schemas.openxmlformats.org/officeDocument/2006/relationships" r:embed="rId2"/>
        <a:stretch/>
      </a:blipFill>
    </a:bgFillStyleLst>
  </a:fmtScheme>
</a:themeOverride>
</file>

<file path=ppt/theme/themeOverride5.xml><?xml version="1.0" encoding="utf-8"?>
<a:themeOverride xmlns:a="http://schemas.openxmlformats.org/drawingml/2006/main">
  <a:clrScheme name="Orgánico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  <a:fontScheme name="Orgánico">
    <a:majorFont>
      <a:latin typeface="Garamond" panose="02020404030301010803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Garamond" panose="02020404030301010803"/>
      <a:ea typeface=""/>
      <a:cs typeface=""/>
      <a:font script="Jpan" typeface="ＭＳ Ｐ明朝"/>
      <a:font script="Hang" typeface="바탕"/>
      <a:font script="Hans" typeface="方正舒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inorFont>
  </a:fontScheme>
  <a:fmtScheme name="Orgánico">
    <a:fillStyleLst>
      <a:solidFill>
        <a:schemeClr val="phClr"/>
      </a:solidFill>
      <a:gradFill rotWithShape="1">
        <a:gsLst>
          <a:gs pos="0">
            <a:schemeClr val="phClr">
              <a:tint val="60000"/>
              <a:lumMod val="110000"/>
            </a:schemeClr>
          </a:gs>
          <a:gs pos="100000">
            <a:schemeClr val="phClr">
              <a:tint val="82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shade val="74000"/>
              <a:satMod val="130000"/>
              <a:lumMod val="90000"/>
            </a:schemeClr>
            <a:schemeClr val="phClr">
              <a:tint val="94000"/>
              <a:satMod val="120000"/>
              <a:lumMod val="104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>
          <a:innerShdw blurRad="25400" dist="12700" dir="13500000">
            <a:srgbClr val="000000">
              <a:alpha val="45000"/>
            </a:srgbClr>
          </a:innerShdw>
        </a:effectLst>
      </a:effectStyle>
      <a:effectStyle>
        <a:effectLst>
          <a:outerShdw blurRad="38100" dist="25400" dir="5400000" rotWithShape="0">
            <a:srgbClr val="000000">
              <a:alpha val="60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90000"/>
              <a:lumMod val="110000"/>
            </a:schemeClr>
          </a:gs>
          <a:gs pos="100000">
            <a:schemeClr val="phClr">
              <a:shade val="88000"/>
              <a:lumMod val="98000"/>
            </a:schemeClr>
          </a:gs>
        </a:gsLst>
        <a:lin ang="5400000" scaled="0"/>
      </a:gradFill>
      <a:blipFill>
        <a:blip xmlns:r="http://schemas.openxmlformats.org/officeDocument/2006/relationships" r:embed="rId2"/>
        <a:stretch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8055</TotalTime>
  <Words>2624</Words>
  <Application>Microsoft Office PowerPoint</Application>
  <PresentationFormat>Presentación en pantalla (4:3)</PresentationFormat>
  <Paragraphs>700</Paragraphs>
  <Slides>38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38</vt:i4>
      </vt:variant>
    </vt:vector>
  </HeadingPairs>
  <TitlesOfParts>
    <vt:vector size="51" baseType="lpstr">
      <vt:lpstr>Algerian</vt:lpstr>
      <vt:lpstr>Arial</vt:lpstr>
      <vt:lpstr>Arial Narrow</vt:lpstr>
      <vt:lpstr>Calibri</vt:lpstr>
      <vt:lpstr>Cambria Math</vt:lpstr>
      <vt:lpstr>Century Gothic</vt:lpstr>
      <vt:lpstr>CMBXTI10</vt:lpstr>
      <vt:lpstr>Garamond</vt:lpstr>
      <vt:lpstr>Times New Roman</vt:lpstr>
      <vt:lpstr>Wingdings</vt:lpstr>
      <vt:lpstr>Orgánico</vt:lpstr>
      <vt:lpstr>Hoja de cálculo</vt:lpstr>
      <vt:lpstr>Gráfico</vt:lpstr>
      <vt:lpstr>ESTADISTICA  </vt:lpstr>
      <vt:lpstr>TABLA DE FRECUENCIAS PARA VARIABLES CUALITATIVAS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TABLA DE FRECUENCIAS PARA VARIABLES CUANTITATIVAS</vt:lpstr>
      <vt:lpstr>Presentación de PowerPoint</vt:lpstr>
      <vt:lpstr>GRAFICOS:</vt:lpstr>
      <vt:lpstr>Presentación de PowerPoint</vt:lpstr>
      <vt:lpstr>Presentación de PowerPoint</vt:lpstr>
      <vt:lpstr>b)Rpta:  c) Rpta: d) Rpta: &lt;=3 hijos=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P1:Hallar el rango: R=Xmax – Xmin=30 P2: Numero de intervalos m= 1+ 3.32*log(n)=     =1+3.32*log(35)=6.126 ≈ 7 P3: Hallr la amplitud c=R/m= 30/7=4.285 ≈ 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aulas x</cp:lastModifiedBy>
  <cp:revision>261</cp:revision>
  <dcterms:created xsi:type="dcterms:W3CDTF">2004-08-12T19:34:10Z</dcterms:created>
  <dcterms:modified xsi:type="dcterms:W3CDTF">2025-04-09T15:25:24Z</dcterms:modified>
</cp:coreProperties>
</file>