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31" r:id="rId2"/>
    <p:sldId id="384" r:id="rId3"/>
    <p:sldId id="398" r:id="rId4"/>
    <p:sldId id="397" r:id="rId5"/>
    <p:sldId id="389" r:id="rId6"/>
    <p:sldId id="390" r:id="rId7"/>
    <p:sldId id="391" r:id="rId8"/>
    <p:sldId id="392" r:id="rId9"/>
    <p:sldId id="395" r:id="rId10"/>
    <p:sldId id="396" r:id="rId11"/>
    <p:sldId id="394" r:id="rId12"/>
  </p:sldIdLst>
  <p:sldSz cx="9144000" cy="6858000" type="screen4x3"/>
  <p:notesSz cx="6781800" cy="99266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CC66"/>
    <a:srgbClr val="FF6600"/>
    <a:srgbClr val="660066"/>
    <a:srgbClr val="FF0000"/>
    <a:srgbClr val="FFFF66"/>
    <a:srgbClr val="FFFF99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4660"/>
  </p:normalViewPr>
  <p:slideViewPr>
    <p:cSldViewPr>
      <p:cViewPr>
        <p:scale>
          <a:sx n="130" d="100"/>
          <a:sy n="130" d="100"/>
        </p:scale>
        <p:origin x="-4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4875"/>
            <a:ext cx="49720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2975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124604E-824E-4C79-945D-F322C2DE6F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936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677" cy="6858000"/>
          </a:xfrm>
        </p:grpSpPr>
        <p:pic>
          <p:nvPicPr>
            <p:cNvPr id="5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7" name="Picture 11" descr="HDRibbonTitle-UniformTri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0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2" descr="HDRibbonTitle-UniformTri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7480469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" name="Straight Connector 14"/>
          <p:cNvCxnSpPr/>
          <p:nvPr/>
        </p:nvCxnSpPr>
        <p:spPr>
          <a:xfrm>
            <a:off x="2019300" y="3471863"/>
            <a:ext cx="511333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838" y="5054600"/>
            <a:ext cx="6731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2463" y="5054600"/>
            <a:ext cx="40640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725" y="5054600"/>
            <a:ext cx="414338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06306-5876-4347-9D06-263EBAC9A9E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36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FFBAF-658E-4D4F-A6B4-28C36DC6659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78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0"/>
          <p:cNvCxnSpPr/>
          <p:nvPr/>
        </p:nvCxnSpPr>
        <p:spPr>
          <a:xfrm>
            <a:off x="1277938" y="35988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C61E1-CC4E-45A2-96F1-0228816EC07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44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BF49C-61D9-46ED-81D8-E3590931F0C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029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40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C14DA-7340-40AC-9A41-1EC78F028E8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578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3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F9B07-11A2-419F-AB1F-254F6F68F17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2631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F3C1C-ACEB-4F8F-9435-264BD5C9DB1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493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5"/>
          <p:cNvCxnSpPr/>
          <p:nvPr/>
        </p:nvCxnSpPr>
        <p:spPr>
          <a:xfrm>
            <a:off x="1277938" y="2913063"/>
            <a:ext cx="23336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C837C-53C1-4E52-9AB8-D578A44776C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74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B5B13-603B-4603-94FF-58D884A630D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15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33C1A-ADC0-4D78-8F4E-BE351B487A9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9063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/>
          <p:cNvCxnSpPr/>
          <p:nvPr/>
        </p:nvCxnSpPr>
        <p:spPr>
          <a:xfrm>
            <a:off x="1277938" y="41402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26A28-62E0-492A-8383-3ED7DA833E8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01044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3"/>
          <p:cNvSpPr txBox="1">
            <a:spLocks noChangeArrowheads="1"/>
          </p:cNvSpPr>
          <p:nvPr/>
        </p:nvSpPr>
        <p:spPr bwMode="auto">
          <a:xfrm>
            <a:off x="849313" y="904875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7200"/>
              <a:t>“</a:t>
            </a: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7634288" y="2827338"/>
            <a:ext cx="457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7200"/>
              <a:t>”</a:t>
            </a:r>
          </a:p>
        </p:txBody>
      </p:sp>
      <p:cxnSp>
        <p:nvCxnSpPr>
          <p:cNvPr id="7" name="Straight Connector 18"/>
          <p:cNvCxnSpPr/>
          <p:nvPr/>
        </p:nvCxnSpPr>
        <p:spPr>
          <a:xfrm>
            <a:off x="1277938" y="41402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DBC26-671A-4090-8F60-78FAEF19784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99892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1CED6-A17D-47A2-9649-E69C1AAEEEC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738266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877888" y="896938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8000"/>
              <a:t>“</a:t>
            </a:r>
          </a:p>
        </p:txBody>
      </p:sp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7650163" y="2608263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8000"/>
              <a:t>”</a:t>
            </a:r>
          </a:p>
        </p:txBody>
      </p:sp>
      <p:cxnSp>
        <p:nvCxnSpPr>
          <p:cNvPr id="7" name="Straight Connector 25"/>
          <p:cNvCxnSpPr/>
          <p:nvPr/>
        </p:nvCxnSpPr>
        <p:spPr>
          <a:xfrm>
            <a:off x="1277938" y="34290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F1383-CA8A-4B07-9835-D621CE54DC3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9487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4"/>
          <p:cNvCxnSpPr/>
          <p:nvPr/>
        </p:nvCxnSpPr>
        <p:spPr>
          <a:xfrm>
            <a:off x="1277938" y="34290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rtlCol="0">
            <a:normAutofit/>
          </a:bodyPr>
          <a:lstStyle>
            <a:lvl1pPr>
              <a:defRPr lang="en-US" sz="3200" b="0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B159A-0A81-4DF6-975D-B267BDFD7F8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73793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1277938" y="2354263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5DA30-9D1B-4ED5-8ECF-D01FC5FBF45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925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6245225" y="906463"/>
            <a:ext cx="0" cy="4968875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F821C-FCA3-40D9-AF2A-E089D6D987C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60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0"/>
            <a:ext cx="9151938" cy="6858000"/>
            <a:chOff x="0" y="0"/>
            <a:chExt cx="9152467" cy="6858000"/>
          </a:xfrm>
        </p:grpSpPr>
        <p:pic>
          <p:nvPicPr>
            <p:cNvPr id="1032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36" name="Picture 9" descr="HDRibbonContent-UniformTrim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0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7" name="Picture 10" descr="HDRibbonContent-UniformTrim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8466667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176338" y="915988"/>
            <a:ext cx="6799262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76338" y="2490788"/>
            <a:ext cx="679926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350" y="5961063"/>
            <a:ext cx="11493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338" y="5961063"/>
            <a:ext cx="51054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313" y="5961063"/>
            <a:ext cx="39528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FBE82C-6870-4E31-B56B-542101272FE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  <p:sldLayoutId id="2147484239" r:id="rId5"/>
    <p:sldLayoutId id="2147484240" r:id="rId6"/>
    <p:sldLayoutId id="2147484231" r:id="rId7"/>
    <p:sldLayoutId id="2147484241" r:id="rId8"/>
    <p:sldLayoutId id="2147484232" r:id="rId9"/>
    <p:sldLayoutId id="2147484233" r:id="rId10"/>
    <p:sldLayoutId id="2147484242" r:id="rId11"/>
    <p:sldLayoutId id="2147484243" r:id="rId12"/>
    <p:sldLayoutId id="2147484234" r:id="rId13"/>
    <p:sldLayoutId id="2147484244" r:id="rId14"/>
    <p:sldLayoutId id="2147484245" r:id="rId15"/>
    <p:sldLayoutId id="2147484246" r:id="rId16"/>
    <p:sldLayoutId id="2147484247" r:id="rId17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para que es la estadist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3" y="2997200"/>
            <a:ext cx="518477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ítulo 4"/>
          <p:cNvSpPr>
            <a:spLocks noGrp="1"/>
          </p:cNvSpPr>
          <p:nvPr>
            <p:ph type="ctrTitle"/>
          </p:nvPr>
        </p:nvSpPr>
        <p:spPr>
          <a:xfrm>
            <a:off x="179388" y="668338"/>
            <a:ext cx="7772400" cy="1046162"/>
          </a:xfrm>
        </p:spPr>
        <p:txBody>
          <a:bodyPr/>
          <a:lstStyle/>
          <a:p>
            <a:pPr eaLnBrk="1" hangingPunct="1"/>
            <a:r>
              <a:rPr lang="es-PE" altLang="es-PE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  <a:t>ESTADISTICA GENERAL</a:t>
            </a:r>
            <a:br>
              <a:rPr lang="es-PE" altLang="es-PE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</a:br>
            <a:endParaRPr lang="es-PE" altLang="es-PE">
              <a:ln>
                <a:noFill/>
              </a:ln>
              <a:solidFill>
                <a:srgbClr val="FF6600"/>
              </a:solidFill>
              <a:latin typeface="Algerian" panose="04020705040A02060702" pitchFamily="82" charset="0"/>
            </a:endParaRPr>
          </a:p>
        </p:txBody>
      </p:sp>
      <p:sp>
        <p:nvSpPr>
          <p:cNvPr id="16388" name="Subtítulo 5"/>
          <p:cNvSpPr>
            <a:spLocks noGrp="1"/>
          </p:cNvSpPr>
          <p:nvPr>
            <p:ph type="subTitle" idx="1"/>
          </p:nvPr>
        </p:nvSpPr>
        <p:spPr>
          <a:xfrm>
            <a:off x="-746125" y="5178425"/>
            <a:ext cx="6113463" cy="1752600"/>
          </a:xfrm>
        </p:spPr>
        <p:txBody>
          <a:bodyPr/>
          <a:lstStyle/>
          <a:p>
            <a:pPr eaLnBrk="1" hangingPunct="1"/>
            <a:endParaRPr lang="es-PE" altLang="es-PE"/>
          </a:p>
          <a:p>
            <a:pPr eaLnBrk="1" hangingPunct="1"/>
            <a:endParaRPr lang="es-PE" altLang="es-PE"/>
          </a:p>
          <a:p>
            <a:pPr eaLnBrk="1" hangingPunct="1"/>
            <a:r>
              <a:rPr lang="es-PE" altLang="es-PE" sz="2400"/>
              <a:t>Mg. Edward I. Terrones Gálvez</a:t>
            </a:r>
          </a:p>
        </p:txBody>
      </p:sp>
      <p:sp>
        <p:nvSpPr>
          <p:cNvPr id="16389" name="Marcador de número de diapositiva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400">
                <a:solidFill>
                  <a:srgbClr val="262626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5F4E862-3F66-4BD9-A5F2-7FCD312170EB}" type="slidenum">
              <a:rPr lang="es-ES" altLang="es-PE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s-ES" altLang="es-PE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ítulo 4"/>
          <p:cNvSpPr txBox="1">
            <a:spLocks/>
          </p:cNvSpPr>
          <p:nvPr/>
        </p:nvSpPr>
        <p:spPr bwMode="auto">
          <a:xfrm>
            <a:off x="894841" y="1449387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s-PE" b="0" kern="0" dirty="0">
              <a:latin typeface="Algerian" panose="04020705040A02060702" pitchFamily="82" charset="0"/>
            </a:endParaRPr>
          </a:p>
          <a:p>
            <a:pPr>
              <a:defRPr/>
            </a:pPr>
            <a:endParaRPr lang="es-PE" b="0" kern="0" dirty="0">
              <a:latin typeface="Algerian" panose="04020705040A02060702" pitchFamily="82" charset="0"/>
            </a:endParaRPr>
          </a:p>
          <a:p>
            <a:pPr>
              <a:defRPr/>
            </a:pPr>
            <a:r>
              <a:rPr lang="es-PE" b="0" kern="0" dirty="0">
                <a:latin typeface="Algerian" panose="04020705040A02060702" pitchFamily="82" charset="0"/>
              </a:rPr>
              <a:t>MEDIDAS </a:t>
            </a:r>
            <a:r>
              <a:rPr lang="es-PE" b="0" kern="0">
                <a:latin typeface="Algerian" panose="04020705040A02060702" pitchFamily="82" charset="0"/>
              </a:rPr>
              <a:t>DE DISPERSION MEDIDAS </a:t>
            </a:r>
            <a:r>
              <a:rPr lang="es-PE" b="0" kern="0" dirty="0">
                <a:latin typeface="Algerian" panose="04020705040A02060702" pitchFamily="82" charset="0"/>
              </a:rPr>
              <a:t>DE FORMA</a:t>
            </a:r>
          </a:p>
        </p:txBody>
      </p:sp>
      <p:pic>
        <p:nvPicPr>
          <p:cNvPr id="9" name="Picture 2" descr="Universidad Nacional de Barranca">
            <a:extLst>
              <a:ext uri="{FF2B5EF4-FFF2-40B4-BE49-F238E27FC236}">
                <a16:creationId xmlns:a16="http://schemas.microsoft.com/office/drawing/2014/main" id="{203A0D46-1D02-4CF6-9AFB-9B94CA42E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6" b="23845"/>
          <a:stretch/>
        </p:blipFill>
        <p:spPr bwMode="auto">
          <a:xfrm>
            <a:off x="7035759" y="20266"/>
            <a:ext cx="2143125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7584" y="692150"/>
            <a:ext cx="7416304" cy="5401146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2. Estadísticos de dispersión o variabilidad: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Son números que miden el grado de separación de los datos con respecto a un valor central, que generalmente es la media aritmética.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Miden que tan dispersos están los datos alrededor de dicho punto central; es decir, indican cuanto se desvían las observaciones alrededor de su media.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Las principales son:</a:t>
            </a:r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El rango - Rango intercuartil - La varianza - Desviación estándar - Coeficiente de variación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156B23-3583-4FAE-89E8-A4AAE955DDE3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96E4A2-A15A-4B63-8345-E7FA8E57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304800"/>
            <a:ext cx="6768752" cy="1348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CC5D0-1CFB-4010-B2AF-8F9B4A1FF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80728"/>
            <a:ext cx="6799262" cy="3444875"/>
          </a:xfrm>
        </p:spPr>
        <p:txBody>
          <a:bodyPr/>
          <a:lstStyle/>
          <a:p>
            <a:pPr marL="0" indent="0">
              <a:buNone/>
            </a:pPr>
            <a:r>
              <a:rPr lang="es-PE" b="1" dirty="0"/>
              <a:t>PORQUE ESTUDIAR LA DISPERSION?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E46715-A669-404B-AA2F-125642E8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D120DF-8FDB-4069-9107-26CF7073E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66874"/>
            <a:ext cx="7776864" cy="471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8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620688"/>
                <a:ext cx="7776864" cy="5314975"/>
              </a:xfrm>
            </p:spPr>
            <p:txBody>
              <a:bodyPr/>
              <a:lstStyle/>
              <a:p>
                <a:pPr marL="457200" indent="-457200" algn="just">
                  <a:buClr>
                    <a:srgbClr val="FF0000"/>
                  </a:buClr>
                  <a:buFont typeface="+mj-lt"/>
                  <a:buAutoNum type="arabicPeriod"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Rango o recorrido: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 la diferencia entre los valores extremos: 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R=</a:t>
                </a:r>
                <a:r>
                  <a:rPr lang="es-PE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Xmax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:r>
                  <a:rPr lang="es-PE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Xmin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457200" indent="-457200" algn="just">
                  <a:buClr>
                    <a:srgbClr val="FF0000"/>
                  </a:buClr>
                  <a:buFont typeface="+mj-lt"/>
                  <a:buAutoNum type="arabicPeriod"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Recorrido </a:t>
                </a:r>
                <a:r>
                  <a:rPr lang="es-PE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intercuartil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 la diferencia entre el tercer y primer cuartil. Representa el 50% de los valores centrales. </a:t>
                </a:r>
              </a:p>
              <a:p>
                <a:pPr marL="0" indent="0" algn="just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RI=Q3-Q1</a:t>
                </a:r>
              </a:p>
              <a:p>
                <a:pPr marL="0" indent="0" algn="just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Clr>
                    <a:srgbClr val="FF0000"/>
                  </a:buClr>
                  <a:buFont typeface="+mj-lt"/>
                  <a:buAutoNum type="arabicPeriod" startAt="3"/>
                </a:pPr>
                <a:r>
                  <a:rPr lang="es-PE" sz="20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Varianza: </a:t>
                </a:r>
                <a:r>
                  <a:rPr lang="es-PE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Mide la dispersión de los datos con respecto a la 	media</a:t>
                </a:r>
              </a:p>
              <a:p>
                <a:pPr marL="0" indent="0" algn="just">
                  <a:buNone/>
                </a:pPr>
                <a:r>
                  <a:rPr lang="es-PE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3.1 Datos no tabulados: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s-PE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PE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PE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PE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PE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PE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PE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PE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PE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PE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P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s-P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PE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3.1 Datos  tabulados: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s-P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PE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PE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𝑓𝑖</m:t>
                                </m:r>
                                <m:r>
                                  <a:rPr lang="es-PE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lang="es-PE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PE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PE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s-PE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PE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PE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PE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PE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P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𝛴</m:t>
                        </m:r>
                        <m:sSub>
                          <m:sSubPr>
                            <m:ctrlP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  <m:t>ⅈ</m:t>
                            </m:r>
                          </m:e>
                          <m:sup>
                            <m: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s-PE" sz="20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PE" sz="20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p>
                            <m:r>
                              <a:rPr lang="es-PE" sz="20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PE" sz="2000" b="1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Clr>
                    <a:srgbClr val="FF0000"/>
                  </a:buClr>
                  <a:buFont typeface="+mj-lt"/>
                  <a:buAutoNum type="arabicPeriod" startAt="4"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Desviación estándar:</a:t>
                </a:r>
              </a:p>
              <a:p>
                <a:pPr marL="0" indent="0" algn="just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s-PE" sz="2000" b="1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PE" sz="2000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PE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PE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000" b="1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PE" sz="20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620688"/>
                <a:ext cx="7776864" cy="5314975"/>
              </a:xfrm>
              <a:blipFill>
                <a:blip r:embed="rId2"/>
                <a:stretch>
                  <a:fillRect l="-940" t="-917" r="-862" b="-3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2132856"/>
            <a:ext cx="27527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5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86810" y="692696"/>
                <a:ext cx="7673622" cy="526836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4.Coeficiente de variación: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C.V.=s/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*100%</a:t>
                </a:r>
              </a:p>
              <a:p>
                <a:pPr marL="0" indent="0">
                  <a:buNone/>
                </a:pP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1: Hallar la varianza y el coeficiente de variación del 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sgte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conjunto de datos: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a) 12,14,16,22,20,30,26 : </a:t>
                </a:r>
                <a:r>
                  <a:rPr lang="es-P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PROMEDIO=20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,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S=6.05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=&gt; CV=30.25%</a:t>
                </a:r>
              </a:p>
              <a:p>
                <a:pPr marL="0" lvl="0" indent="0">
                  <a:buClr>
                    <a:srgbClr val="83992A"/>
                  </a:buClr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b) 10,14,18,22,26,30,12,16,20:</a:t>
                </a:r>
                <a:r>
                  <a:rPr lang="es-P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PROMEDIO=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18.67 , S==&gt; CV=</a:t>
                </a:r>
              </a:p>
              <a:p>
                <a:pPr marL="0" lvl="0" indent="0">
                  <a:buClr>
                    <a:srgbClr val="83992A"/>
                  </a:buClr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c) 11,12,13,14,15,16,17:</a:t>
                </a:r>
                <a:r>
                  <a:rPr lang="es-P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PROMEDIO=14  ,S=2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=&gt; CV=0.1429=14.29%</a:t>
                </a: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2: De la 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sgte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distribución de frecuencias, calcular: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a) La dispersión absoluta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b) La dispersión relativa, que conjunto 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 observaciones es mas homogéneo.</a:t>
                </a: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810" y="692696"/>
                <a:ext cx="7673622" cy="5268367"/>
              </a:xfrm>
              <a:blipFill>
                <a:blip r:embed="rId2"/>
                <a:stretch>
                  <a:fillRect l="-794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139726"/>
              </p:ext>
            </p:extLst>
          </p:nvPr>
        </p:nvGraphicFramePr>
        <p:xfrm>
          <a:off x="5580112" y="4221088"/>
          <a:ext cx="30243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99"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edades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Hombres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Mujeres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4603"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18-20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20-22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22-24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24-26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26-28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99">
                <a:tc>
                  <a:txBody>
                    <a:bodyPr/>
                    <a:lstStyle/>
                    <a:p>
                      <a:endParaRPr lang="es-P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67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764704"/>
                <a:ext cx="8064896" cy="5328592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 Estadísticos de forma: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Miden las direcciones de las dispersiones de los </a:t>
                </a:r>
                <a:r>
                  <a:rPr lang="es-PE" sz="2000">
                    <a:latin typeface="Arial" panose="020B0604020202020204" pitchFamily="34" charset="0"/>
                    <a:cs typeface="Arial" panose="020B0604020202020204" pitchFamily="34" charset="0"/>
                  </a:rPr>
                  <a:t>datos con respecto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su centro.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3.1.Medidas de asimetría o de deformación: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Fueron propuestas, alguna de ellas por Karl Pearson.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Miden la deformación horizontal de una distribución de frecuencias.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A. positiva: Cuando la curva presenta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 alargamiento hacia la derecha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 hacia valores grandes de la variable.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Mo&lt;Me&lt;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A. negativa: Cuando la curva presenta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 alargamiento hacia la izquierda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 hacia valores pequeños de la variable.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&lt; Me&lt; Mo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764704"/>
                <a:ext cx="8064896" cy="5328592"/>
              </a:xfrm>
              <a:blipFill>
                <a:blip r:embed="rId2"/>
                <a:stretch>
                  <a:fillRect l="-1134" t="-8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2996952"/>
            <a:ext cx="338437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77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81050" y="692696"/>
                <a:ext cx="7607373" cy="54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Coeficiente de Pearson</a:t>
                </a: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C.As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  3(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0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- Me)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		s</a:t>
                </a: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: Hallar el coeficiente de asimetría para hombres y mujeres.</a:t>
                </a: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050" y="692696"/>
                <a:ext cx="7607373" cy="5400600"/>
              </a:xfrm>
              <a:blipFill rotWithShape="0">
                <a:blip r:embed="rId2"/>
                <a:stretch>
                  <a:fillRect l="-801" t="-56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  <p:cxnSp>
        <p:nvCxnSpPr>
          <p:cNvPr id="6" name="Conector recto 5"/>
          <p:cNvCxnSpPr/>
          <p:nvPr/>
        </p:nvCxnSpPr>
        <p:spPr>
          <a:xfrm>
            <a:off x="1691680" y="1916832"/>
            <a:ext cx="12961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131840" y="1124744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PE" sz="1800" b="0" dirty="0" err="1">
                <a:latin typeface="Arial" panose="020B0604020202020204" pitchFamily="34" charset="0"/>
                <a:cs typeface="Arial" panose="020B0604020202020204" pitchFamily="34" charset="0"/>
              </a:rPr>
              <a:t>C.As</a:t>
            </a: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 &lt; 0, la distribución es asimétrica negativa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PE" sz="1800" b="0" dirty="0" err="1">
                <a:latin typeface="Arial" panose="020B0604020202020204" pitchFamily="34" charset="0"/>
                <a:cs typeface="Arial" panose="020B0604020202020204" pitchFamily="34" charset="0"/>
              </a:rPr>
              <a:t>C.As</a:t>
            </a: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 &gt;0, la distribución es asimétrica positiva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PE" sz="1800" b="0" dirty="0" err="1">
                <a:latin typeface="Arial" panose="020B0604020202020204" pitchFamily="34" charset="0"/>
                <a:cs typeface="Arial" panose="020B0604020202020204" pitchFamily="34" charset="0"/>
              </a:rPr>
              <a:t>C.As</a:t>
            </a:r>
            <a:r>
              <a:rPr lang="es-PE" sz="1800" b="0" dirty="0">
                <a:latin typeface="Arial" panose="020B0604020202020204" pitchFamily="34" charset="0"/>
                <a:cs typeface="Arial" panose="020B0604020202020204" pitchFamily="34" charset="0"/>
              </a:rPr>
              <a:t> =0, la distribución es simétrica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5" y="3140969"/>
            <a:ext cx="3066554" cy="224352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D586E02-D4BE-457F-BCF0-7995E1B87A8A}"/>
              </a:ext>
            </a:extLst>
          </p:cNvPr>
          <p:cNvSpPr/>
          <p:nvPr/>
        </p:nvSpPr>
        <p:spPr>
          <a:xfrm>
            <a:off x="1691680" y="4661972"/>
            <a:ext cx="360040" cy="3362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27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770" t="6752" r="9723" b="29786"/>
          <a:stretch/>
        </p:blipFill>
        <p:spPr>
          <a:xfrm>
            <a:off x="4630417" y="2501528"/>
            <a:ext cx="3902021" cy="3879800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692696"/>
            <a:ext cx="8064895" cy="5472608"/>
          </a:xfrm>
        </p:spPr>
        <p:txBody>
          <a:bodyPr/>
          <a:lstStyle/>
          <a:p>
            <a:pPr marL="0" indent="0">
              <a:buNone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3.2.Medidas de curtosis o apuntamiento: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Miden la deformación vertical de una distribución de frecuencias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La curtosis, compara las frecuencias de los valores centrales de una distribución con la distribución normal.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Coeficiente de curtosis: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Utilizando los Cuantiles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    K=    Q3 – Q1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         2(P90-P10)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Si K=0.263, la distribución 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Normal o mesocrática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Si K&lt;0.263, la distribución 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Platicurtica(mas aplanada que la curva normal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Si K&gt;0.263, la distribución 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Leptocurtica(mas apuntada que la curva normal</a:t>
            </a:r>
          </a:p>
          <a:p>
            <a:pPr marL="0" indent="0">
              <a:spcBef>
                <a:spcPts val="0"/>
              </a:spcBef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8</a:t>
            </a:fld>
            <a:endParaRPr lang="es-ES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1187624" y="3284984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3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81050" y="620688"/>
                <a:ext cx="7679381" cy="5340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s-PE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COEFICIENTE DE CURTOSIS DE FISHER: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s-PE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800" b="1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s-PE" sz="28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s-PE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2800" b="1" i="1" smtClean="0">
                                    <a:latin typeface="Cambria Math" panose="02040503050406030204" pitchFamily="18" charset="0"/>
                                  </a:rPr>
                                  <m:t>𝒀𝒊</m:t>
                                </m:r>
                                <m:r>
                                  <a:rPr lang="es-MX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MX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sz="28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MX" sz="2800" b="1" i="1" baseline="3000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s-MX" sz="2800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s-PE" sz="2800" b="1" i="1" smtClean="0">
                                <a:latin typeface="Cambria Math" panose="02040503050406030204" pitchFamily="18" charset="0"/>
                              </a:rPr>
                              <m:t>ⅈ</m:t>
                            </m:r>
                          </m:e>
                        </m:nary>
                      </m:num>
                      <m:den>
                        <m:r>
                          <a:rPr lang="es-PE" sz="2800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PE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800" b="1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PE" sz="2800" b="1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s-PE" dirty="0">
                    <a:latin typeface="Arial" panose="020B0604020202020204" pitchFamily="34" charset="0"/>
                    <a:cs typeface="Arial" panose="020B0604020202020204" pitchFamily="34" charset="0"/>
                  </a:rPr>
                  <a:t> -3  </a:t>
                </a: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donde: </a:t>
                </a:r>
                <a:r>
                  <a:rPr lang="es-PE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Yi</a:t>
                </a: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marcas de clase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			</a:t>
                </a:r>
                <a:r>
                  <a:rPr lang="es-MX" sz="1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MX" sz="1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18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Promedio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			fi: Frecuencia absoluta simple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			n: tamaño de la muestra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			S: Desviación estándar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P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Se cumple: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Si: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s-PE" sz="18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&gt; 0, entonces es una distribución </a:t>
                </a:r>
                <a:r>
                  <a:rPr lang="es-PE" sz="18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leptocúrtica</a:t>
                </a:r>
                <a:endParaRPr lang="es-P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s-PE" sz="18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&lt; 0, entonces es una distribución </a:t>
                </a:r>
                <a:r>
                  <a:rPr lang="es-PE" sz="18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platicúritca</a:t>
                </a:r>
                <a:endParaRPr lang="es-P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s-PE" sz="18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0, entonces es una distribución </a:t>
                </a:r>
                <a:r>
                  <a:rPr lang="es-PE" sz="18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mesocúrtica</a:t>
                </a:r>
                <a:r>
                  <a:rPr lang="es-P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o normal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endParaRPr lang="es-P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endParaRPr lang="es-P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P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dirty="0">
                    <a:latin typeface="Arial" panose="020B0604020202020204" pitchFamily="34" charset="0"/>
                    <a:cs typeface="Arial" panose="020B0604020202020204" pitchFamily="34" charset="0"/>
                  </a:rPr>
                  <a:t>					</a:t>
                </a: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050" y="620688"/>
                <a:ext cx="7679381" cy="5340375"/>
              </a:xfrm>
              <a:blipFill>
                <a:blip r:embed="rId2"/>
                <a:stretch>
                  <a:fillRect l="-1190" b="-5867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285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1050" y="620688"/>
            <a:ext cx="7679381" cy="5340375"/>
          </a:xfrm>
        </p:spPr>
        <p:txBody>
          <a:bodyPr/>
          <a:lstStyle/>
          <a:p>
            <a:pPr marL="0" indent="0">
              <a:buNone/>
            </a:pPr>
            <a:r>
              <a:rPr 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: Hallar el coeficiente de </a:t>
            </a:r>
            <a:r>
              <a:rPr 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curtosis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para hombres y mujeres.</a:t>
            </a:r>
          </a:p>
          <a:p>
            <a:pPr marL="0" indent="0"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PE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473510"/>
            <a:ext cx="3066554" cy="224352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50F9571-FFCC-4E64-A646-656724F8B27C}"/>
              </a:ext>
            </a:extLst>
          </p:cNvPr>
          <p:cNvSpPr/>
          <p:nvPr/>
        </p:nvSpPr>
        <p:spPr>
          <a:xfrm>
            <a:off x="2051720" y="2954643"/>
            <a:ext cx="360040" cy="3362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PE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00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8282" y="2622912"/>
            <a:ext cx="6799262" cy="3444875"/>
          </a:xfrm>
        </p:spPr>
        <p:txBody>
          <a:bodyPr/>
          <a:lstStyle/>
          <a:p>
            <a:pPr marL="0" indent="0" algn="ctr">
              <a:buNone/>
            </a:pPr>
            <a:r>
              <a:rPr lang="es-MX" sz="9600" b="1" dirty="0">
                <a:solidFill>
                  <a:srgbClr val="00B0F0"/>
                </a:solidFill>
                <a:latin typeface="Algerian" panose="04020705040A02060702" pitchFamily="82" charset="0"/>
              </a:rPr>
              <a:t>GRACIAS</a:t>
            </a:r>
            <a:endParaRPr lang="en-US" sz="9600" b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166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9782</TotalTime>
  <Words>694</Words>
  <Application>Microsoft Office PowerPoint</Application>
  <PresentationFormat>Presentación en pantalla (4:3)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Algerian</vt:lpstr>
      <vt:lpstr>Arial</vt:lpstr>
      <vt:lpstr>Cambria Math</vt:lpstr>
      <vt:lpstr>Century Gothic</vt:lpstr>
      <vt:lpstr>Garamond</vt:lpstr>
      <vt:lpstr>Times New Roman</vt:lpstr>
      <vt:lpstr>Wingdings</vt:lpstr>
      <vt:lpstr>Orgánico</vt:lpstr>
      <vt:lpstr>ESTADISTICA GENERAL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DOCENTE</cp:lastModifiedBy>
  <cp:revision>353</cp:revision>
  <dcterms:created xsi:type="dcterms:W3CDTF">2004-08-12T19:34:10Z</dcterms:created>
  <dcterms:modified xsi:type="dcterms:W3CDTF">2024-06-13T13:08:11Z</dcterms:modified>
</cp:coreProperties>
</file>