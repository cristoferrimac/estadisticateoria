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sldIdLst>
    <p:sldId id="331" r:id="rId2"/>
    <p:sldId id="355" r:id="rId3"/>
    <p:sldId id="391" r:id="rId4"/>
    <p:sldId id="357" r:id="rId5"/>
    <p:sldId id="358" r:id="rId6"/>
    <p:sldId id="394" r:id="rId7"/>
    <p:sldId id="395" r:id="rId8"/>
    <p:sldId id="396" r:id="rId9"/>
    <p:sldId id="399" r:id="rId10"/>
    <p:sldId id="401" r:id="rId11"/>
    <p:sldId id="400" r:id="rId12"/>
    <p:sldId id="393" r:id="rId13"/>
    <p:sldId id="360" r:id="rId14"/>
    <p:sldId id="361" r:id="rId15"/>
    <p:sldId id="392" r:id="rId16"/>
    <p:sldId id="362" r:id="rId17"/>
    <p:sldId id="386" r:id="rId18"/>
    <p:sldId id="388" r:id="rId19"/>
    <p:sldId id="389" r:id="rId20"/>
    <p:sldId id="363" r:id="rId21"/>
    <p:sldId id="364" r:id="rId22"/>
    <p:sldId id="365" r:id="rId23"/>
    <p:sldId id="366" r:id="rId24"/>
    <p:sldId id="367" r:id="rId25"/>
    <p:sldId id="368" r:id="rId26"/>
    <p:sldId id="369" r:id="rId27"/>
    <p:sldId id="370" r:id="rId28"/>
    <p:sldId id="371" r:id="rId29"/>
    <p:sldId id="372" r:id="rId30"/>
    <p:sldId id="375" r:id="rId31"/>
    <p:sldId id="377" r:id="rId32"/>
    <p:sldId id="378" r:id="rId33"/>
    <p:sldId id="379" r:id="rId34"/>
    <p:sldId id="381" r:id="rId35"/>
    <p:sldId id="382" r:id="rId36"/>
    <p:sldId id="383" r:id="rId37"/>
    <p:sldId id="387" r:id="rId38"/>
    <p:sldId id="390" r:id="rId39"/>
  </p:sldIdLst>
  <p:sldSz cx="9144000" cy="6858000" type="screen4x3"/>
  <p:notesSz cx="6781800" cy="9926638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FFCC66"/>
    <a:srgbClr val="FF6600"/>
    <a:srgbClr val="660066"/>
    <a:srgbClr val="FF0000"/>
    <a:srgbClr val="FFFF66"/>
    <a:srgbClr val="FFFF99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46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 b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3338" y="0"/>
            <a:ext cx="293846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 b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9638" y="744538"/>
            <a:ext cx="4964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875" y="4714875"/>
            <a:ext cx="497205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3846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 b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3338" y="9429750"/>
            <a:ext cx="293846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 b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ACAA1120-99FF-4001-A2FE-49D23118331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AA1120-99FF-4001-A2FE-49D231183311}" type="slidenum">
              <a:rPr lang="es-ES" smtClean="0"/>
              <a:pPr>
                <a:defRPr/>
              </a:pPr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5137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AA1120-99FF-4001-A2FE-49D231183311}" type="slidenum">
              <a:rPr lang="es-ES" smtClean="0"/>
              <a:pPr>
                <a:defRPr/>
              </a:pPr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8767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677" cy="6858000"/>
          </a:xfrm>
        </p:grpSpPr>
        <p:pic>
          <p:nvPicPr>
            <p:cNvPr id="5" name="Picture 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7" name="Picture 1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8"/>
            <a:stretch>
              <a:fillRect/>
            </a:stretch>
          </p:blipFill>
          <p:spPr bwMode="auto">
            <a:xfrm>
              <a:off x="0" y="3128434"/>
              <a:ext cx="1664208" cy="6126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8"/>
            <a:stretch>
              <a:fillRect/>
            </a:stretch>
          </p:blipFill>
          <p:spPr bwMode="auto">
            <a:xfrm>
              <a:off x="7480469" y="3128434"/>
              <a:ext cx="1664208" cy="6126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9" name="Straight Connector 14"/>
          <p:cNvCxnSpPr/>
          <p:nvPr/>
        </p:nvCxnSpPr>
        <p:spPr>
          <a:xfrm>
            <a:off x="2019300" y="3471863"/>
            <a:ext cx="511333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838" y="5054600"/>
            <a:ext cx="673100" cy="2794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2463" y="5054600"/>
            <a:ext cx="4064000" cy="2794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6725" y="5054600"/>
            <a:ext cx="414338" cy="2794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BA28A7-DA46-480D-A512-1405291BF00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5640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6"/>
          <p:cNvCxnSpPr/>
          <p:nvPr/>
        </p:nvCxnSpPr>
        <p:spPr>
          <a:xfrm>
            <a:off x="1277938" y="2355850"/>
            <a:ext cx="659606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429DE-82EF-46DF-8CEC-E6039B00553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9074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0"/>
          <p:cNvCxnSpPr/>
          <p:nvPr/>
        </p:nvCxnSpPr>
        <p:spPr>
          <a:xfrm>
            <a:off x="1277938" y="3598863"/>
            <a:ext cx="659606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595607-86DA-45F5-B622-1A7796F6B72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1136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7"/>
          <p:cNvCxnSpPr/>
          <p:nvPr/>
        </p:nvCxnSpPr>
        <p:spPr>
          <a:xfrm>
            <a:off x="1277938" y="2355850"/>
            <a:ext cx="659606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C65A74-4A5D-463D-A036-8211F447742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5789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40"/>
          <p:cNvCxnSpPr/>
          <p:nvPr/>
        </p:nvCxnSpPr>
        <p:spPr>
          <a:xfrm>
            <a:off x="1277938" y="2354263"/>
            <a:ext cx="659606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3FC6D7-204A-419E-90BB-AA175FB7367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2561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3"/>
          <p:cNvCxnSpPr/>
          <p:nvPr/>
        </p:nvCxnSpPr>
        <p:spPr>
          <a:xfrm>
            <a:off x="1277938" y="2354263"/>
            <a:ext cx="659606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AA7018-1455-49AE-9E10-B5E59E05764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565072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4D2804-4329-4F64-AB9E-1C9812C89DE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1787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15"/>
          <p:cNvCxnSpPr/>
          <p:nvPr/>
        </p:nvCxnSpPr>
        <p:spPr>
          <a:xfrm>
            <a:off x="1277938" y="2913063"/>
            <a:ext cx="23336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22BCA9-4003-4E94-BFF8-0F809A3F6F2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224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8F6C33-E029-4FF4-AAD5-CDCD179BB5F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6274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EB6B2D-795C-432C-8812-6B0E2B36744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949282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4"/>
          <p:cNvCxnSpPr/>
          <p:nvPr/>
        </p:nvCxnSpPr>
        <p:spPr>
          <a:xfrm>
            <a:off x="1277938" y="4140200"/>
            <a:ext cx="660717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DD3343-ED95-4326-A33A-9ACC4F8226D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166988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3"/>
          <p:cNvSpPr txBox="1">
            <a:spLocks noChangeArrowheads="1"/>
          </p:cNvSpPr>
          <p:nvPr/>
        </p:nvSpPr>
        <p:spPr bwMode="auto">
          <a:xfrm>
            <a:off x="849313" y="904875"/>
            <a:ext cx="457200" cy="5857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defRPr/>
            </a:pPr>
            <a:r>
              <a:rPr lang="en-US" altLang="es-PE" sz="7200"/>
              <a:t>“</a:t>
            </a:r>
          </a:p>
        </p:txBody>
      </p:sp>
      <p:sp>
        <p:nvSpPr>
          <p:cNvPr id="6" name="TextBox 14"/>
          <p:cNvSpPr txBox="1">
            <a:spLocks noChangeArrowheads="1"/>
          </p:cNvSpPr>
          <p:nvPr/>
        </p:nvSpPr>
        <p:spPr bwMode="auto">
          <a:xfrm>
            <a:off x="7634288" y="2827338"/>
            <a:ext cx="457200" cy="585787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r">
              <a:defRPr/>
            </a:pPr>
            <a:r>
              <a:rPr lang="en-US" altLang="es-PE" sz="7200"/>
              <a:t>”</a:t>
            </a:r>
          </a:p>
        </p:txBody>
      </p:sp>
      <p:cxnSp>
        <p:nvCxnSpPr>
          <p:cNvPr id="7" name="Straight Connector 18"/>
          <p:cNvCxnSpPr/>
          <p:nvPr/>
        </p:nvCxnSpPr>
        <p:spPr>
          <a:xfrm>
            <a:off x="1277938" y="4140200"/>
            <a:ext cx="659606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080767-AD03-42BD-9E4A-834843ACA95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8211453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9AF945-4D95-4D97-8F6B-7D3EF13BD62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4012511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1"/>
          <p:cNvSpPr txBox="1">
            <a:spLocks noChangeArrowheads="1"/>
          </p:cNvSpPr>
          <p:nvPr/>
        </p:nvSpPr>
        <p:spPr bwMode="auto">
          <a:xfrm>
            <a:off x="877888" y="896938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defRPr/>
            </a:pPr>
            <a:r>
              <a:rPr lang="en-US" altLang="es-PE" sz="8000"/>
              <a:t>“</a:t>
            </a:r>
          </a:p>
        </p:txBody>
      </p:sp>
      <p:sp>
        <p:nvSpPr>
          <p:cNvPr id="6" name="TextBox 12"/>
          <p:cNvSpPr txBox="1">
            <a:spLocks noChangeArrowheads="1"/>
          </p:cNvSpPr>
          <p:nvPr/>
        </p:nvSpPr>
        <p:spPr bwMode="auto">
          <a:xfrm>
            <a:off x="7650163" y="2608263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r">
              <a:defRPr/>
            </a:pPr>
            <a:r>
              <a:rPr lang="en-US" altLang="es-PE" sz="8000"/>
              <a:t>”</a:t>
            </a:r>
          </a:p>
        </p:txBody>
      </p:sp>
      <p:cxnSp>
        <p:nvCxnSpPr>
          <p:cNvPr id="7" name="Straight Connector 25"/>
          <p:cNvCxnSpPr/>
          <p:nvPr/>
        </p:nvCxnSpPr>
        <p:spPr>
          <a:xfrm>
            <a:off x="1277938" y="3429000"/>
            <a:ext cx="659606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ACE054-271B-4CB8-927B-27F6FD39FDA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2916716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14"/>
          <p:cNvCxnSpPr/>
          <p:nvPr/>
        </p:nvCxnSpPr>
        <p:spPr>
          <a:xfrm>
            <a:off x="1277938" y="3429000"/>
            <a:ext cx="660717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rtlCol="0">
            <a:normAutofit/>
          </a:bodyPr>
          <a:lstStyle>
            <a:lvl1pPr>
              <a:defRPr lang="en-US" sz="3200" b="0" dirty="0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D34B8-91DC-4A68-8B24-EAC9D78473B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5015033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3"/>
          <p:cNvCxnSpPr/>
          <p:nvPr/>
        </p:nvCxnSpPr>
        <p:spPr>
          <a:xfrm>
            <a:off x="1277938" y="2354263"/>
            <a:ext cx="660717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A74B3B-C617-466B-8BB8-5EF53F78091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83142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3"/>
          <p:cNvCxnSpPr/>
          <p:nvPr/>
        </p:nvCxnSpPr>
        <p:spPr>
          <a:xfrm>
            <a:off x="6245225" y="906463"/>
            <a:ext cx="0" cy="4968875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502C4-1CD6-4B79-8E38-D34D971E1E7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5937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6"/>
          <p:cNvGrpSpPr>
            <a:grpSpLocks/>
          </p:cNvGrpSpPr>
          <p:nvPr/>
        </p:nvGrpSpPr>
        <p:grpSpPr bwMode="auto">
          <a:xfrm>
            <a:off x="0" y="0"/>
            <a:ext cx="9151938" cy="6858000"/>
            <a:chOff x="0" y="0"/>
            <a:chExt cx="9152467" cy="6858000"/>
          </a:xfrm>
        </p:grpSpPr>
        <p:pic>
          <p:nvPicPr>
            <p:cNvPr id="1032" name="Picture 7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36" name="Picture 9"/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14240"/>
            <a:stretch>
              <a:fillRect/>
            </a:stretch>
          </p:blipFill>
          <p:spPr bwMode="auto">
            <a:xfrm>
              <a:off x="0" y="3128434"/>
              <a:ext cx="685800" cy="606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7" name="Picture 10"/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14240"/>
            <a:stretch>
              <a:fillRect/>
            </a:stretch>
          </p:blipFill>
          <p:spPr bwMode="auto">
            <a:xfrm>
              <a:off x="8466667" y="3128434"/>
              <a:ext cx="685800" cy="606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1176338" y="915988"/>
            <a:ext cx="6799262" cy="130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PE"/>
              <a:t>Haga clic para modificar el estilo de título del patrón</a:t>
            </a:r>
            <a:endParaRPr lang="en-US" altLang="es-PE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76338" y="2490788"/>
            <a:ext cx="6799262" cy="344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PE"/>
              <a:t>Haga clic para modificar el estilo de texto del patrón</a:t>
            </a:r>
          </a:p>
          <a:p>
            <a:pPr lvl="1"/>
            <a:r>
              <a:rPr lang="es-ES" altLang="es-PE"/>
              <a:t>Segundo nivel</a:t>
            </a:r>
          </a:p>
          <a:p>
            <a:pPr lvl="2"/>
            <a:r>
              <a:rPr lang="es-ES" altLang="es-PE"/>
              <a:t>Tercer nivel</a:t>
            </a:r>
          </a:p>
          <a:p>
            <a:pPr lvl="3"/>
            <a:r>
              <a:rPr lang="es-ES" altLang="es-PE"/>
              <a:t>Cuarto nivel</a:t>
            </a:r>
          </a:p>
          <a:p>
            <a:pPr lvl="4"/>
            <a:r>
              <a:rPr lang="es-ES" altLang="es-PE"/>
              <a:t>Quinto nivel</a:t>
            </a:r>
            <a:endParaRPr lang="en-US" altLang="es-P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350" y="5961063"/>
            <a:ext cx="114935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338" y="5961063"/>
            <a:ext cx="51054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313" y="5961063"/>
            <a:ext cx="39528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BE5F327F-A7A0-48E5-8EAF-F3A6A8F10A6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25" r:id="rId1"/>
    <p:sldLayoutId id="2147484326" r:id="rId2"/>
    <p:sldLayoutId id="2147484327" r:id="rId3"/>
    <p:sldLayoutId id="2147484328" r:id="rId4"/>
    <p:sldLayoutId id="2147484329" r:id="rId5"/>
    <p:sldLayoutId id="2147484330" r:id="rId6"/>
    <p:sldLayoutId id="2147484321" r:id="rId7"/>
    <p:sldLayoutId id="2147484331" r:id="rId8"/>
    <p:sldLayoutId id="2147484322" r:id="rId9"/>
    <p:sldLayoutId id="2147484323" r:id="rId10"/>
    <p:sldLayoutId id="2147484332" r:id="rId11"/>
    <p:sldLayoutId id="2147484333" r:id="rId12"/>
    <p:sldLayoutId id="2147484324" r:id="rId13"/>
    <p:sldLayoutId id="2147484334" r:id="rId14"/>
    <p:sldLayoutId id="2147484335" r:id="rId15"/>
    <p:sldLayoutId id="2147484336" r:id="rId16"/>
    <p:sldLayoutId id="2147484337" r:id="rId17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000" kern="1200">
          <a:ln w="3175" cmpd="sng">
            <a:noFill/>
          </a:ln>
          <a:solidFill>
            <a:srgbClr val="262626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262626"/>
          </a:solidFill>
          <a:latin typeface="Garamond" panose="02020404030301010803" pitchFamily="18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262626"/>
          </a:solidFill>
          <a:latin typeface="Garamond" panose="02020404030301010803" pitchFamily="18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262626"/>
          </a:solidFill>
          <a:latin typeface="Garamond" panose="02020404030301010803" pitchFamily="18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262626"/>
          </a:solidFill>
          <a:latin typeface="Garamond" panose="02020404030301010803" pitchFamily="18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0" fontAlgn="base" hangingPunct="0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 pitchFamily="34" charset="0"/>
        <a:buChar char="•"/>
        <a:defRPr sz="2400" kern="1200">
          <a:solidFill>
            <a:srgbClr val="262626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 pitchFamily="34" charset="0"/>
        <a:buChar char="•"/>
        <a:defRPr sz="2000" kern="1200">
          <a:solidFill>
            <a:srgbClr val="262626"/>
          </a:solidFill>
          <a:latin typeface="+mn-lt"/>
          <a:ea typeface="+mn-ea"/>
          <a:cs typeface="+mn-cs"/>
        </a:defRPr>
      </a:lvl2pPr>
      <a:lvl3pPr marL="1200150" indent="-285750" algn="l" defTabSz="457200" rtl="0" eaLnBrk="0" fontAlgn="base" hangingPunct="0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 pitchFamily="34" charset="0"/>
        <a:buChar char="•"/>
        <a:defRPr kern="1200">
          <a:solidFill>
            <a:srgbClr val="262626"/>
          </a:solidFill>
          <a:latin typeface="+mn-lt"/>
          <a:ea typeface="+mn-ea"/>
          <a:cs typeface="+mn-cs"/>
        </a:defRPr>
      </a:lvl3pPr>
      <a:lvl4pPr marL="1543050" indent="-171450" algn="l" defTabSz="457200" rtl="0" eaLnBrk="0" fontAlgn="base" hangingPunct="0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 pitchFamily="34" charset="0"/>
        <a:buChar char="•"/>
        <a:defRPr sz="1600" kern="1200">
          <a:solidFill>
            <a:srgbClr val="262626"/>
          </a:solidFill>
          <a:latin typeface="+mn-lt"/>
          <a:ea typeface="+mn-ea"/>
          <a:cs typeface="+mn-cs"/>
        </a:defRPr>
      </a:lvl4pPr>
      <a:lvl5pPr marL="2000250" indent="-171450" algn="l" defTabSz="457200" rtl="0" eaLnBrk="0" fontAlgn="base" hangingPunct="0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 pitchFamily="34" charset="0"/>
        <a:buChar char="•"/>
        <a:defRPr sz="1400" kern="1200">
          <a:solidFill>
            <a:srgbClr val="262626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Resultado de imagen para que es la estadisti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313" y="2997200"/>
            <a:ext cx="5184775" cy="312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Título 4"/>
          <p:cNvSpPr>
            <a:spLocks noGrp="1"/>
          </p:cNvSpPr>
          <p:nvPr>
            <p:ph type="ctrTitle"/>
          </p:nvPr>
        </p:nvSpPr>
        <p:spPr>
          <a:xfrm>
            <a:off x="-108520" y="620688"/>
            <a:ext cx="7772400" cy="1046162"/>
          </a:xfrm>
        </p:spPr>
        <p:txBody>
          <a:bodyPr/>
          <a:lstStyle/>
          <a:p>
            <a:pPr eaLnBrk="1" hangingPunct="1"/>
            <a:r>
              <a:rPr lang="es-PE" altLang="es-PE" dirty="0">
                <a:ln>
                  <a:noFill/>
                </a:ln>
                <a:solidFill>
                  <a:srgbClr val="FF6600"/>
                </a:solidFill>
                <a:latin typeface="Algerian" panose="04020705040A02060702" pitchFamily="82" charset="0"/>
              </a:rPr>
              <a:t>ESTADISTICA GENERAL</a:t>
            </a:r>
            <a:br>
              <a:rPr lang="es-PE" altLang="es-PE" dirty="0">
                <a:ln>
                  <a:noFill/>
                </a:ln>
                <a:solidFill>
                  <a:srgbClr val="FF6600"/>
                </a:solidFill>
                <a:latin typeface="Algerian" panose="04020705040A02060702" pitchFamily="82" charset="0"/>
              </a:rPr>
            </a:br>
            <a:r>
              <a:rPr lang="es-PE" altLang="es-PE" dirty="0">
                <a:ln>
                  <a:noFill/>
                </a:ln>
                <a:solidFill>
                  <a:srgbClr val="FF6600"/>
                </a:solidFill>
                <a:latin typeface="Algerian" panose="04020705040A02060702" pitchFamily="82" charset="0"/>
              </a:rPr>
              <a:t>MEDIDAS DESCRIPTIVAS</a:t>
            </a:r>
          </a:p>
        </p:txBody>
      </p:sp>
      <p:sp>
        <p:nvSpPr>
          <p:cNvPr id="16388" name="Subtítulo 5"/>
          <p:cNvSpPr>
            <a:spLocks noGrp="1"/>
          </p:cNvSpPr>
          <p:nvPr>
            <p:ph type="subTitle" idx="1"/>
          </p:nvPr>
        </p:nvSpPr>
        <p:spPr>
          <a:xfrm>
            <a:off x="-746125" y="5178425"/>
            <a:ext cx="6113463" cy="1752600"/>
          </a:xfrm>
        </p:spPr>
        <p:txBody>
          <a:bodyPr/>
          <a:lstStyle/>
          <a:p>
            <a:pPr eaLnBrk="1" hangingPunct="1"/>
            <a:endParaRPr lang="es-PE" altLang="es-PE" dirty="0"/>
          </a:p>
          <a:p>
            <a:pPr eaLnBrk="1" hangingPunct="1"/>
            <a:endParaRPr lang="es-PE" altLang="es-PE" dirty="0"/>
          </a:p>
          <a:p>
            <a:pPr eaLnBrk="1" hangingPunct="1"/>
            <a:r>
              <a:rPr lang="es-PE" altLang="es-PE" sz="2400"/>
              <a:t>Mg</a:t>
            </a:r>
            <a:r>
              <a:rPr lang="es-PE" altLang="es-PE" sz="2400" dirty="0"/>
              <a:t>. Edward I. Terrones Gálvez</a:t>
            </a:r>
          </a:p>
        </p:txBody>
      </p:sp>
      <p:sp>
        <p:nvSpPr>
          <p:cNvPr id="16389" name="Marcador de número de diapositiva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2400">
                <a:solidFill>
                  <a:srgbClr val="262626"/>
                </a:solidFill>
                <a:latin typeface="Garamond" panose="02020404030301010803" pitchFamily="18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2000">
                <a:solidFill>
                  <a:srgbClr val="262626"/>
                </a:solidFill>
                <a:latin typeface="Garamond" panose="02020404030301010803" pitchFamily="18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>
                <a:solidFill>
                  <a:srgbClr val="262626"/>
                </a:solidFill>
                <a:latin typeface="Garamond" panose="02020404030301010803" pitchFamily="18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>
                <a:solidFill>
                  <a:srgbClr val="262626"/>
                </a:solidFill>
                <a:latin typeface="Garamond" panose="02020404030301010803" pitchFamily="18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400">
                <a:solidFill>
                  <a:srgbClr val="262626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400">
                <a:solidFill>
                  <a:srgbClr val="262626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400">
                <a:solidFill>
                  <a:srgbClr val="262626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400">
                <a:solidFill>
                  <a:srgbClr val="262626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400">
                <a:solidFill>
                  <a:srgbClr val="262626"/>
                </a:solidFill>
                <a:latin typeface="Garamond" panose="02020404030301010803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4FBE412B-33BD-422C-86A9-AB13554902C3}" type="slidenum">
              <a:rPr lang="es-ES" altLang="es-PE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</a:t>
            </a:fld>
            <a:endParaRPr lang="es-ES" altLang="es-PE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Título 4"/>
          <p:cNvSpPr txBox="1">
            <a:spLocks/>
          </p:cNvSpPr>
          <p:nvPr/>
        </p:nvSpPr>
        <p:spPr bwMode="auto">
          <a:xfrm>
            <a:off x="179388" y="17145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s-PE" b="0" kern="0" dirty="0">
              <a:latin typeface="Algerian" panose="04020705040A02060702" pitchFamily="82" charset="0"/>
            </a:endParaRPr>
          </a:p>
          <a:p>
            <a:pPr>
              <a:defRPr/>
            </a:pPr>
            <a:r>
              <a:rPr lang="es-PE" b="0" kern="0" dirty="0">
                <a:latin typeface="Algerian" panose="04020705040A02060702" pitchFamily="82" charset="0"/>
              </a:rPr>
              <a:t>MEDIDAS DE POSICION</a:t>
            </a:r>
          </a:p>
        </p:txBody>
      </p:sp>
      <p:pic>
        <p:nvPicPr>
          <p:cNvPr id="9" name="Picture 2" descr="Universidad Nacional de Barranca">
            <a:extLst>
              <a:ext uri="{FF2B5EF4-FFF2-40B4-BE49-F238E27FC236}">
                <a16:creationId xmlns:a16="http://schemas.microsoft.com/office/drawing/2014/main" id="{FE6EF7DC-216E-455A-90AB-6ADFAD04CE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76" b="23845"/>
          <a:stretch/>
        </p:blipFill>
        <p:spPr bwMode="auto">
          <a:xfrm>
            <a:off x="7035759" y="20266"/>
            <a:ext cx="2143125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ítulo 1"/>
          <p:cNvSpPr>
            <a:spLocks noGrp="1"/>
          </p:cNvSpPr>
          <p:nvPr>
            <p:ph type="title"/>
          </p:nvPr>
        </p:nvSpPr>
        <p:spPr>
          <a:xfrm>
            <a:off x="1003300" y="547688"/>
            <a:ext cx="6799263" cy="649287"/>
          </a:xfrm>
        </p:spPr>
        <p:txBody>
          <a:bodyPr/>
          <a:lstStyle/>
          <a:p>
            <a:r>
              <a:rPr lang="es-PE" altLang="es-PE" sz="2400" b="1">
                <a:ln>
                  <a:noFill/>
                </a:ln>
                <a:latin typeface="Arial" panose="020B0604020202020204" pitchFamily="34" charset="0"/>
                <a:cs typeface="Arial" panose="020B0604020202020204" pitchFamily="34" charset="0"/>
              </a:rPr>
              <a:t>ESTADISTICOS PARA EL ANALISIS DESCRIPTIVO DE DATOS CUANTITATIVOS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90575" y="1557338"/>
            <a:ext cx="7597775" cy="4403725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De posición, dispersión y de forma.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1. Estadísticos de posición: Tendencia central 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Ubica e identifica el punto alrededor del cual se centran los datos respecto a un valor de la variable.</a:t>
            </a:r>
          </a:p>
          <a:p>
            <a:pPr>
              <a:buClrTx/>
              <a:buFont typeface="Wingdings" panose="05000000000000000000" pitchFamily="2" charset="2"/>
              <a:buChar char="Ø"/>
              <a:defRPr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Media aritmética</a:t>
            </a:r>
          </a:p>
          <a:p>
            <a:pPr>
              <a:buClrTx/>
              <a:buFont typeface="Wingdings" panose="05000000000000000000" pitchFamily="2" charset="2"/>
              <a:buChar char="Ø"/>
              <a:defRPr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Mediana </a:t>
            </a:r>
          </a:p>
          <a:p>
            <a:pPr>
              <a:buClrTx/>
              <a:buFont typeface="Wingdings" panose="05000000000000000000" pitchFamily="2" charset="2"/>
              <a:buChar char="Ø"/>
              <a:defRPr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Moda </a:t>
            </a:r>
          </a:p>
          <a:p>
            <a:pPr>
              <a:buClrTx/>
              <a:buFont typeface="Wingdings" panose="05000000000000000000" pitchFamily="2" charset="2"/>
              <a:buChar char="Ø"/>
              <a:defRPr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Cuantiles</a:t>
            </a:r>
          </a:p>
          <a:p>
            <a:pPr>
              <a:buClrTx/>
              <a:buFont typeface="Wingdings" panose="05000000000000000000" pitchFamily="2" charset="2"/>
              <a:buChar char="Ø"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F4336B-F36A-43C6-88F4-205416989DBE}" type="slidenum">
              <a:rPr lang="es-ES" smtClean="0"/>
              <a:pPr>
                <a:defRPr/>
              </a:pPr>
              <a:t>2</a:t>
            </a:fld>
            <a:endParaRPr 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AE7E396-B370-4A2B-9CEA-516449B44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921" y="3284984"/>
            <a:ext cx="4123680" cy="244827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2FC384B-E9DC-41A1-8BA9-FBCFFF2AC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896" y="6057693"/>
            <a:ext cx="3753374" cy="1905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9C6F477-0403-4332-BD9C-6F24DB129B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1050" y="764704"/>
                <a:ext cx="7607374" cy="5475759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s-ES" b="1" dirty="0">
                    <a:solidFill>
                      <a:srgbClr val="FF0000"/>
                    </a:solidFill>
                  </a:rPr>
                  <a:t>MEDIA ARIMETICA MUESTRAL</a:t>
                </a:r>
              </a:p>
              <a:p>
                <a:pPr marL="0" indent="0">
                  <a:buNone/>
                </a:pPr>
                <a:r>
                  <a:rPr lang="es-ES" b="1" dirty="0"/>
                  <a:t>a) Para datos no tabulados: </a:t>
                </a:r>
                <a:r>
                  <a:rPr lang="es-ES" dirty="0"/>
                  <a:t>Sea x1,x2,…</a:t>
                </a:r>
                <a:r>
                  <a:rPr lang="es-ES" dirty="0" err="1"/>
                  <a:t>xn</a:t>
                </a:r>
                <a:r>
                  <a:rPr lang="es-ES" dirty="0"/>
                  <a:t> una muestra de tamaño “n” de una variable cuantitativa, la media aritmética se calcula: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</m:acc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E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s-ES" sz="2000" b="1" i="0" smtClean="0">
                                  <a:latin typeface="Cambria Math" panose="02040503050406030204" pitchFamily="18" charset="0"/>
                                </a:rPr>
                                <m:t>𝐱𝐢</m:t>
                              </m:r>
                            </m:e>
                          </m:nary>
                        </m:num>
                        <m:den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𝐧</m:t>
                          </m:r>
                        </m:den>
                      </m:f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𝐱𝟏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𝐱𝟐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+…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𝐱𝐧</m:t>
                          </m:r>
                        </m:num>
                        <m:den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𝐧</m:t>
                          </m:r>
                        </m:den>
                      </m:f>
                    </m:oMath>
                  </m:oMathPara>
                </a14:m>
                <a:endParaRPr lang="es-ES" b="1" dirty="0"/>
              </a:p>
              <a:p>
                <a:pPr marL="0" indent="0">
                  <a:buNone/>
                </a:pPr>
                <a:r>
                  <a:rPr lang="es-PE" dirty="0" err="1"/>
                  <a:t>Ej</a:t>
                </a:r>
                <a:r>
                  <a:rPr lang="es-PE" dirty="0"/>
                  <a:t> : Sean las notas de los estudiantes del curso de estadística: 09;11;10;12;09;10;13 Calcular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</m:acc>
                  </m:oMath>
                </a14:m>
                <a:endParaRPr lang="es-PE" dirty="0"/>
              </a:p>
              <a:p>
                <a:pPr marL="0" indent="0">
                  <a:buNone/>
                </a:pPr>
                <a:r>
                  <a:rPr lang="es-PE" b="1" dirty="0"/>
                  <a:t>SOL:</a:t>
                </a:r>
              </a:p>
              <a:p>
                <a:pPr marL="0" indent="0">
                  <a:buNone/>
                </a:pPr>
                <a:r>
                  <a:rPr lang="es-PE" b="1" dirty="0"/>
                  <a:t>n=7 =&gt;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</m:acc>
                  </m:oMath>
                </a14:m>
                <a:r>
                  <a:rPr lang="es-PE" b="1" dirty="0"/>
                  <a:t>=</a:t>
                </a:r>
                <a:r>
                  <a:rPr lang="es-ES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1" i="0" smtClean="0">
                            <a:latin typeface="Cambria Math" panose="02040503050406030204" pitchFamily="18" charset="0"/>
                          </a:rPr>
                          <m:t>𝟎𝟗</m:t>
                        </m:r>
                        <m:r>
                          <a:rPr lang="es-ES" b="1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𝟏𝟏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𝟏𝟐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𝟎𝟗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𝟏𝟑</m:t>
                        </m:r>
                      </m:num>
                      <m:den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den>
                    </m:f>
                    <m:r>
                      <a:rPr lang="es-ES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1" i="0" smtClean="0">
                            <a:latin typeface="Cambria Math" panose="02040503050406030204" pitchFamily="18" charset="0"/>
                          </a:rPr>
                          <m:t>𝟕𝟒</m:t>
                        </m:r>
                      </m:num>
                      <m:den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den>
                    </m:f>
                  </m:oMath>
                </a14:m>
                <a:r>
                  <a:rPr lang="es-PE" b="1" dirty="0"/>
                  <a:t>=10.57 </a:t>
                </a:r>
                <a:r>
                  <a:rPr lang="es-PE" b="1" dirty="0" err="1"/>
                  <a:t>ptos</a:t>
                </a:r>
                <a:endParaRPr lang="es-PE" b="1" dirty="0"/>
              </a:p>
              <a:p>
                <a:pPr marL="0" indent="0">
                  <a:buNone/>
                </a:pPr>
                <a:r>
                  <a:rPr lang="es-PE" b="1" dirty="0" err="1"/>
                  <a:t>Interp</a:t>
                </a:r>
                <a:r>
                  <a:rPr lang="es-PE" b="1" dirty="0"/>
                  <a:t>: La nota promedio de los estudiantes del curso de estadística es 10.57 </a:t>
                </a:r>
                <a:r>
                  <a:rPr lang="es-PE" b="1" dirty="0" err="1"/>
                  <a:t>ptos</a:t>
                </a:r>
                <a:r>
                  <a:rPr lang="es-PE" b="1" dirty="0"/>
                  <a:t>.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9C6F477-0403-4332-BD9C-6F24DB129B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1050" y="764704"/>
                <a:ext cx="7607374" cy="5475759"/>
              </a:xfrm>
              <a:blipFill>
                <a:blip r:embed="rId2"/>
                <a:stretch>
                  <a:fillRect l="-1202" t="-890" r="-881" b="-222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1610EE4-6894-423B-A60F-0210B4F3B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4429DE-82EF-46DF-8CEC-E6039B005539}" type="slidenum">
              <a:rPr lang="es-ES" smtClean="0"/>
              <a:pPr>
                <a:defRPr/>
              </a:pPr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1715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9510CF-C945-4721-ADE8-47F104C27178}" type="slidenum">
              <a:rPr lang="es-ES" smtClean="0"/>
              <a:pPr>
                <a:defRPr/>
              </a:pPr>
              <a:t>4</a:t>
            </a:fld>
            <a:endParaRPr lang="es-ES"/>
          </a:p>
        </p:txBody>
      </p:sp>
      <p:sp>
        <p:nvSpPr>
          <p:cNvPr id="5" name="Marcador de contenido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11560" y="764704"/>
            <a:ext cx="7776864" cy="5616624"/>
          </a:xfrm>
          <a:prstGeom prst="rect">
            <a:avLst/>
          </a:prstGeom>
          <a:blipFill rotWithShape="0">
            <a:blip r:embed="rId2"/>
            <a:stretch>
              <a:fillRect l="-940" t="-434" r="-16301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s-PE">
                <a:noFill/>
              </a:rPr>
              <a:t> </a:t>
            </a:r>
          </a:p>
        </p:txBody>
      </p:sp>
      <p:cxnSp>
        <p:nvCxnSpPr>
          <p:cNvPr id="7" name="Conector recto 6"/>
          <p:cNvCxnSpPr/>
          <p:nvPr/>
        </p:nvCxnSpPr>
        <p:spPr>
          <a:xfrm>
            <a:off x="1116013" y="2565400"/>
            <a:ext cx="33115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/>
          <p:cNvCxnSpPr/>
          <p:nvPr/>
        </p:nvCxnSpPr>
        <p:spPr>
          <a:xfrm>
            <a:off x="4683125" y="2565400"/>
            <a:ext cx="863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/>
          <p:cNvCxnSpPr/>
          <p:nvPr/>
        </p:nvCxnSpPr>
        <p:spPr>
          <a:xfrm flipV="1">
            <a:off x="1187450" y="3284538"/>
            <a:ext cx="3313113" cy="174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>
            <a:off x="4683125" y="3302000"/>
            <a:ext cx="863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a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622323"/>
              </p:ext>
            </p:extLst>
          </p:nvPr>
        </p:nvGraphicFramePr>
        <p:xfrm>
          <a:off x="846583" y="4238052"/>
          <a:ext cx="3311526" cy="2194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8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3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38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567">
                <a:tc>
                  <a:txBody>
                    <a:bodyPr/>
                    <a:lstStyle/>
                    <a:p>
                      <a:r>
                        <a:rPr lang="es-PE" sz="1800" dirty="0" err="1">
                          <a:solidFill>
                            <a:schemeClr val="tx1"/>
                          </a:solidFill>
                        </a:rPr>
                        <a:t>Yi</a:t>
                      </a:r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631" marB="45631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fi</a:t>
                      </a:r>
                    </a:p>
                  </a:txBody>
                  <a:tcPr marL="91417" marR="91417" marT="45631" marB="45631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 err="1">
                          <a:solidFill>
                            <a:srgbClr val="0070C0"/>
                          </a:solidFill>
                        </a:rPr>
                        <a:t>yi</a:t>
                      </a:r>
                      <a:r>
                        <a:rPr lang="es-PE" sz="1800" dirty="0">
                          <a:solidFill>
                            <a:srgbClr val="0070C0"/>
                          </a:solidFill>
                        </a:rPr>
                        <a:t>*fi</a:t>
                      </a:r>
                    </a:p>
                  </a:txBody>
                  <a:tcPr marL="91417" marR="91417" marT="45631" marB="45631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2791"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17" marR="91417" marT="45631" marB="45631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17" marR="91417" marT="45631" marB="45631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  <a:p>
                      <a:r>
                        <a:rPr lang="es-PE" sz="1800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  <a:p>
                      <a:r>
                        <a:rPr lang="es-PE" sz="1800" dirty="0">
                          <a:solidFill>
                            <a:srgbClr val="0070C0"/>
                          </a:solidFill>
                        </a:rPr>
                        <a:t>10</a:t>
                      </a:r>
                    </a:p>
                    <a:p>
                      <a:r>
                        <a:rPr lang="es-PE" sz="1800" dirty="0">
                          <a:solidFill>
                            <a:srgbClr val="0070C0"/>
                          </a:solidFill>
                        </a:rPr>
                        <a:t>9</a:t>
                      </a:r>
                    </a:p>
                    <a:p>
                      <a:r>
                        <a:rPr lang="es-PE" sz="1800" dirty="0">
                          <a:solidFill>
                            <a:srgbClr val="0070C0"/>
                          </a:solidFill>
                        </a:rPr>
                        <a:t>4</a:t>
                      </a:r>
                    </a:p>
                  </a:txBody>
                  <a:tcPr marL="91417" marR="91417" marT="45631" marB="45631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567">
                <a:tc>
                  <a:txBody>
                    <a:bodyPr/>
                    <a:lstStyle/>
                    <a:p>
                      <a:endParaRPr lang="es-PE" sz="180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631" marB="45631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marL="91417" marR="91417" marT="45631" marB="45631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rgbClr val="0070C0"/>
                          </a:solidFill>
                        </a:rPr>
                        <a:t>29</a:t>
                      </a:r>
                    </a:p>
                  </a:txBody>
                  <a:tcPr marL="91417" marR="91417" marT="45631" marB="45631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1" name="Conector recto 20"/>
          <p:cNvCxnSpPr/>
          <p:nvPr/>
        </p:nvCxnSpPr>
        <p:spPr>
          <a:xfrm>
            <a:off x="4859338" y="5157788"/>
            <a:ext cx="194468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/>
          <p:cNvCxnSpPr/>
          <p:nvPr/>
        </p:nvCxnSpPr>
        <p:spPr>
          <a:xfrm>
            <a:off x="7092950" y="5157788"/>
            <a:ext cx="3413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84" name="CuadroTexto 1"/>
          <p:cNvSpPr txBox="1">
            <a:spLocks noChangeArrowheads="1"/>
          </p:cNvSpPr>
          <p:nvPr/>
        </p:nvSpPr>
        <p:spPr bwMode="auto">
          <a:xfrm>
            <a:off x="611188" y="1196975"/>
            <a:ext cx="431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r>
              <a:rPr lang="es-PE" altLang="es-PE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3" name="Rectángulo 2"/>
          <p:cNvSpPr/>
          <p:nvPr/>
        </p:nvSpPr>
        <p:spPr>
          <a:xfrm>
            <a:off x="611188" y="765175"/>
            <a:ext cx="2952750" cy="43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P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768190" y="764704"/>
            <a:ext cx="7836258" cy="5328591"/>
          </a:xfrm>
          <a:blipFill rotWithShape="0">
            <a:blip r:embed="rId2"/>
            <a:stretch>
              <a:fillRect l="-1167" t="-800"/>
            </a:stretch>
          </a:blipFill>
        </p:spPr>
        <p:txBody>
          <a:bodyPr/>
          <a:lstStyle/>
          <a:p>
            <a:pPr>
              <a:defRPr/>
            </a:pPr>
            <a:r>
              <a:rPr lang="es-PE" dirty="0">
                <a:noFill/>
              </a:rPr>
              <a:t> 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0D8521-B727-4AF8-8EBE-584EBCD7D50B}" type="slidenum">
              <a:rPr lang="es-ES" smtClean="0"/>
              <a:pPr>
                <a:defRPr/>
              </a:pPr>
              <a:t>5</a:t>
            </a:fld>
            <a:endParaRPr lang="es-ES"/>
          </a:p>
        </p:txBody>
      </p:sp>
      <p:graphicFrame>
        <p:nvGraphicFramePr>
          <p:cNvPr id="5" name="Tabla 4"/>
          <p:cNvGraphicFramePr>
            <a:graphicFrameLocks noGrp="1"/>
          </p:cNvGraphicFramePr>
          <p:nvPr/>
        </p:nvGraphicFramePr>
        <p:xfrm>
          <a:off x="1692275" y="1989138"/>
          <a:ext cx="6096000" cy="2194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567"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y´i-1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</a:rPr>
                        <a:t> – </a:t>
                      </a:r>
                      <a:r>
                        <a:rPr lang="es-PE" sz="1800" baseline="0" dirty="0" err="1">
                          <a:solidFill>
                            <a:schemeClr val="tx1"/>
                          </a:solidFill>
                        </a:rPr>
                        <a:t>y´í</a:t>
                      </a:r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631" marB="45631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 err="1">
                          <a:solidFill>
                            <a:schemeClr val="tx1"/>
                          </a:solidFill>
                        </a:rPr>
                        <a:t>yi</a:t>
                      </a:r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631" marB="45631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fi</a:t>
                      </a:r>
                    </a:p>
                  </a:txBody>
                  <a:tcPr marT="45631" marB="45631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 err="1">
                          <a:solidFill>
                            <a:srgbClr val="0070C0"/>
                          </a:solidFill>
                        </a:rPr>
                        <a:t>yi</a:t>
                      </a:r>
                      <a:r>
                        <a:rPr lang="es-PE" sz="1800" dirty="0">
                          <a:solidFill>
                            <a:srgbClr val="0070C0"/>
                          </a:solidFill>
                        </a:rPr>
                        <a:t>*fi</a:t>
                      </a:r>
                    </a:p>
                  </a:txBody>
                  <a:tcPr marT="45631" marB="45631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2791"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200-350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350-500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500-650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650-800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800-950</a:t>
                      </a:r>
                    </a:p>
                  </a:txBody>
                  <a:tcPr marT="45631" marB="45631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275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425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575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725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875</a:t>
                      </a:r>
                    </a:p>
                  </a:txBody>
                  <a:tcPr marT="45631" marB="45631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T="45631" marB="45631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rgbClr val="0070C0"/>
                          </a:solidFill>
                        </a:rPr>
                        <a:t>2475</a:t>
                      </a:r>
                    </a:p>
                    <a:p>
                      <a:r>
                        <a:rPr lang="es-PE" sz="1800" dirty="0">
                          <a:solidFill>
                            <a:srgbClr val="0070C0"/>
                          </a:solidFill>
                        </a:rPr>
                        <a:t>2975</a:t>
                      </a:r>
                    </a:p>
                    <a:p>
                      <a:r>
                        <a:rPr lang="es-PE" sz="1800" dirty="0">
                          <a:solidFill>
                            <a:srgbClr val="0070C0"/>
                          </a:solidFill>
                        </a:rPr>
                        <a:t>6325</a:t>
                      </a:r>
                    </a:p>
                    <a:p>
                      <a:r>
                        <a:rPr lang="es-PE" sz="1800" dirty="0">
                          <a:solidFill>
                            <a:srgbClr val="0070C0"/>
                          </a:solidFill>
                        </a:rPr>
                        <a:t>9425</a:t>
                      </a:r>
                    </a:p>
                    <a:p>
                      <a:r>
                        <a:rPr lang="es-PE" sz="1800" dirty="0">
                          <a:solidFill>
                            <a:srgbClr val="0070C0"/>
                          </a:solidFill>
                        </a:rPr>
                        <a:t>8750</a:t>
                      </a:r>
                    </a:p>
                  </a:txBody>
                  <a:tcPr marT="45631" marB="45631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567">
                <a:tc>
                  <a:txBody>
                    <a:bodyPr/>
                    <a:lstStyle/>
                    <a:p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631" marB="45631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800">
                        <a:solidFill>
                          <a:schemeClr val="tx1"/>
                        </a:solidFill>
                      </a:endParaRPr>
                    </a:p>
                  </a:txBody>
                  <a:tcPr marT="45631" marB="45631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 marT="45631" marB="45631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rgbClr val="0070C0"/>
                          </a:solidFill>
                        </a:rPr>
                        <a:t>29950</a:t>
                      </a:r>
                    </a:p>
                  </a:txBody>
                  <a:tcPr marT="45631" marB="45631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7" name="Conector recto 6"/>
          <p:cNvCxnSpPr/>
          <p:nvPr/>
        </p:nvCxnSpPr>
        <p:spPr>
          <a:xfrm>
            <a:off x="1403350" y="4941888"/>
            <a:ext cx="53292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/>
          <p:cNvCxnSpPr/>
          <p:nvPr/>
        </p:nvCxnSpPr>
        <p:spPr>
          <a:xfrm>
            <a:off x="7092950" y="4941888"/>
            <a:ext cx="8826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/>
          <p:cNvSpPr txBox="1"/>
          <p:nvPr/>
        </p:nvSpPr>
        <p:spPr>
          <a:xfrm>
            <a:off x="4355976" y="5301208"/>
            <a:ext cx="2520280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s-PE" dirty="0"/>
              <a:t>EN PROMEDIO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6BFC88D-3271-4B26-8F64-4BCE875750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7584" y="617537"/>
                <a:ext cx="7488832" cy="562292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E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Media Aritmética Ponderada</a:t>
                </a:r>
              </a:p>
              <a:p>
                <a:pPr marL="0" indent="0">
                  <a:buNone/>
                </a:pP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Cuando las observaciones se le asigna un peso o ponderación; se define por: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PE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s-PE" sz="20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acc>
                      </m:e>
                      <m:sub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2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</m:nary>
                      </m:den>
                    </m:f>
                  </m:oMath>
                </a14:m>
                <a:r>
                  <a:rPr lang="es-PE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 donde</a:t>
                </a:r>
              </a:p>
              <a:p>
                <a:pPr marL="0" indent="0">
                  <a:buNone/>
                </a:pPr>
                <a:endParaRPr lang="es-PE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:r>
                  <a:rPr lang="es-PE" sz="20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Ej</a:t>
                </a:r>
                <a:r>
                  <a:rPr lang="es-PE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Sean las notas de un estudiante en el curso de estadística en cuanto a Cognoscitivo, Procedimental y Actitudinal. Calcular la media ponderada.</a:t>
                </a:r>
              </a:p>
              <a:p>
                <a:pPr marL="0" indent="0" algn="just">
                  <a:buNone/>
                </a:pPr>
                <a:endParaRPr lang="es-PE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:endParaRPr lang="es-PE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:endParaRPr lang="es-PE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=&gt;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s-PE" sz="20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acc>
                      </m:e>
                      <m:sub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2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𝟏𝟐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𝟓𝟎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𝟏𝟎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𝟒𝟎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𝟏𝟒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𝟓𝟎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𝟒𝟎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e>
                        </m:nary>
                      </m:den>
                    </m:f>
                  </m:oMath>
                </a14:m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=11.4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6BFC88D-3271-4B26-8F64-4BCE875750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7584" y="617537"/>
                <a:ext cx="7488832" cy="5622925"/>
              </a:xfrm>
              <a:blipFill>
                <a:blip r:embed="rId2"/>
                <a:stretch>
                  <a:fillRect l="-896" t="-433" r="-81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2412C52-DDF6-4D3C-A699-B19D8A7AC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4429DE-82EF-46DF-8CEC-E6039B005539}" type="slidenum">
              <a:rPr lang="es-ES" smtClean="0"/>
              <a:pPr>
                <a:defRPr/>
              </a:pPr>
              <a:t>6</a:t>
            </a:fld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FCE6BD49-2C1E-4E1B-B44A-141AB723EA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7542461"/>
                  </p:ext>
                </p:extLst>
              </p:nvPr>
            </p:nvGraphicFramePr>
            <p:xfrm>
              <a:off x="3692536" y="1916832"/>
              <a:ext cx="4283063" cy="960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83063">
                      <a:extLst>
                        <a:ext uri="{9D8B030D-6E8A-4147-A177-3AD203B41FA5}">
                          <a16:colId xmlns:a16="http://schemas.microsoft.com/office/drawing/2014/main" val="916915548"/>
                        </a:ext>
                      </a:extLst>
                    </a:gridCol>
                  </a:tblGrid>
                  <a:tr h="31203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PE" sz="15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s-PE" sz="15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5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ES" sz="15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  <m:r>
                                  <a:rPr lang="es-E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es-E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𝑀𝑒𝑑𝑖𝑎</m:t>
                                </m:r>
                                <m:r>
                                  <a:rPr lang="es-E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ES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𝑝𝑜𝑛𝑑𝑒𝑟𝑎𝑑𝑎</m:t>
                                </m:r>
                              </m:oMath>
                            </m:oMathPara>
                          </a14:m>
                          <a:endParaRPr lang="es-PE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300165"/>
                      </a:ext>
                    </a:extLst>
                  </a:tr>
                  <a:tr h="312035">
                    <a:tc>
                      <a:txBody>
                        <a:bodyPr/>
                        <a:lstStyle/>
                        <a:p>
                          <a:r>
                            <a:rPr lang="es-ES" sz="1500" b="0" dirty="0">
                              <a:solidFill>
                                <a:schemeClr val="tx1"/>
                              </a:solidFill>
                            </a:rPr>
                            <a:t> X: </a:t>
                          </a:r>
                          <a:r>
                            <a:rPr lang="es-ES" sz="1500" b="0" dirty="0" err="1">
                              <a:solidFill>
                                <a:schemeClr val="tx1"/>
                              </a:solidFill>
                            </a:rPr>
                            <a:t>Observacion</a:t>
                          </a:r>
                          <a:r>
                            <a:rPr lang="es-ES" sz="1500" b="0" dirty="0">
                              <a:solidFill>
                                <a:schemeClr val="tx1"/>
                              </a:solidFill>
                            </a:rPr>
                            <a:t> individual</a:t>
                          </a:r>
                          <a:endParaRPr lang="es-PE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605095"/>
                      </a:ext>
                    </a:extLst>
                  </a:tr>
                  <a:tr h="312035">
                    <a:tc>
                      <a:txBody>
                        <a:bodyPr/>
                        <a:lstStyle/>
                        <a:p>
                          <a:r>
                            <a:rPr lang="es-ES" sz="1500" b="0" dirty="0">
                              <a:solidFill>
                                <a:schemeClr val="tx1"/>
                              </a:solidFill>
                            </a:rPr>
                            <a:t>W: Peso o ponderación asignado a cada </a:t>
                          </a:r>
                          <a:r>
                            <a:rPr lang="es-ES" sz="1500" b="0" dirty="0" err="1">
                              <a:solidFill>
                                <a:schemeClr val="tx1"/>
                              </a:solidFill>
                            </a:rPr>
                            <a:t>observacion</a:t>
                          </a:r>
                          <a:endParaRPr lang="es-PE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72160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FCE6BD49-2C1E-4E1B-B44A-141AB723EA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7542461"/>
                  </p:ext>
                </p:extLst>
              </p:nvPr>
            </p:nvGraphicFramePr>
            <p:xfrm>
              <a:off x="3692536" y="1916832"/>
              <a:ext cx="4283063" cy="960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83063">
                      <a:extLst>
                        <a:ext uri="{9D8B030D-6E8A-4147-A177-3AD203B41FA5}">
                          <a16:colId xmlns:a16="http://schemas.microsoft.com/office/drawing/2014/main" val="916915548"/>
                        </a:ext>
                      </a:extLst>
                    </a:gridCol>
                  </a:tblGrid>
                  <a:tr h="320040">
                    <a:tc>
                      <a:txBody>
                        <a:bodyPr/>
                        <a:lstStyle/>
                        <a:p>
                          <a:endParaRPr lang="es-PE"/>
                        </a:p>
                      </a:txBody>
                      <a:tcPr>
                        <a:blipFill>
                          <a:blip r:embed="rId3"/>
                          <a:stretch>
                            <a:fillRect l="-142" t="-1887" r="-568" b="-2188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300165"/>
                      </a:ext>
                    </a:extLst>
                  </a:tr>
                  <a:tr h="320040">
                    <a:tc>
                      <a:txBody>
                        <a:bodyPr/>
                        <a:lstStyle/>
                        <a:p>
                          <a:r>
                            <a:rPr lang="es-ES" sz="1500" b="0" dirty="0">
                              <a:solidFill>
                                <a:schemeClr val="tx1"/>
                              </a:solidFill>
                            </a:rPr>
                            <a:t> X: </a:t>
                          </a:r>
                          <a:r>
                            <a:rPr lang="es-ES" sz="1500" b="0" dirty="0" err="1">
                              <a:solidFill>
                                <a:schemeClr val="tx1"/>
                              </a:solidFill>
                            </a:rPr>
                            <a:t>Observacion</a:t>
                          </a:r>
                          <a:r>
                            <a:rPr lang="es-ES" sz="1500" b="0" dirty="0">
                              <a:solidFill>
                                <a:schemeClr val="tx1"/>
                              </a:solidFill>
                            </a:rPr>
                            <a:t> individual</a:t>
                          </a:r>
                          <a:endParaRPr lang="es-PE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605095"/>
                      </a:ext>
                    </a:extLst>
                  </a:tr>
                  <a:tr h="320040">
                    <a:tc>
                      <a:txBody>
                        <a:bodyPr/>
                        <a:lstStyle/>
                        <a:p>
                          <a:r>
                            <a:rPr lang="es-ES" sz="1500" b="0" dirty="0">
                              <a:solidFill>
                                <a:schemeClr val="tx1"/>
                              </a:solidFill>
                            </a:rPr>
                            <a:t>W: Peso o ponderación asignado a cada </a:t>
                          </a:r>
                          <a:r>
                            <a:rPr lang="es-ES" sz="1500" b="0" dirty="0" err="1">
                              <a:solidFill>
                                <a:schemeClr val="tx1"/>
                              </a:solidFill>
                            </a:rPr>
                            <a:t>observacion</a:t>
                          </a:r>
                          <a:endParaRPr lang="es-PE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7216042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BE755EBE-7831-4CE4-9A7B-7AE12186A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771428"/>
              </p:ext>
            </p:extLst>
          </p:nvPr>
        </p:nvGraphicFramePr>
        <p:xfrm>
          <a:off x="668200" y="3981049"/>
          <a:ext cx="6048672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48672">
                  <a:extLst>
                    <a:ext uri="{9D8B030D-6E8A-4147-A177-3AD203B41FA5}">
                      <a16:colId xmlns:a16="http://schemas.microsoft.com/office/drawing/2014/main" val="1275095734"/>
                    </a:ext>
                  </a:extLst>
                </a:gridCol>
              </a:tblGrid>
              <a:tr h="734209">
                <a:tc>
                  <a:txBody>
                    <a:bodyPr/>
                    <a:lstStyle/>
                    <a:p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Criterio                Nota(X)        Peso(W)               </a:t>
                      </a:r>
                      <a:r>
                        <a:rPr lang="es-ES" sz="16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X*W</a:t>
                      </a:r>
                    </a:p>
                    <a:p>
                      <a:r>
                        <a:rPr lang="es-E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Cognoscitivo             12                  0.50                   6</a:t>
                      </a:r>
                    </a:p>
                    <a:p>
                      <a:r>
                        <a:rPr lang="es-E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Procedimental           10                  0.40                   4</a:t>
                      </a:r>
                    </a:p>
                    <a:p>
                      <a:r>
                        <a:rPr lang="es-E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Actitudinal                14                   0.10                  1.4</a:t>
                      </a:r>
                      <a:endParaRPr lang="es-PE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172242"/>
                  </a:ext>
                </a:extLst>
              </a:tr>
              <a:tr h="225911">
                <a:tc>
                  <a:txBody>
                    <a:bodyPr/>
                    <a:lstStyle/>
                    <a:p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</a:t>
                      </a:r>
                      <a:r>
                        <a:rPr lang="es-ES" sz="16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11.4</a:t>
                      </a:r>
                      <a:endParaRPr lang="es-PE" sz="16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720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8196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6BFC88D-3271-4B26-8F64-4BCE875750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7584" y="617537"/>
                <a:ext cx="7488832" cy="562292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E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Media Aritmética a partir de submuestras</a:t>
                </a:r>
              </a:p>
              <a:p>
                <a:pPr marL="0" indent="0">
                  <a:buNone/>
                </a:pP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Se define por: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PE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  <m:r>
                      <a:rPr lang="es-ES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ES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acc>
                              <m:accPr>
                                <m:chr m:val="̅"/>
                                <m:ctrlPr>
                                  <a:rPr lang="es-E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" b="1" i="1" smtClean="0">
                                    <a:latin typeface="Cambria Math" panose="02040503050406030204" pitchFamily="18" charset="0"/>
                                  </a:rPr>
                                  <m:t>𝑿𝒊</m:t>
                                </m:r>
                              </m:e>
                            </m:acc>
                            <m:r>
                              <a:rPr lang="es-ES" b="1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s-ES" b="1" i="1" smtClean="0">
                                <a:latin typeface="Cambria Math" panose="02040503050406030204" pitchFamily="18" charset="0"/>
                              </a:rPr>
                              <m:t>𝒏𝒊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ES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s-ES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nary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den>
                    </m:f>
                  </m:oMath>
                </a14:m>
                <a:r>
                  <a:rPr lang="es-PE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r>
                  <a:rPr lang="es-PE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donde</a:t>
                </a:r>
              </a:p>
              <a:p>
                <a:pPr marL="0" indent="0">
                  <a:buNone/>
                </a:pPr>
                <a:endParaRPr lang="es-PE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:r>
                  <a:rPr lang="es-PE" sz="20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Ej</a:t>
                </a:r>
                <a:r>
                  <a:rPr lang="es-PE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Sean los pesos de los estudiantes entre hombres y mujeres de un aula. Comprobar que el peso promedio del aula es igual al peso promedio según hombres y mujeres. </a:t>
                </a:r>
              </a:p>
              <a:p>
                <a:pPr marL="0" indent="0" algn="just">
                  <a:buNone/>
                </a:pPr>
                <a:r>
                  <a:rPr lang="es-PE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SOL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6BFC88D-3271-4B26-8F64-4BCE875750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7584" y="617537"/>
                <a:ext cx="7488832" cy="5622925"/>
              </a:xfrm>
              <a:blipFill>
                <a:blip r:embed="rId2"/>
                <a:stretch>
                  <a:fillRect l="-896" t="-433" r="-81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2412C52-DDF6-4D3C-A699-B19D8A7AC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4429DE-82EF-46DF-8CEC-E6039B005539}" type="slidenum">
              <a:rPr lang="es-ES" smtClean="0"/>
              <a:pPr>
                <a:defRPr/>
              </a:pPr>
              <a:t>7</a:t>
            </a:fld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FCE6BD49-2C1E-4E1B-B44A-141AB723EA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9950680"/>
                  </p:ext>
                </p:extLst>
              </p:nvPr>
            </p:nvGraphicFramePr>
            <p:xfrm>
              <a:off x="3494893" y="1339173"/>
              <a:ext cx="4283063" cy="10379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83063">
                      <a:extLst>
                        <a:ext uri="{9D8B030D-6E8A-4147-A177-3AD203B41FA5}">
                          <a16:colId xmlns:a16="http://schemas.microsoft.com/office/drawing/2014/main" val="916915548"/>
                        </a:ext>
                      </a:extLst>
                    </a:gridCol>
                  </a:tblGrid>
                  <a:tr h="31203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E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s-E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es-E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𝑀𝑒𝑑𝑖𝑎</m:t>
                                </m:r>
                                <m:r>
                                  <a:rPr lang="es-E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E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𝑎𝑟𝑖𝑡𝑚𝑒𝑡𝑖𝑐𝑎</m:t>
                                </m:r>
                              </m:oMath>
                            </m:oMathPara>
                          </a14:m>
                          <a:endParaRPr lang="es-P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300165"/>
                      </a:ext>
                    </a:extLst>
                  </a:tr>
                  <a:tr h="312035">
                    <a:tc>
                      <a:txBody>
                        <a:bodyPr/>
                        <a:lstStyle/>
                        <a:p>
                          <a:r>
                            <a:rPr lang="es-ES" sz="16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s-ES" sz="1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sz="1800" b="1" i="1" smtClean="0">
                                      <a:latin typeface="Cambria Math" panose="02040503050406030204" pitchFamily="18" charset="0"/>
                                    </a:rPr>
                                    <m:t>𝑿𝒊</m:t>
                                  </m:r>
                                </m:e>
                              </m:acc>
                            </m:oMath>
                          </a14:m>
                          <a:r>
                            <a:rPr lang="es-ES" sz="1600" b="0" dirty="0">
                              <a:solidFill>
                                <a:schemeClr val="tx1"/>
                              </a:solidFill>
                            </a:rPr>
                            <a:t>: Media aritmética de cada submuestra</a:t>
                          </a:r>
                          <a:endParaRPr lang="es-P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605095"/>
                      </a:ext>
                    </a:extLst>
                  </a:tr>
                  <a:tr h="312035">
                    <a:tc>
                      <a:txBody>
                        <a:bodyPr/>
                        <a:lstStyle/>
                        <a:p>
                          <a:r>
                            <a:rPr lang="es-ES" sz="1600" b="1" dirty="0">
                              <a:solidFill>
                                <a:schemeClr val="tx1"/>
                              </a:solidFill>
                            </a:rPr>
                            <a:t>ni: </a:t>
                          </a:r>
                          <a:r>
                            <a:rPr lang="es-ES" sz="1600" b="0" dirty="0">
                              <a:solidFill>
                                <a:schemeClr val="tx1"/>
                              </a:solidFill>
                            </a:rPr>
                            <a:t>Tamaño de cada submuestra</a:t>
                          </a:r>
                          <a:endParaRPr lang="es-P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72160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FCE6BD49-2C1E-4E1B-B44A-141AB723EA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9950680"/>
                  </p:ext>
                </p:extLst>
              </p:nvPr>
            </p:nvGraphicFramePr>
            <p:xfrm>
              <a:off x="3494893" y="1339173"/>
              <a:ext cx="4283063" cy="10379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83063">
                      <a:extLst>
                        <a:ext uri="{9D8B030D-6E8A-4147-A177-3AD203B41FA5}">
                          <a16:colId xmlns:a16="http://schemas.microsoft.com/office/drawing/2014/main" val="916915548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es-PE"/>
                        </a:p>
                      </a:txBody>
                      <a:tcPr>
                        <a:blipFill>
                          <a:blip r:embed="rId3"/>
                          <a:stretch>
                            <a:fillRect l="-142" t="-1818" r="-711" b="-2363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300165"/>
                      </a:ext>
                    </a:extLst>
                  </a:tr>
                  <a:tr h="367411">
                    <a:tc>
                      <a:txBody>
                        <a:bodyPr/>
                        <a:lstStyle/>
                        <a:p>
                          <a:endParaRPr lang="es-PE"/>
                        </a:p>
                      </a:txBody>
                      <a:tcPr>
                        <a:blipFill>
                          <a:blip r:embed="rId3"/>
                          <a:stretch>
                            <a:fillRect l="-142" t="-91803" r="-711" b="-1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60509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s-ES" sz="1600" b="1" dirty="0">
                              <a:solidFill>
                                <a:schemeClr val="tx1"/>
                              </a:solidFill>
                            </a:rPr>
                            <a:t>ni: </a:t>
                          </a:r>
                          <a:r>
                            <a:rPr lang="es-ES" sz="1600" b="0" dirty="0">
                              <a:solidFill>
                                <a:schemeClr val="tx1"/>
                              </a:solidFill>
                            </a:rPr>
                            <a:t>Tamaño de cada submuestra</a:t>
                          </a:r>
                          <a:endParaRPr lang="es-PE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721604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Imagen 8">
            <a:extLst>
              <a:ext uri="{FF2B5EF4-FFF2-40B4-BE49-F238E27FC236}">
                <a16:creationId xmlns:a16="http://schemas.microsoft.com/office/drawing/2014/main" id="{E8F8495D-7858-4044-BA60-E84FD1838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7645" y="3717032"/>
            <a:ext cx="2736304" cy="252343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42BBB7A-346F-4F9F-B97B-8689B0C94C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111" y="4492972"/>
            <a:ext cx="2920202" cy="102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672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13645C2-63FD-4C35-90E1-EF7F15065C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3542" y="3269859"/>
                <a:ext cx="3594790" cy="751495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=13⇒</m:t>
                      </m:r>
                      <m:sSub>
                        <m:sSub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PE" sz="2000" b="0" i="1" smtClean="0">
                              <a:latin typeface="Cambria Math" panose="02040503050406030204" pitchFamily="18" charset="0"/>
                            </a:rPr>
                            <m:t>04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=80.15</m:t>
                      </m:r>
                    </m:oMath>
                  </m:oMathPara>
                </a14:m>
                <a:endParaRPr lang="es-P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13645C2-63FD-4C35-90E1-EF7F15065C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3542" y="3269859"/>
                <a:ext cx="3594790" cy="75149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7DDA3B-C81D-4846-A88B-D92B62A5E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4429DE-82EF-46DF-8CEC-E6039B005539}" type="slidenum">
              <a:rPr lang="es-ES" smtClean="0"/>
              <a:pPr>
                <a:defRPr/>
              </a:pPr>
              <a:t>8</a:t>
            </a:fld>
            <a:endParaRPr lang="es-E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53FF737-7714-4F67-9019-6D00FD10F0D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5751"/>
          <a:stretch/>
        </p:blipFill>
        <p:spPr>
          <a:xfrm>
            <a:off x="1259632" y="617537"/>
            <a:ext cx="2448272" cy="239957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9803B9F-8108-4EAC-B4B1-B9E707B43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047" y="617537"/>
            <a:ext cx="2755423" cy="28114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Marcador de contenido 2">
                <a:extLst>
                  <a:ext uri="{FF2B5EF4-FFF2-40B4-BE49-F238E27FC236}">
                    <a16:creationId xmlns:a16="http://schemas.microsoft.com/office/drawing/2014/main" id="{D7C3C804-21D0-4805-B53D-1D0064CAEB1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788024" y="3356354"/>
                <a:ext cx="3792434" cy="7514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85750" indent="-285750" algn="l" defTabSz="457200" rtl="0" eaLnBrk="0" fontAlgn="base" hangingPunct="0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 panose="020B0604020202020204" pitchFamily="34" charset="0"/>
                  <a:buChar char="•"/>
                  <a:defRPr sz="2400" kern="120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0" fontAlgn="base" hangingPunct="0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 panose="020B0604020202020204" pitchFamily="34" charset="0"/>
                  <a:buChar char="•"/>
                  <a:defRPr sz="2000" kern="120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0" fontAlgn="base" hangingPunct="0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 panose="020B0604020202020204" pitchFamily="34" charset="0"/>
                  <a:buChar char="•"/>
                  <a:defRPr kern="120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0" fontAlgn="base" hangingPunct="0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 panose="020B0604020202020204" pitchFamily="34" charset="0"/>
                  <a:buChar char="•"/>
                  <a:defRPr sz="1600" kern="120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0" fontAlgn="base" hangingPunct="0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 panose="020B0604020202020204" pitchFamily="34" charset="0"/>
                  <a:buChar char="•"/>
                  <a:defRPr sz="1400" kern="120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=17⇒</m:t>
                      </m:r>
                      <m:sSub>
                        <m:sSub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1026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=60.35</m:t>
                      </m:r>
                    </m:oMath>
                  </m:oMathPara>
                </a14:m>
                <a:endParaRPr lang="es-PE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Marcador de contenido 2">
                <a:extLst>
                  <a:ext uri="{FF2B5EF4-FFF2-40B4-BE49-F238E27FC236}">
                    <a16:creationId xmlns:a16="http://schemas.microsoft.com/office/drawing/2014/main" id="{D7C3C804-21D0-4805-B53D-1D0064CAE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88024" y="3356354"/>
                <a:ext cx="3792434" cy="7514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Marcador de contenido 2">
                <a:extLst>
                  <a:ext uri="{FF2B5EF4-FFF2-40B4-BE49-F238E27FC236}">
                    <a16:creationId xmlns:a16="http://schemas.microsoft.com/office/drawing/2014/main" id="{B1C7A97B-34EC-43A0-941C-498756CA232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998295" y="4274102"/>
                <a:ext cx="6968753" cy="2016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85750" indent="-285750" algn="l" defTabSz="457200" rtl="0" eaLnBrk="0" fontAlgn="base" hangingPunct="0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 panose="020B0604020202020204" pitchFamily="34" charset="0"/>
                  <a:buChar char="•"/>
                  <a:defRPr sz="2400" kern="120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0" fontAlgn="base" hangingPunct="0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 panose="020B0604020202020204" pitchFamily="34" charset="0"/>
                  <a:buChar char="•"/>
                  <a:defRPr sz="2000" kern="120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0" fontAlgn="base" hangingPunct="0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 panose="020B0604020202020204" pitchFamily="34" charset="0"/>
                  <a:buChar char="•"/>
                  <a:defRPr kern="120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0" fontAlgn="base" hangingPunct="0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 panose="020B0604020202020204" pitchFamily="34" charset="0"/>
                  <a:buChar char="•"/>
                  <a:defRPr sz="1600" kern="120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0" fontAlgn="base" hangingPunct="0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 panose="020B0604020202020204" pitchFamily="34" charset="0"/>
                  <a:buChar char="•"/>
                  <a:defRPr sz="1400" kern="120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s-ES" sz="20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Entonces la media aritmética  general  es: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PE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  <m:r>
                      <a:rPr lang="es-ES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ES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acc>
                              <m:accPr>
                                <m:chr m:val="̅"/>
                                <m:ctrlPr>
                                  <a:rPr lang="es-E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" b="1" i="1" smtClean="0">
                                    <a:latin typeface="Cambria Math" panose="02040503050406030204" pitchFamily="18" charset="0"/>
                                  </a:rPr>
                                  <m:t>𝑿𝒊</m:t>
                                </m:r>
                              </m:e>
                            </m:acc>
                            <m:r>
                              <a:rPr lang="es-ES" b="1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s-ES" b="1" i="1" smtClean="0">
                                <a:latin typeface="Cambria Math" panose="02040503050406030204" pitchFamily="18" charset="0"/>
                              </a:rPr>
                              <m:t>𝒏𝒊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ES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s-ES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nary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den>
                    </m:f>
                    <m:r>
                      <a:rPr lang="es-ES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𝟖𝟎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𝟏𝟓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𝟏𝟑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𝟔𝟎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𝟑𝟓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𝟏𝟕</m:t>
                        </m:r>
                      </m:num>
                      <m:den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𝟏𝟑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𝟏𝟕</m:t>
                        </m:r>
                      </m:den>
                    </m:f>
                    <m:r>
                      <a:rPr lang="es-ES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𝟐𝟎𝟔𝟖</m:t>
                        </m:r>
                      </m:num>
                      <m:den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𝟑𝟎</m:t>
                        </m:r>
                      </m:den>
                    </m:f>
                  </m:oMath>
                </a14:m>
                <a:r>
                  <a:rPr lang="es-ES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es-ES" b="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68.93</a:t>
                </a:r>
                <a:endParaRPr lang="es-ES" sz="2000" b="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Marcador de contenido 2">
                <a:extLst>
                  <a:ext uri="{FF2B5EF4-FFF2-40B4-BE49-F238E27FC236}">
                    <a16:creationId xmlns:a16="http://schemas.microsoft.com/office/drawing/2014/main" id="{B1C7A97B-34EC-43A0-941C-498756CA2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8295" y="4274102"/>
                <a:ext cx="6968753" cy="2016224"/>
              </a:xfrm>
              <a:prstGeom prst="rect">
                <a:avLst/>
              </a:prstGeom>
              <a:blipFill>
                <a:blip r:embed="rId6"/>
                <a:stretch>
                  <a:fillRect l="-962" t="-120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/>
          <p:cNvSpPr txBox="1"/>
          <p:nvPr/>
        </p:nvSpPr>
        <p:spPr>
          <a:xfrm>
            <a:off x="1547664" y="2900526"/>
            <a:ext cx="2475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800" dirty="0">
                <a:latin typeface="Arial Narrow" panose="020B0606020202030204" pitchFamily="34" charset="0"/>
              </a:rPr>
              <a:t>            13        1042</a:t>
            </a:r>
          </a:p>
        </p:txBody>
      </p:sp>
    </p:spTree>
    <p:extLst>
      <p:ext uri="{BB962C8B-B14F-4D97-AF65-F5344CB8AC3E}">
        <p14:creationId xmlns:p14="http://schemas.microsoft.com/office/powerpoint/2010/main" val="1803572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633474" y="3120051"/>
                <a:ext cx="7898966" cy="312041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a) Calcular el promedio de cada especialidad de los egresados.</a:t>
                </a:r>
              </a:p>
              <a:p>
                <a:pPr marL="0" indent="0">
                  <a:buNone/>
                </a:pP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b) Calcular el promedio de todos los egresados</a:t>
                </a:r>
              </a:p>
              <a:p>
                <a:pPr marL="0" indent="0">
                  <a:buNone/>
                </a:pPr>
                <a:r>
                  <a:rPr lang="es-PE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SOL</a:t>
                </a:r>
              </a:p>
              <a:p>
                <a:pPr marL="457200" indent="-457200">
                  <a:buAutoNum type="alphaLcParenR"/>
                </a:pPr>
                <a:r>
                  <a:rPr lang="es-PE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Para marketing: </a:t>
                </a:r>
              </a:p>
              <a:p>
                <a:pPr marL="0" indent="0">
                  <a:buNone/>
                </a:pPr>
                <a:r>
                  <a:rPr lang="es-PE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𝑿</m:t>
                        </m:r>
                      </m:e>
                    </m:acc>
                    <m:r>
                      <a:rPr lang="es-PE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PE" sz="20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s-PE" sz="20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𝒙𝒊</m:t>
                            </m:r>
                          </m:e>
                        </m:nary>
                      </m:num>
                      <m:den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den>
                    </m:f>
                    <m:r>
                      <a:rPr lang="es-PE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𝟑𝟒</m:t>
                        </m:r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𝟒𝟓</m:t>
                        </m:r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+…+</m:t>
                        </m:r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𝟒𝟐</m:t>
                        </m:r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𝟒</m:t>
                        </m:r>
                      </m:num>
                      <m:den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𝟏𝟎</m:t>
                        </m:r>
                      </m:den>
                    </m:f>
                    <m:r>
                      <a:rPr lang="es-PE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PE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𝟑𝟔</m:t>
                    </m:r>
                    <m:r>
                      <a:rPr lang="es-PE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es-PE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𝟑𝟎</m:t>
                    </m:r>
                    <m:r>
                      <a:rPr lang="es-PE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PE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𝒅𝒐𝒍𝒂𝒓𝒆𝒔</m:t>
                    </m:r>
                  </m:oMath>
                </a14:m>
                <a:endParaRPr lang="es-PE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s-PE" sz="2000" b="1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Interp</a:t>
                </a:r>
                <a:r>
                  <a:rPr lang="es-PE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El sueldo inicial de los recién egresados de la especialidad de marketing es en promedio de 36.30 dólares</a:t>
                </a:r>
                <a:r>
                  <a:rPr lang="es-PE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s-PE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</a:p>
              <a:p>
                <a:pPr marL="0" indent="0">
                  <a:buNone/>
                </a:pPr>
                <a:endParaRPr lang="es-PE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3474" y="3120051"/>
                <a:ext cx="7898966" cy="3120412"/>
              </a:xfrm>
              <a:blipFill>
                <a:blip r:embed="rId2"/>
                <a:stretch>
                  <a:fillRect l="-926" t="-977" b="-253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4429DE-82EF-46DF-8CEC-E6039B005539}" type="slidenum">
              <a:rPr lang="es-ES" smtClean="0"/>
              <a:pPr>
                <a:defRPr/>
              </a:pPr>
              <a:t>9</a:t>
            </a:fld>
            <a:endParaRPr lang="es-ES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75" y="620688"/>
            <a:ext cx="7826957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748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611560" y="692696"/>
                <a:ext cx="7538925" cy="554776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a) Calcular el promedio de cada especialidad de los egresados.</a:t>
                </a:r>
              </a:p>
              <a:p>
                <a:pPr marL="0" indent="0">
                  <a:buNone/>
                </a:pP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b) Calcular el promedio de todos los egresados</a:t>
                </a:r>
              </a:p>
              <a:p>
                <a:pPr marL="0" indent="0">
                  <a:buNone/>
                </a:pPr>
                <a:r>
                  <a:rPr lang="es-PE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SOL</a:t>
                </a:r>
              </a:p>
              <a:p>
                <a:pPr marL="457200" indent="-457200">
                  <a:buAutoNum type="alphaLcParenR"/>
                </a:pPr>
                <a:r>
                  <a:rPr lang="es-PE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Para marketing: </a:t>
                </a:r>
              </a:p>
              <a:p>
                <a:pPr marL="0" indent="0">
                  <a:buNone/>
                </a:pPr>
                <a:r>
                  <a:rPr lang="es-PE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𝑿</m:t>
                        </m:r>
                      </m:e>
                    </m:acc>
                    <m:r>
                      <a:rPr lang="es-PE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PE" sz="20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s-PE" sz="20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𝒙𝒊</m:t>
                            </m:r>
                          </m:e>
                        </m:nary>
                      </m:num>
                      <m:den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den>
                    </m:f>
                    <m:r>
                      <a:rPr lang="es-PE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𝟑𝟒</m:t>
                        </m:r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𝟒𝟓</m:t>
                        </m:r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+…+</m:t>
                        </m:r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𝟒𝟐</m:t>
                        </m:r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𝟒</m:t>
                        </m:r>
                      </m:num>
                      <m:den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𝟏𝟎</m:t>
                        </m:r>
                      </m:den>
                    </m:f>
                    <m:r>
                      <a:rPr lang="es-PE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PE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𝟑𝟔</m:t>
                    </m:r>
                    <m:r>
                      <a:rPr lang="es-PE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es-PE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𝟑𝟎</m:t>
                    </m:r>
                    <m:r>
                      <a:rPr lang="es-PE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PE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𝒅𝒐𝒍𝒂𝒓𝒆𝒔</m:t>
                    </m:r>
                  </m:oMath>
                </a14:m>
                <a:endParaRPr lang="es-PE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s-PE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	Para contaduría:</a:t>
                </a:r>
              </a:p>
              <a:p>
                <a:pPr marL="0" indent="0">
                  <a:buNone/>
                </a:pPr>
                <a:r>
                  <a:rPr lang="es-PE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PE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s-PE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𝑿</m:t>
                        </m:r>
                      </m:e>
                    </m:acc>
                    <m:r>
                      <a:rPr lang="es-PE" sz="20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s-PE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PE" sz="2000" b="1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s-PE" sz="2000" b="1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𝒙𝒊</m:t>
                            </m:r>
                          </m:e>
                        </m:nary>
                      </m:num>
                      <m:den>
                        <m:r>
                          <a:rPr lang="es-PE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den>
                    </m:f>
                    <m:r>
                      <a:rPr lang="es-PE" sz="20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s-PE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s-PE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𝟓</m:t>
                        </m:r>
                        <m:r>
                          <a:rPr lang="es-PE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𝟓𝟕</m:t>
                        </m:r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  <m:r>
                          <a:rPr lang="es-PE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+…+</m:t>
                        </m:r>
                        <m:r>
                          <a:rPr lang="es-PE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𝟒𝟗</m:t>
                        </m:r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𝟗</m:t>
                        </m:r>
                      </m:num>
                      <m:den>
                        <m:r>
                          <a:rPr lang="es-PE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𝟏𝟔</m:t>
                        </m:r>
                      </m:den>
                    </m:f>
                    <m:r>
                      <a:rPr lang="es-PE" sz="20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PE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𝟒𝟓</m:t>
                    </m:r>
                    <m:r>
                      <a:rPr lang="es-PE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es-PE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𝟕𝟎</m:t>
                    </m:r>
                    <m:r>
                      <a:rPr lang="es-PE" sz="20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PE" sz="20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𝒅𝒐𝒍𝒂𝒓𝒆𝒔</m:t>
                    </m:r>
                  </m:oMath>
                </a14:m>
                <a:endParaRPr lang="es-PE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s-PE" sz="2000" b="1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Interp</a:t>
                </a:r>
                <a:r>
                  <a:rPr lang="es-PE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El sueldo inicial de los recién egresados de la especialidad de contaduría es en promedio de 45.70 dólares</a:t>
                </a:r>
                <a:r>
                  <a:rPr lang="es-PE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0" indent="0">
                  <a:buNone/>
                </a:pPr>
                <a:endParaRPr lang="es-PE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s-PE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s-PE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s-PE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1560" y="692696"/>
                <a:ext cx="7538925" cy="5547767"/>
              </a:xfrm>
              <a:blipFill>
                <a:blip r:embed="rId2"/>
                <a:stretch>
                  <a:fillRect l="-970" t="-549" r="-485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4429DE-82EF-46DF-8CEC-E6039B005539}" type="slidenum">
              <a:rPr lang="es-ES" smtClean="0"/>
              <a:pPr>
                <a:defRPr/>
              </a:pPr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7835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755576" y="1268760"/>
                <a:ext cx="7220024" cy="466690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PE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b) Para egresados:</a:t>
                </a:r>
              </a:p>
              <a:p>
                <a:pPr marL="0" indent="0">
                  <a:buNone/>
                </a:pPr>
                <a:endParaRPr lang="es-PE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PE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a:rPr lang="es-PE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</m:acc>
                      <m:r>
                        <a:rPr lang="es-PE" sz="20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s-PE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PE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acc>
                                <m:accPr>
                                  <m:chr m:val="̅"/>
                                  <m:ctrlPr>
                                    <a:rPr lang="es-PE" sz="2000" b="1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PE" sz="2000" b="1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𝒙𝒊</m:t>
                                  </m:r>
                                </m:e>
                              </m:acc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𝒏𝒊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𝒏𝒊</m:t>
                              </m:r>
                            </m:e>
                          </m:nary>
                        </m:den>
                      </m:f>
                      <m:r>
                        <a:rPr lang="es-PE" sz="20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s-PE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PE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es-PE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𝟔</m:t>
                          </m:r>
                          <m:r>
                            <a:rPr lang="es-PE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.</m:t>
                          </m:r>
                          <m:r>
                            <a:rPr lang="es-PE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𝟑𝟎</m:t>
                          </m:r>
                          <m:r>
                            <a:rPr lang="es-PE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  <m:r>
                            <a:rPr lang="es-PE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𝟏𝟎</m:t>
                          </m:r>
                          <m:r>
                            <a:rPr lang="es-PE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s-PE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𝟒𝟓</m:t>
                          </m:r>
                          <m:r>
                            <a:rPr lang="es-PE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.</m:t>
                          </m:r>
                          <m:r>
                            <a:rPr lang="es-PE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𝟕</m:t>
                          </m:r>
                          <m:r>
                            <a:rPr lang="es-PE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  <m:r>
                            <a:rPr lang="es-PE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𝟏𝟔</m:t>
                          </m:r>
                        </m:num>
                        <m:den>
                          <m:r>
                            <a:rPr lang="es-PE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𝟏𝟎</m:t>
                          </m:r>
                          <m:r>
                            <a:rPr lang="es-PE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s-PE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𝟏𝟔</m:t>
                          </m:r>
                        </m:den>
                      </m:f>
                      <m:r>
                        <a:rPr lang="es-PE" sz="20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𝟒𝟐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𝟎𝟖</m:t>
                      </m:r>
                      <m:r>
                        <a:rPr lang="es-PE" sz="20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PE" sz="20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𝒅𝒐𝒍𝒂𝒓𝒆𝒔</m:t>
                      </m:r>
                    </m:oMath>
                  </m:oMathPara>
                </a14:m>
                <a:endParaRPr lang="es-PE" dirty="0"/>
              </a:p>
              <a:p>
                <a:pPr marL="0" indent="0">
                  <a:buNone/>
                </a:pPr>
                <a:r>
                  <a:rPr lang="es-PE" sz="2000" b="1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Interp</a:t>
                </a:r>
                <a:r>
                  <a:rPr lang="es-PE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El sueldo inicial de todos los recién egresados es en promedio de 42.08 dólares</a:t>
                </a:r>
                <a:endParaRPr lang="es-PE" sz="2000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5576" y="1268760"/>
                <a:ext cx="7220024" cy="4666903"/>
              </a:xfrm>
              <a:blipFill>
                <a:blip r:embed="rId2"/>
                <a:stretch>
                  <a:fillRect l="-1351" t="-91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4429DE-82EF-46DF-8CEC-E6039B005539}" type="slidenum">
              <a:rPr lang="es-ES" smtClean="0"/>
              <a:pPr>
                <a:defRPr/>
              </a:pPr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8341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203E4EF-01EA-4C44-B64C-A2072DE873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5576" y="908720"/>
                <a:ext cx="7344816" cy="5026943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s-E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Propiedades</a:t>
                </a:r>
              </a:p>
              <a:p>
                <a:pPr marL="0" indent="0" algn="just">
                  <a:buNone/>
                </a:pPr>
                <a:endParaRPr lang="es-ES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Si todos los valores observados x1,x2,..xn son iguales a b(una constante), entonces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PE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X)=M(b)=b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Si a cada valor de las observaciones x1,x2,…</a:t>
                </a:r>
                <a:r>
                  <a:rPr lang="es-PE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xn</a:t>
                </a: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se le suma(o resta) una constante b; la media del nuevo conjunto </a:t>
                </a:r>
                <a:r>
                  <a:rPr lang="es-PE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yi</a:t>
                </a: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=xi ± b es la media aritmética del conjunto original mas(o menos) la constante; es decir: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PE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s-PE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endParaRPr lang="es-PE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Si a cada valor de las observaciones x1,x2,…</a:t>
                </a:r>
                <a:r>
                  <a:rPr lang="es-PE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xn</a:t>
                </a: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se le multiplica por una constante b diferente de cero; la media del nuevo conjunto </a:t>
                </a:r>
                <a:r>
                  <a:rPr lang="es-PE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yi</a:t>
                </a:r>
                <a:r>
                  <a:rPr lang="es-P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=a*xi es la media aritmética del conjunto original multiplicado por la constante; es decir: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PE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∗</m:t>
                    </m:r>
                    <m:acc>
                      <m:accPr>
                        <m:chr m:val="̅"/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endParaRPr lang="es-PE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s-PE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s-PE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203E4EF-01EA-4C44-B64C-A2072DE873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5576" y="908720"/>
                <a:ext cx="7344816" cy="5026943"/>
              </a:xfrm>
              <a:blipFill>
                <a:blip r:embed="rId2"/>
                <a:stretch>
                  <a:fillRect l="-996" t="-485" r="-83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7704A7-7DAE-48B0-9905-F8933B86D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4429DE-82EF-46DF-8CEC-E6039B005539}" type="slidenum">
              <a:rPr lang="es-ES" smtClean="0"/>
              <a:pPr>
                <a:defRPr/>
              </a:pPr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1124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Marcador de contenido 2"/>
          <p:cNvSpPr>
            <a:spLocks noGrp="1"/>
          </p:cNvSpPr>
          <p:nvPr>
            <p:ph idx="1"/>
          </p:nvPr>
        </p:nvSpPr>
        <p:spPr>
          <a:xfrm>
            <a:off x="811213" y="692150"/>
            <a:ext cx="7505700" cy="5689178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PE" sz="1800" b="1" dirty="0">
                <a:latin typeface="Arial" panose="020B0604020202020204" pitchFamily="34" charset="0"/>
                <a:cs typeface="Arial" panose="020B0604020202020204" pitchFamily="34" charset="0"/>
              </a:rPr>
              <a:t>Ventajas: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La media aritmética es única; ya que cada conjunto de datos referente a una característica tiene una y solo una media.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Para su calculo se toma en cuenta cada observación del conjunto de datos, entonces el resultado es mas confiable.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Para poblaciones normales o casi normales es la medida mas confiable.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La media es una medida de confianza, porque se determina con mayor certeza que otras características de un conjunto de datos.</a:t>
            </a:r>
          </a:p>
          <a:p>
            <a:pPr marL="0" indent="0">
              <a:buClr>
                <a:schemeClr val="tx1"/>
              </a:buClr>
              <a:buFont typeface="Arial" panose="020B0604020202020204" pitchFamily="34" charset="0"/>
              <a:buNone/>
              <a:defRPr/>
            </a:pPr>
            <a:endParaRPr lang="es-PE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>
                <a:schemeClr val="tx1"/>
              </a:buClr>
              <a:buFont typeface="Arial" panose="020B0604020202020204" pitchFamily="34" charset="0"/>
              <a:buNone/>
              <a:defRPr/>
            </a:pPr>
            <a:r>
              <a:rPr lang="es-PE" sz="1800" b="1" dirty="0">
                <a:latin typeface="Arial" panose="020B0604020202020204" pitchFamily="34" charset="0"/>
                <a:cs typeface="Arial" panose="020B0604020202020204" pitchFamily="34" charset="0"/>
              </a:rPr>
              <a:t>Desventajas: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La media puede verse afectada por valores extremos que no son representativos del resto de las observaciones.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No se puede calcular la media para un conjunto de datos que tiene intervalos de clases abiertos en los extremos.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913A68-D9B4-4595-9303-FCC3B6A6884D}" type="slidenum">
              <a:rPr lang="es-ES" smtClean="0"/>
              <a:pPr>
                <a:defRPr/>
              </a:pPr>
              <a:t>13</a:t>
            </a:fld>
            <a:endParaRPr lang="es-E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Marcador de contenido 2"/>
          <p:cNvSpPr>
            <a:spLocks noGrp="1"/>
          </p:cNvSpPr>
          <p:nvPr>
            <p:ph idx="1"/>
          </p:nvPr>
        </p:nvSpPr>
        <p:spPr>
          <a:xfrm>
            <a:off x="899592" y="980727"/>
            <a:ext cx="7344816" cy="4752529"/>
          </a:xfrm>
        </p:spPr>
        <p:txBody>
          <a:bodyPr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s-PE" altLang="es-PE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MEDIANA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Dado un conjunto de “n” observaciones x1,x2,x3,…,</a:t>
            </a:r>
            <a:r>
              <a:rPr lang="es-PE" altLang="es-PE" sz="2000" dirty="0" err="1">
                <a:latin typeface="Arial" panose="020B0604020202020204" pitchFamily="34" charset="0"/>
                <a:cs typeface="Arial" panose="020B0604020202020204" pitchFamily="34" charset="0"/>
              </a:rPr>
              <a:t>xn</a:t>
            </a: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 de la variable “x”, se define la mediana de este conjunto de valores como aquel valor que no es superado ni supera a mas de la mitad de las “n” observaciones.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Aquel valor de la variable que divide al conjunto de datos en dos partes iguales. Se denota por Me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PE" alt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				         </a:t>
            </a:r>
            <a:endParaRPr lang="es-PE" alt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B974E4-F70B-4247-AB4F-23915399852A}" type="slidenum">
              <a:rPr lang="es-ES" smtClean="0"/>
              <a:pPr>
                <a:defRPr/>
              </a:pPr>
              <a:t>14</a:t>
            </a:fld>
            <a:endParaRPr lang="es-E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873602-39D3-4CC7-BFDA-58047476F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836711"/>
            <a:ext cx="7344815" cy="5403752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400" b="1" dirty="0">
                <a:latin typeface="Arial" panose="020B0604020202020204" pitchFamily="34" charset="0"/>
                <a:cs typeface="Arial" panose="020B0604020202020204" pitchFamily="34" charset="0"/>
              </a:rPr>
              <a:t>a) Para datos no tabulados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s-PE" altLang="es-PE" sz="2200" dirty="0">
                <a:latin typeface="Arial" panose="020B0604020202020204" pitchFamily="34" charset="0"/>
                <a:cs typeface="Arial" panose="020B0604020202020204" pitchFamily="34" charset="0"/>
              </a:rPr>
              <a:t>P1 : Ordenar las observaciones en forma ascendente (descendente)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s-PE" altLang="es-PE" sz="2200" dirty="0">
                <a:latin typeface="Arial" panose="020B0604020202020204" pitchFamily="34" charset="0"/>
                <a:cs typeface="Arial" panose="020B0604020202020204" pitchFamily="34" charset="0"/>
              </a:rPr>
              <a:t>P2: Se presentan 2 casos: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s-PE" altLang="es-PE" sz="2200" dirty="0">
                <a:latin typeface="Arial" panose="020B0604020202020204" pitchFamily="34" charset="0"/>
                <a:cs typeface="Arial" panose="020B0604020202020204" pitchFamily="34" charset="0"/>
              </a:rPr>
              <a:t>P2.1</a:t>
            </a:r>
            <a:r>
              <a:rPr lang="es-PE" altLang="es-PE" sz="2200" b="1" dirty="0">
                <a:latin typeface="Arial" panose="020B0604020202020204" pitchFamily="34" charset="0"/>
                <a:cs typeface="Arial" panose="020B0604020202020204" pitchFamily="34" charset="0"/>
              </a:rPr>
              <a:t>: Si “n” es impar: </a:t>
            </a:r>
            <a:r>
              <a:rPr lang="es-PE" altLang="es-PE" sz="2200" dirty="0">
                <a:latin typeface="Arial" panose="020B0604020202020204" pitchFamily="34" charset="0"/>
                <a:cs typeface="Arial" panose="020B0604020202020204" pitchFamily="34" charset="0"/>
              </a:rPr>
              <a:t>La mediana es el valor que ocupa la posición central; es decir: Me= x </a:t>
            </a:r>
            <a:r>
              <a:rPr lang="es-PE" altLang="es-PE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(n+1)/2</a:t>
            </a:r>
            <a:r>
              <a:rPr lang="es-PE" altLang="es-PE" sz="22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PE" altLang="es-PE" sz="2200" dirty="0" err="1">
                <a:latin typeface="Arial" panose="020B0604020202020204" pitchFamily="34" charset="0"/>
                <a:cs typeface="Arial" panose="020B0604020202020204" pitchFamily="34" charset="0"/>
              </a:rPr>
              <a:t>Ej</a:t>
            </a:r>
            <a:r>
              <a:rPr lang="es-PE" altLang="es-PE" sz="2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s-PE" altLang="es-PE" sz="2200" dirty="0">
                <a:latin typeface="Arial" panose="020B0604020202020204" pitchFamily="34" charset="0"/>
                <a:cs typeface="Arial" panose="020B0604020202020204" pitchFamily="34" charset="0"/>
              </a:rPr>
              <a:t>Se tiene las </a:t>
            </a:r>
            <a:r>
              <a:rPr lang="es-PE" altLang="es-PE" sz="2200" dirty="0" err="1">
                <a:latin typeface="Arial" panose="020B0604020202020204" pitchFamily="34" charset="0"/>
                <a:cs typeface="Arial" panose="020B0604020202020204" pitchFamily="34" charset="0"/>
              </a:rPr>
              <a:t>sgtes</a:t>
            </a:r>
            <a:r>
              <a:rPr lang="es-PE" altLang="es-PE" sz="2200" dirty="0">
                <a:latin typeface="Arial" panose="020B0604020202020204" pitchFamily="34" charset="0"/>
                <a:cs typeface="Arial" panose="020B0604020202020204" pitchFamily="34" charset="0"/>
              </a:rPr>
              <a:t> observaciones: 22,25,15,18,30 . Calcular la Me.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s-PE" altLang="es-PE" sz="2200" b="1" dirty="0">
                <a:latin typeface="Arial" panose="020B0604020202020204" pitchFamily="34" charset="0"/>
                <a:cs typeface="Arial" panose="020B0604020202020204" pitchFamily="34" charset="0"/>
              </a:rPr>
              <a:t>Sol :                   n=5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s-PE" altLang="es-PE" sz="2200" dirty="0">
                <a:latin typeface="Arial" panose="020B0604020202020204" pitchFamily="34" charset="0"/>
                <a:cs typeface="Arial" panose="020B0604020202020204" pitchFamily="34" charset="0"/>
              </a:rPr>
              <a:t>P1 : Ordenar: 15,18,22,25,30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s-PE" altLang="es-PE" sz="2200" dirty="0">
                <a:latin typeface="Arial" panose="020B0604020202020204" pitchFamily="34" charset="0"/>
                <a:cs typeface="Arial" panose="020B0604020202020204" pitchFamily="34" charset="0"/>
              </a:rPr>
              <a:t>P2 : Me= x </a:t>
            </a:r>
            <a:r>
              <a:rPr lang="es-PE" altLang="es-PE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(n+1)/2</a:t>
            </a:r>
            <a:r>
              <a:rPr lang="es-PE" altLang="es-PE" sz="2200" dirty="0">
                <a:latin typeface="Arial" panose="020B0604020202020204" pitchFamily="34" charset="0"/>
                <a:cs typeface="Arial" panose="020B0604020202020204" pitchFamily="34" charset="0"/>
              </a:rPr>
              <a:t> =  x </a:t>
            </a:r>
            <a:r>
              <a:rPr lang="es-PE" altLang="es-PE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(5+1)/2</a:t>
            </a:r>
            <a:r>
              <a:rPr lang="es-PE" altLang="es-PE" sz="2200" dirty="0">
                <a:latin typeface="Arial" panose="020B0604020202020204" pitchFamily="34" charset="0"/>
                <a:cs typeface="Arial" panose="020B0604020202020204" pitchFamily="34" charset="0"/>
              </a:rPr>
              <a:t> = x </a:t>
            </a:r>
            <a:r>
              <a:rPr lang="es-PE" altLang="es-PE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PE" altLang="es-PE" sz="2200" dirty="0">
                <a:latin typeface="Arial" panose="020B0604020202020204" pitchFamily="34" charset="0"/>
                <a:cs typeface="Arial" panose="020B0604020202020204" pitchFamily="34" charset="0"/>
              </a:rPr>
              <a:t> =&gt; Me=22</a:t>
            </a:r>
            <a:endParaRPr lang="es-PE" sz="22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C86074-80B5-48A7-A599-0172EF8EA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4429DE-82EF-46DF-8CEC-E6039B005539}" type="slidenum">
              <a:rPr lang="es-ES" smtClean="0"/>
              <a:pPr>
                <a:defRPr/>
              </a:pPr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1882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Marcador de contenido 2"/>
          <p:cNvSpPr>
            <a:spLocks noGrp="1"/>
          </p:cNvSpPr>
          <p:nvPr>
            <p:ph idx="1"/>
          </p:nvPr>
        </p:nvSpPr>
        <p:spPr>
          <a:xfrm>
            <a:off x="684213" y="1557338"/>
            <a:ext cx="7775575" cy="4683125"/>
          </a:xfrm>
        </p:spPr>
        <p:txBody>
          <a:bodyPr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s-PE" altLang="es-PE" sz="2200" dirty="0">
                <a:latin typeface="Arial" panose="020B0604020202020204" pitchFamily="34" charset="0"/>
                <a:cs typeface="Arial" panose="020B0604020202020204" pitchFamily="34" charset="0"/>
              </a:rPr>
              <a:t>P2.2: </a:t>
            </a:r>
            <a:r>
              <a:rPr lang="es-PE" altLang="es-PE" sz="2200" b="1" dirty="0">
                <a:latin typeface="Arial" panose="020B0604020202020204" pitchFamily="34" charset="0"/>
                <a:cs typeface="Arial" panose="020B0604020202020204" pitchFamily="34" charset="0"/>
              </a:rPr>
              <a:t>Si “n” es par: </a:t>
            </a:r>
            <a:r>
              <a:rPr lang="es-PE" altLang="es-PE" sz="2200" dirty="0">
                <a:latin typeface="Arial" panose="020B0604020202020204" pitchFamily="34" charset="0"/>
                <a:cs typeface="Arial" panose="020B0604020202020204" pitchFamily="34" charset="0"/>
              </a:rPr>
              <a:t>La mediana es la semisuma de los valores centrales central; es decir: Me= x </a:t>
            </a:r>
            <a:r>
              <a:rPr lang="es-PE" altLang="es-PE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n/2</a:t>
            </a:r>
            <a:r>
              <a:rPr lang="es-PE" altLang="es-PE" sz="2200" dirty="0">
                <a:latin typeface="Arial" panose="020B0604020202020204" pitchFamily="34" charset="0"/>
                <a:cs typeface="Arial" panose="020B0604020202020204" pitchFamily="34" charset="0"/>
              </a:rPr>
              <a:t> + x </a:t>
            </a:r>
            <a:r>
              <a:rPr lang="es-PE" altLang="es-PE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n/2 + 1</a:t>
            </a:r>
            <a:r>
              <a:rPr lang="es-PE" altLang="es-PE" sz="22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s-PE" altLang="es-PE" sz="2200" dirty="0" err="1">
                <a:latin typeface="Arial" panose="020B0604020202020204" pitchFamily="34" charset="0"/>
                <a:cs typeface="Arial" panose="020B0604020202020204" pitchFamily="34" charset="0"/>
              </a:rPr>
              <a:t>Ej</a:t>
            </a:r>
            <a:r>
              <a:rPr lang="es-PE" altLang="es-PE" sz="2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s-PE" altLang="es-PE" sz="22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200" dirty="0">
                <a:latin typeface="Arial" panose="020B0604020202020204" pitchFamily="34" charset="0"/>
                <a:cs typeface="Arial" panose="020B0604020202020204" pitchFamily="34" charset="0"/>
              </a:rPr>
              <a:t>Sean las  observaciones: 43,51,37,39,19,24,27,62. Hallar la Me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200" b="1" dirty="0">
                <a:latin typeface="Arial" panose="020B0604020202020204" pitchFamily="34" charset="0"/>
                <a:cs typeface="Arial" panose="020B0604020202020204" pitchFamily="34" charset="0"/>
              </a:rPr>
              <a:t>Sol :       </a:t>
            </a:r>
            <a:r>
              <a:rPr lang="es-PE" altLang="es-PE" sz="2200" dirty="0">
                <a:latin typeface="Arial" panose="020B0604020202020204" pitchFamily="34" charset="0"/>
                <a:cs typeface="Arial" panose="020B0604020202020204" pitchFamily="34" charset="0"/>
              </a:rPr>
              <a:t>n=8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200" dirty="0">
                <a:latin typeface="Arial" panose="020B0604020202020204" pitchFamily="34" charset="0"/>
                <a:cs typeface="Arial" panose="020B0604020202020204" pitchFamily="34" charset="0"/>
              </a:rPr>
              <a:t>P1 : Ordenar: 19,24,27,37,39,43,51,62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s-PE" altLang="es-PE" sz="2200" dirty="0">
                <a:latin typeface="Arial" panose="020B0604020202020204" pitchFamily="34" charset="0"/>
                <a:cs typeface="Arial" panose="020B0604020202020204" pitchFamily="34" charset="0"/>
              </a:rPr>
              <a:t>P2 : Me= x </a:t>
            </a:r>
            <a:r>
              <a:rPr lang="es-PE" altLang="es-PE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8/2</a:t>
            </a:r>
            <a:r>
              <a:rPr lang="es-PE" altLang="es-PE" sz="2200" dirty="0">
                <a:latin typeface="Arial" panose="020B0604020202020204" pitchFamily="34" charset="0"/>
                <a:cs typeface="Arial" panose="020B0604020202020204" pitchFamily="34" charset="0"/>
              </a:rPr>
              <a:t> + x </a:t>
            </a:r>
            <a:r>
              <a:rPr lang="es-PE" altLang="es-PE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8/2 + 1 </a:t>
            </a:r>
            <a:r>
              <a:rPr lang="es-PE" altLang="es-PE" sz="2200" dirty="0">
                <a:latin typeface="Arial" panose="020B0604020202020204" pitchFamily="34" charset="0"/>
                <a:cs typeface="Arial" panose="020B0604020202020204" pitchFamily="34" charset="0"/>
              </a:rPr>
              <a:t> = x </a:t>
            </a:r>
            <a:r>
              <a:rPr lang="es-PE" altLang="es-PE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PE" altLang="es-PE" sz="2200" dirty="0">
                <a:latin typeface="Arial" panose="020B0604020202020204" pitchFamily="34" charset="0"/>
                <a:cs typeface="Arial" panose="020B0604020202020204" pitchFamily="34" charset="0"/>
              </a:rPr>
              <a:t> + x </a:t>
            </a:r>
            <a:r>
              <a:rPr lang="es-PE" altLang="es-PE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5  </a:t>
            </a:r>
            <a:r>
              <a:rPr lang="es-PE" altLang="es-PE" sz="2200" dirty="0">
                <a:latin typeface="Arial" panose="020B0604020202020204" pitchFamily="34" charset="0"/>
                <a:cs typeface="Arial" panose="020B0604020202020204" pitchFamily="34" charset="0"/>
              </a:rPr>
              <a:t>= 37+39 =&gt; Me= 38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s-PE" altLang="es-PE" sz="22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2                     2              2           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s-PE" altLang="es-PE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E0139-ED09-467A-BB71-3295409330C4}" type="slidenum">
              <a:rPr lang="es-ES" smtClean="0"/>
              <a:pPr>
                <a:defRPr/>
              </a:pPr>
              <a:t>16</a:t>
            </a:fld>
            <a:endParaRPr lang="es-ES"/>
          </a:p>
        </p:txBody>
      </p:sp>
      <p:cxnSp>
        <p:nvCxnSpPr>
          <p:cNvPr id="3" name="Conector recto 2"/>
          <p:cNvCxnSpPr/>
          <p:nvPr/>
        </p:nvCxnSpPr>
        <p:spPr>
          <a:xfrm>
            <a:off x="5796136" y="2348880"/>
            <a:ext cx="15113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/>
          <p:cNvCxnSpPr/>
          <p:nvPr/>
        </p:nvCxnSpPr>
        <p:spPr>
          <a:xfrm>
            <a:off x="2195512" y="4725144"/>
            <a:ext cx="15128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/>
          <p:cNvCxnSpPr/>
          <p:nvPr/>
        </p:nvCxnSpPr>
        <p:spPr>
          <a:xfrm>
            <a:off x="3918262" y="4725144"/>
            <a:ext cx="863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/>
          <p:cNvCxnSpPr>
            <a:cxnSpLocks/>
          </p:cNvCxnSpPr>
          <p:nvPr/>
        </p:nvCxnSpPr>
        <p:spPr>
          <a:xfrm>
            <a:off x="5219873" y="4725144"/>
            <a:ext cx="79228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Marcador de contenido 2"/>
          <p:cNvSpPr>
            <a:spLocks noGrp="1"/>
          </p:cNvSpPr>
          <p:nvPr>
            <p:ph idx="1"/>
          </p:nvPr>
        </p:nvSpPr>
        <p:spPr>
          <a:xfrm>
            <a:off x="611188" y="620713"/>
            <a:ext cx="7777162" cy="5619750"/>
          </a:xfrm>
        </p:spPr>
        <p:txBody>
          <a:bodyPr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es-PE" alt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b) Para datos tabulados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es-PE" alt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b.1) Variable discreta </a:t>
            </a: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P1:Calcular las frecuencias absolutas acumuladas menor que</a:t>
            </a: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P2: Determinar la menor de las frecuencias absolutas acumuladas Fi; tal que:  Fi &gt; n/2  , donde   </a:t>
            </a:r>
            <a:r>
              <a:rPr lang="es-PE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PE" sz="18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r>
              <a:rPr lang="es-PE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≤ n/2 &lt; Fi ; se puede presentar 2 casos:</a:t>
            </a: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r>
              <a:rPr lang="es-P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i) Si n/2= F</a:t>
            </a:r>
            <a:r>
              <a:rPr lang="es-PE" sz="18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r>
              <a:rPr lang="es-P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, entonces la  Me= </a:t>
            </a:r>
            <a:r>
              <a:rPr lang="es-PE" sz="1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s-PE" sz="1800" b="1" baseline="-25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PE" sz="18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1 </a:t>
            </a:r>
            <a:r>
              <a:rPr lang="es-P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s-PE" sz="1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s-PE" sz="1800" b="1" baseline="-25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PE" sz="18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       								</a:t>
            </a:r>
            <a:r>
              <a:rPr lang="es-P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PE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Tx/>
              <a:buFont typeface="Wingdings" panose="05000000000000000000" pitchFamily="2" charset="2"/>
              <a:buChar char="Ø"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s-PE" sz="20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40393B-E992-4745-A826-50AAD3AB5167}" type="slidenum">
              <a:rPr lang="es-ES" smtClean="0"/>
              <a:pPr>
                <a:defRPr/>
              </a:pPr>
              <a:t>17</a:t>
            </a:fld>
            <a:endParaRPr lang="es-ES"/>
          </a:p>
        </p:txBody>
      </p:sp>
      <p:graphicFrame>
        <p:nvGraphicFramePr>
          <p:cNvPr id="5" name="Tabla 4"/>
          <p:cNvGraphicFramePr>
            <a:graphicFrameLocks noGrp="1"/>
          </p:cNvGraphicFramePr>
          <p:nvPr/>
        </p:nvGraphicFramePr>
        <p:xfrm>
          <a:off x="1293813" y="2924175"/>
          <a:ext cx="5543550" cy="3475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104"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Yi</a:t>
                      </a:r>
                    </a:p>
                  </a:txBody>
                  <a:tcPr marL="91429" marR="91429" marT="45699" marB="45699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</a:p>
                  </a:txBody>
                  <a:tcPr marL="91429" marR="91429" marT="45699" marB="45699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</a:p>
                  </a:txBody>
                  <a:tcPr marL="91429" marR="91429" marT="45699" marB="45699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934">
                <a:tc>
                  <a:txBody>
                    <a:bodyPr/>
                    <a:lstStyle/>
                    <a:p>
                      <a:r>
                        <a:rPr lang="es-PE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r>
                        <a:rPr lang="es-PE" sz="1800" b="1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</a:p>
                    <a:p>
                      <a:r>
                        <a:rPr lang="es-PE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r>
                        <a:rPr lang="es-PE" sz="1800" b="1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r>
                        <a:rPr lang="es-PE" sz="1800" b="1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s-PE" sz="1800" b="1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– 1 </a:t>
                      </a:r>
                    </a:p>
                    <a:p>
                      <a:r>
                        <a:rPr lang="es-PE" sz="18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r>
                        <a:rPr lang="es-PE" sz="1800" b="1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r>
                        <a:rPr lang="es-PE" sz="1800" b="1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9" marR="91429" marT="45699" marB="45699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f1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f2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i-1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fm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9" marR="91429" marT="45699" marB="45699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F1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F2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i-1</a:t>
                      </a: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=n/2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9" marR="91429" marT="45699" marB="45699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" name="Conector recto 5"/>
          <p:cNvCxnSpPr/>
          <p:nvPr/>
        </p:nvCxnSpPr>
        <p:spPr>
          <a:xfrm>
            <a:off x="4067175" y="2708275"/>
            <a:ext cx="100965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Marcador de contenido 2"/>
          <p:cNvSpPr>
            <a:spLocks noGrp="1"/>
          </p:cNvSpPr>
          <p:nvPr>
            <p:ph idx="1"/>
          </p:nvPr>
        </p:nvSpPr>
        <p:spPr>
          <a:xfrm>
            <a:off x="684213" y="836613"/>
            <a:ext cx="7704137" cy="3444875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ii) Si n/2 &gt;F</a:t>
            </a:r>
            <a:r>
              <a:rPr lang="es-PE" altLang="es-PE" sz="20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r>
              <a:rPr lang="es-PE" altLang="es-PE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, entonces </a:t>
            </a:r>
            <a:endParaRPr lang="es-PE" altLang="es-PE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Me= y</a:t>
            </a:r>
            <a:r>
              <a:rPr lang="es-PE" altLang="es-PE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s-PE" altLang="es-PE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PE" alt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605F89-8560-4026-9D69-C0799A03C4DC}" type="slidenum">
              <a:rPr lang="es-ES" smtClean="0"/>
              <a:pPr>
                <a:defRPr/>
              </a:pPr>
              <a:t>18</a:t>
            </a:fld>
            <a:endParaRPr lang="es-ES"/>
          </a:p>
        </p:txBody>
      </p:sp>
      <p:graphicFrame>
        <p:nvGraphicFramePr>
          <p:cNvPr id="5" name="Tabla 4"/>
          <p:cNvGraphicFramePr>
            <a:graphicFrameLocks noGrp="1"/>
          </p:cNvGraphicFramePr>
          <p:nvPr/>
        </p:nvGraphicFramePr>
        <p:xfrm>
          <a:off x="1116013" y="2060575"/>
          <a:ext cx="5659437" cy="3475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64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64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104"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                   Yi</a:t>
                      </a:r>
                    </a:p>
                  </a:txBody>
                  <a:tcPr marL="91431" marR="91431" marT="45699" marB="45699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</a:p>
                  </a:txBody>
                  <a:tcPr marL="91431" marR="91431" marT="45699" marB="45699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</a:p>
                  </a:txBody>
                  <a:tcPr marL="91431" marR="91431" marT="45699" marB="45699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934">
                <a:tc>
                  <a:txBody>
                    <a:bodyPr/>
                    <a:lstStyle/>
                    <a:p>
                      <a:r>
                        <a:rPr lang="es-PE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r>
                        <a:rPr lang="es-PE" sz="1800" b="1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</a:p>
                    <a:p>
                      <a:r>
                        <a:rPr lang="es-PE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r>
                        <a:rPr lang="es-PE" sz="1800" b="1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r>
                        <a:rPr lang="es-PE" sz="1800" b="1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s-PE" sz="1800" b="1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– 1 </a:t>
                      </a:r>
                    </a:p>
                    <a:p>
                      <a:r>
                        <a:rPr lang="es-PE" sz="18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r>
                        <a:rPr lang="es-PE" sz="1800" b="1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r>
                        <a:rPr lang="es-PE" sz="1800" b="1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1" marR="91431" marT="45699" marB="45699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f1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f2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i-1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fm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1" marR="91431" marT="45699" marB="45699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F1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F2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i-1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1" marR="91431" marT="45699" marB="45699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642" name="CuadroTexto 1"/>
          <p:cNvSpPr txBox="1">
            <a:spLocks noChangeArrowheads="1"/>
          </p:cNvSpPr>
          <p:nvPr/>
        </p:nvSpPr>
        <p:spPr bwMode="auto">
          <a:xfrm>
            <a:off x="5292725" y="3943350"/>
            <a:ext cx="9366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r>
              <a:rPr lang="es-PE" altLang="es-PE" sz="1600">
                <a:latin typeface="Arial" panose="020B0604020202020204" pitchFamily="34" charset="0"/>
                <a:cs typeface="Arial" panose="020B0604020202020204" pitchFamily="34" charset="0"/>
              </a:rPr>
              <a:t>n/2&gt;F</a:t>
            </a:r>
            <a:r>
              <a:rPr lang="es-PE" altLang="es-PE" sz="1600" baseline="-25000"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endParaRPr lang="es-PE" altLang="es-P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Marcador de contenido 2"/>
          <p:cNvSpPr>
            <a:spLocks noGrp="1"/>
          </p:cNvSpPr>
          <p:nvPr>
            <p:ph idx="1"/>
          </p:nvPr>
        </p:nvSpPr>
        <p:spPr>
          <a:xfrm>
            <a:off x="684213" y="604754"/>
            <a:ext cx="7553325" cy="5848581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s-MX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Ej</a:t>
            </a:r>
            <a:r>
              <a:rPr lang="es-MX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1: La siguiente información representa el numero de hijos por familia. Calcular la mediana.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						</a:t>
            </a:r>
            <a:r>
              <a:rPr lang="es-MX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Sol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						P1: Hallar Fi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						</a:t>
            </a:r>
            <a:r>
              <a:rPr lang="es-MX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P2: n/2=8 &gt; F</a:t>
            </a:r>
            <a:r>
              <a:rPr lang="es-MX" altLang="en-US" sz="20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i-1 </a:t>
            </a:r>
            <a:r>
              <a:rPr lang="es-MX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7 =&gt;</a:t>
            </a:r>
            <a:endParaRPr lang="es-MX" altLang="en-US" sz="2000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s-MX" altLang="en-US" sz="20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			</a:t>
            </a:r>
            <a:r>
              <a:rPr lang="es-MX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 = 2 hijos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MX" alt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s-MX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		</a:t>
            </a:r>
            <a:r>
              <a:rPr lang="es-MX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Ej2: La tabla se refiere al numero de 								consultas de las personas que 	acuden a un 							centro de salud. 	Determinar la Me</a:t>
            </a:r>
            <a:r>
              <a:rPr lang="es-MX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		      </a:t>
            </a:r>
            <a:r>
              <a:rPr lang="es-MX" alt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alt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			</a:t>
            </a:r>
            <a:r>
              <a:rPr lang="es-MX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P1: Hallar Fi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						</a:t>
            </a:r>
            <a:r>
              <a:rPr lang="es-MX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P2: n/2=20 = F</a:t>
            </a:r>
            <a:r>
              <a:rPr lang="es-MX" altLang="en-US" sz="20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i-1 </a:t>
            </a:r>
            <a:r>
              <a:rPr lang="es-MX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20 =&gt;</a:t>
            </a:r>
            <a:endParaRPr lang="es-MX" altLang="en-US" sz="2000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MX" altLang="en-US" sz="20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		</a:t>
            </a:r>
            <a:r>
              <a:rPr lang="es-MX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 =</a:t>
            </a:r>
            <a:r>
              <a:rPr lang="es-P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s-PE" sz="2000" b="1" baseline="-25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PE" sz="2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1 </a:t>
            </a:r>
            <a:r>
              <a:rPr lang="es-P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s-PE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s-PE" sz="2000" b="1" baseline="-25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PE" sz="2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= </a:t>
            </a:r>
            <a:r>
              <a:rPr lang="es-PE" sz="28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4+5/2= 4.5  consultas                                                                                                      </a:t>
            </a:r>
            <a:r>
              <a:rPr lang="es-PE" sz="2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				 </a:t>
            </a:r>
            <a:r>
              <a:rPr lang="es-P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alt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CAF742-8D76-4F15-A34D-A4D8558513B0}" type="slidenum">
              <a:rPr lang="es-ES" smtClean="0"/>
              <a:pPr>
                <a:defRPr/>
              </a:pPr>
              <a:t>19</a:t>
            </a:fld>
            <a:endParaRPr lang="es-ES"/>
          </a:p>
        </p:txBody>
      </p:sp>
      <p:graphicFrame>
        <p:nvGraphicFramePr>
          <p:cNvPr id="6" name="Tabla 5"/>
          <p:cNvGraphicFramePr>
            <a:graphicFrameLocks noGrp="1"/>
          </p:cNvGraphicFramePr>
          <p:nvPr/>
        </p:nvGraphicFramePr>
        <p:xfrm>
          <a:off x="763588" y="1260475"/>
          <a:ext cx="2655886" cy="2194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043">
                  <a:extLst>
                    <a:ext uri="{9D8B030D-6E8A-4147-A177-3AD203B41FA5}">
                      <a16:colId xmlns:a16="http://schemas.microsoft.com/office/drawing/2014/main" val="1491207757"/>
                    </a:ext>
                  </a:extLst>
                </a:gridCol>
                <a:gridCol w="924797">
                  <a:extLst>
                    <a:ext uri="{9D8B030D-6E8A-4147-A177-3AD203B41FA5}">
                      <a16:colId xmlns:a16="http://schemas.microsoft.com/office/drawing/2014/main" val="192627737"/>
                    </a:ext>
                  </a:extLst>
                </a:gridCol>
                <a:gridCol w="909046">
                  <a:extLst>
                    <a:ext uri="{9D8B030D-6E8A-4147-A177-3AD203B41FA5}">
                      <a16:colId xmlns:a16="http://schemas.microsoft.com/office/drawing/2014/main" val="1862665325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r>
                        <a:rPr lang="es-MX" sz="1800" b="1" dirty="0" err="1">
                          <a:solidFill>
                            <a:schemeClr val="tx1"/>
                          </a:solidFill>
                        </a:rPr>
                        <a:t>Yi</a:t>
                      </a:r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71968" marR="91399" marT="45707" marB="45707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>
                          <a:solidFill>
                            <a:schemeClr val="tx1"/>
                          </a:solidFill>
                        </a:rPr>
                        <a:t>fi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71968" marR="91399" marT="45707" marB="45707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>
                          <a:solidFill>
                            <a:srgbClr val="FF0000"/>
                          </a:solidFill>
                        </a:rPr>
                        <a:t>Fi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71968" marR="91399" marT="45707" marB="45707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212036"/>
                  </a:ext>
                </a:extLst>
              </a:tr>
              <a:tr h="1462617">
                <a:tc>
                  <a:txBody>
                    <a:bodyPr/>
                    <a:lstStyle/>
                    <a:p>
                      <a:r>
                        <a:rPr lang="es-MX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  <a:p>
                      <a:r>
                        <a:rPr lang="es-MX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r>
                        <a:rPr lang="es-MX" sz="18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r>
                        <a:rPr lang="es-MX" sz="18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  <a:p>
                      <a:r>
                        <a:rPr lang="es-MX" sz="18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71968" marR="91399" marT="45707" marB="45707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r>
                        <a:rPr lang="es-MX" sz="18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  <a:p>
                      <a:r>
                        <a:rPr lang="es-MX" sz="18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  <a:p>
                      <a:r>
                        <a:rPr lang="es-MX" sz="18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  <a:p>
                      <a:r>
                        <a:rPr lang="es-MX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71968" marR="91399" marT="45707" marB="45707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dirty="0">
                          <a:solidFill>
                            <a:srgbClr val="FF0000"/>
                          </a:solidFill>
                        </a:rPr>
                        <a:t>7  </a:t>
                      </a:r>
                      <a:r>
                        <a:rPr lang="es-MX" sz="1800" dirty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s-MX" sz="1800" baseline="-25000" dirty="0">
                          <a:solidFill>
                            <a:schemeClr val="tx1"/>
                          </a:solidFill>
                        </a:rPr>
                        <a:t>i-1</a:t>
                      </a:r>
                      <a:endParaRPr lang="en-US" sz="1800" dirty="0"/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dirty="0">
                          <a:solidFill>
                            <a:srgbClr val="FF0000"/>
                          </a:solidFill>
                        </a:rPr>
                        <a:t>12 </a:t>
                      </a:r>
                      <a:r>
                        <a:rPr lang="es-MX" sz="1800" dirty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s-MX" sz="1800" baseline="-25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s-MX" sz="1800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s-MX" sz="1800" dirty="0">
                          <a:solidFill>
                            <a:srgbClr val="FF0000"/>
                          </a:solidFill>
                        </a:rPr>
                        <a:t>15</a:t>
                      </a:r>
                    </a:p>
                    <a:p>
                      <a:r>
                        <a:rPr lang="es-MX" sz="1800" dirty="0">
                          <a:solidFill>
                            <a:srgbClr val="FF0000"/>
                          </a:solidFill>
                        </a:rPr>
                        <a:t>16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71968" marR="91399" marT="45707" marB="45707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077978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endParaRPr lang="en-US" sz="1800">
                        <a:solidFill>
                          <a:schemeClr val="tx1"/>
                        </a:solidFill>
                      </a:endParaRPr>
                    </a:p>
                  </a:txBody>
                  <a:tcPr marL="71968" marR="91399" marT="45707" marB="45707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71968" marR="91399" marT="45707" marB="45707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71968" marR="91399" marT="45707" marB="45707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31930"/>
                  </a:ext>
                </a:extLst>
              </a:tr>
            </a:tbl>
          </a:graphicData>
        </a:graphic>
      </p:graphicFrame>
      <p:graphicFrame>
        <p:nvGraphicFramePr>
          <p:cNvPr id="7" name="Tabla 6"/>
          <p:cNvGraphicFramePr>
            <a:graphicFrameLocks noGrp="1"/>
          </p:cNvGraphicFramePr>
          <p:nvPr/>
        </p:nvGraphicFramePr>
        <p:xfrm>
          <a:off x="684213" y="4094163"/>
          <a:ext cx="2655886" cy="2195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043">
                  <a:extLst>
                    <a:ext uri="{9D8B030D-6E8A-4147-A177-3AD203B41FA5}">
                      <a16:colId xmlns:a16="http://schemas.microsoft.com/office/drawing/2014/main" val="1491207757"/>
                    </a:ext>
                  </a:extLst>
                </a:gridCol>
                <a:gridCol w="924797">
                  <a:extLst>
                    <a:ext uri="{9D8B030D-6E8A-4147-A177-3AD203B41FA5}">
                      <a16:colId xmlns:a16="http://schemas.microsoft.com/office/drawing/2014/main" val="192627737"/>
                    </a:ext>
                  </a:extLst>
                </a:gridCol>
                <a:gridCol w="909046">
                  <a:extLst>
                    <a:ext uri="{9D8B030D-6E8A-4147-A177-3AD203B41FA5}">
                      <a16:colId xmlns:a16="http://schemas.microsoft.com/office/drawing/2014/main" val="1862665325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r>
                        <a:rPr lang="es-MX" sz="1800" b="1" dirty="0" err="1">
                          <a:solidFill>
                            <a:schemeClr val="tx1"/>
                          </a:solidFill>
                        </a:rPr>
                        <a:t>Yi</a:t>
                      </a:r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71968" marR="91399" marT="45740" marB="45740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>
                          <a:solidFill>
                            <a:schemeClr val="tx1"/>
                          </a:solidFill>
                        </a:rPr>
                        <a:t>fi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71968" marR="91399" marT="45740" marB="45740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>
                          <a:solidFill>
                            <a:srgbClr val="FF0000"/>
                          </a:solidFill>
                        </a:rPr>
                        <a:t>Fi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71968" marR="91399" marT="45740" marB="45740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212036"/>
                  </a:ext>
                </a:extLst>
              </a:tr>
              <a:tr h="1463675">
                <a:tc>
                  <a:txBody>
                    <a:bodyPr/>
                    <a:lstStyle/>
                    <a:p>
                      <a:r>
                        <a:rPr lang="es-MX" sz="18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  <a:p>
                      <a:r>
                        <a:rPr lang="es-MX" sz="18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r>
                        <a:rPr lang="es-MX" sz="18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  <a:p>
                      <a:r>
                        <a:rPr lang="es-MX" sz="18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  <a:p>
                      <a:r>
                        <a:rPr lang="es-MX" sz="18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71968" marR="91399" marT="45740" marB="45740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  <a:p>
                      <a:r>
                        <a:rPr lang="es-MX" sz="18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  <a:p>
                      <a:r>
                        <a:rPr lang="es-MX" sz="18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  <a:p>
                      <a:r>
                        <a:rPr lang="es-MX" sz="18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  <a:p>
                      <a:r>
                        <a:rPr lang="es-MX" sz="18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71968" marR="91399" marT="45740" marB="45740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>
                          <a:solidFill>
                            <a:srgbClr val="FF0000"/>
                          </a:solidFill>
                        </a:rPr>
                        <a:t>12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dirty="0">
                          <a:solidFill>
                            <a:srgbClr val="FF0000"/>
                          </a:solidFill>
                        </a:rPr>
                        <a:t>20  </a:t>
                      </a:r>
                      <a:r>
                        <a:rPr lang="es-MX" sz="1800" dirty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s-MX" sz="1800" baseline="-25000" dirty="0">
                          <a:solidFill>
                            <a:schemeClr val="tx1"/>
                          </a:solidFill>
                        </a:rPr>
                        <a:t>i-1</a:t>
                      </a:r>
                      <a:endParaRPr lang="en-US" sz="1800" dirty="0"/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dirty="0">
                          <a:solidFill>
                            <a:srgbClr val="FF0000"/>
                          </a:solidFill>
                        </a:rPr>
                        <a:t>27 </a:t>
                      </a:r>
                      <a:r>
                        <a:rPr lang="es-MX" sz="1800" dirty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s-MX" sz="1800" baseline="-25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s-MX" sz="1800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s-MX" sz="1800" dirty="0">
                          <a:solidFill>
                            <a:srgbClr val="FF0000"/>
                          </a:solidFill>
                        </a:rPr>
                        <a:t>37</a:t>
                      </a:r>
                    </a:p>
                    <a:p>
                      <a:r>
                        <a:rPr lang="es-MX" sz="1800" dirty="0">
                          <a:solidFill>
                            <a:srgbClr val="FF0000"/>
                          </a:solidFill>
                        </a:rPr>
                        <a:t>40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71968" marR="91399" marT="45740" marB="45740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077978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endParaRPr lang="en-US" sz="1800">
                        <a:solidFill>
                          <a:schemeClr val="tx1"/>
                        </a:solidFill>
                      </a:endParaRPr>
                    </a:p>
                  </a:txBody>
                  <a:tcPr marL="71968" marR="91399" marT="45740" marB="45740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71968" marR="91399" marT="45740" marB="45740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71968" marR="91399" marT="45740" marB="45740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31930"/>
                  </a:ext>
                </a:extLst>
              </a:tr>
            </a:tbl>
          </a:graphicData>
        </a:graphic>
      </p:graphicFrame>
      <p:cxnSp>
        <p:nvCxnSpPr>
          <p:cNvPr id="3" name="Conector recto 2"/>
          <p:cNvCxnSpPr/>
          <p:nvPr/>
        </p:nvCxnSpPr>
        <p:spPr>
          <a:xfrm>
            <a:off x="3995936" y="6289676"/>
            <a:ext cx="115212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Marcador de contenido 2"/>
          <p:cNvSpPr>
            <a:spLocks noGrp="1"/>
          </p:cNvSpPr>
          <p:nvPr>
            <p:ph idx="1"/>
          </p:nvPr>
        </p:nvSpPr>
        <p:spPr>
          <a:xfrm>
            <a:off x="611188" y="620713"/>
            <a:ext cx="7777162" cy="561975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b.2) Variable continua</a:t>
            </a: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P1:Calcular las frecuencias absolutas acumuladas menor que</a:t>
            </a: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P2: Determinar la menor de las frecuencias absolutas acumuladas Fi; tal que:  Fi &gt; n/2  , donde   </a:t>
            </a:r>
            <a:r>
              <a:rPr lang="es-PE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PE" sz="18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r>
              <a:rPr lang="es-PE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≤ n/2 &lt; Fi ; se puede presentar 2 casos:</a:t>
            </a: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r>
              <a:rPr lang="es-P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i) Si n/2= F</a:t>
            </a:r>
            <a:r>
              <a:rPr lang="es-PE" sz="18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r>
              <a:rPr lang="es-P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, entonces la  Me= </a:t>
            </a:r>
            <a:r>
              <a:rPr lang="es-PE" sz="1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y’</a:t>
            </a:r>
            <a:r>
              <a:rPr lang="es-PE" sz="1800" b="1" baseline="-25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PE" sz="18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1  </a:t>
            </a:r>
            <a:r>
              <a:rPr lang="es-P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donde </a:t>
            </a:r>
            <a:r>
              <a:rPr lang="es-PE" sz="1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y’</a:t>
            </a:r>
            <a:r>
              <a:rPr lang="es-PE" sz="1800" b="1" baseline="-25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PE" sz="18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1 </a:t>
            </a:r>
            <a:r>
              <a:rPr lang="es-PE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limite inferior de la clase mediana</a:t>
            </a:r>
            <a:endParaRPr lang="es-PE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Tx/>
              <a:buFont typeface="Wingdings" panose="05000000000000000000" pitchFamily="2" charset="2"/>
              <a:buChar char="Ø"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s-PE" sz="20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69484B-AB4A-4AA9-998F-FEAF62C1F8D4}" type="slidenum">
              <a:rPr lang="es-ES" smtClean="0"/>
              <a:pPr>
                <a:defRPr/>
              </a:pPr>
              <a:t>20</a:t>
            </a:fld>
            <a:endParaRPr lang="es-ES"/>
          </a:p>
        </p:txBody>
      </p:sp>
      <p:graphicFrame>
        <p:nvGraphicFramePr>
          <p:cNvPr id="5" name="Tabla 4"/>
          <p:cNvGraphicFramePr>
            <a:graphicFrameLocks noGrp="1"/>
          </p:cNvGraphicFramePr>
          <p:nvPr/>
        </p:nvGraphicFramePr>
        <p:xfrm>
          <a:off x="1116013" y="3028950"/>
          <a:ext cx="6096000" cy="3205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619"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y´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i-1 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r>
                        <a:rPr lang="es-PE" sz="18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y’</a:t>
                      </a:r>
                      <a:r>
                        <a:rPr lang="es-PE" sz="1800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692" marB="45692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yi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692" marB="45692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</a:p>
                  </a:txBody>
                  <a:tcPr marT="45692" marB="45692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</a:p>
                  </a:txBody>
                  <a:tcPr marT="45692" marB="45692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54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y´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y’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          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y´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y’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           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y´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i-2 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r>
                        <a:rPr lang="es-PE" sz="18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y’</a:t>
                      </a:r>
                      <a:r>
                        <a:rPr lang="es-PE" sz="1800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- 1            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y´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i-1 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r>
                        <a:rPr lang="es-PE" sz="18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y’</a:t>
                      </a:r>
                      <a:r>
                        <a:rPr lang="es-PE" sz="1800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y´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m-1 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r>
                        <a:rPr lang="es-PE" sz="18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y’</a:t>
                      </a:r>
                      <a:r>
                        <a:rPr lang="es-PE" sz="1800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692" marB="45692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y1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y2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yi-1</a:t>
                      </a:r>
                    </a:p>
                    <a:p>
                      <a:r>
                        <a:rPr lang="es-PE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yi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ym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692" marB="45692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f1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f2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i-1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fm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692" marB="45692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F1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F2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i-1</a:t>
                      </a: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=n/2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692" marB="45692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Elipse 1"/>
          <p:cNvSpPr/>
          <p:nvPr/>
        </p:nvSpPr>
        <p:spPr>
          <a:xfrm>
            <a:off x="1042988" y="4797425"/>
            <a:ext cx="576262" cy="3603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PE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Marcador de contenido 2"/>
          <p:cNvSpPr>
            <a:spLocks noGrp="1"/>
          </p:cNvSpPr>
          <p:nvPr>
            <p:ph idx="1"/>
          </p:nvPr>
        </p:nvSpPr>
        <p:spPr>
          <a:xfrm>
            <a:off x="684213" y="836613"/>
            <a:ext cx="7704137" cy="3444875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ii) Si n/2 &gt;F</a:t>
            </a:r>
            <a:r>
              <a:rPr lang="es-PE" altLang="es-PE" sz="20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r>
              <a:rPr lang="es-PE" altLang="es-PE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, entonces </a:t>
            </a:r>
            <a:endParaRPr lang="es-PE" altLang="es-PE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Me= y’</a:t>
            </a:r>
            <a:r>
              <a:rPr lang="es-PE" altLang="es-PE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– 1</a:t>
            </a:r>
            <a:r>
              <a:rPr lang="es-PE" altLang="es-PE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ci *                   donde: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fi</a:t>
            </a:r>
            <a:endParaRPr lang="es-PE" alt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AAD7B8-0FA5-4D11-8D21-E734101E6809}" type="slidenum">
              <a:rPr lang="es-ES" smtClean="0"/>
              <a:pPr>
                <a:defRPr/>
              </a:pPr>
              <a:t>21</a:t>
            </a:fld>
            <a:endParaRPr lang="es-ES"/>
          </a:p>
        </p:txBody>
      </p:sp>
      <p:graphicFrame>
        <p:nvGraphicFramePr>
          <p:cNvPr id="5" name="Tabla 4"/>
          <p:cNvGraphicFramePr>
            <a:graphicFrameLocks noGrp="1"/>
          </p:cNvGraphicFramePr>
          <p:nvPr/>
        </p:nvGraphicFramePr>
        <p:xfrm>
          <a:off x="996950" y="2895600"/>
          <a:ext cx="6978652" cy="3205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4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4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4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4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619"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y´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i-1 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r>
                        <a:rPr lang="es-PE" sz="18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y’</a:t>
                      </a:r>
                      <a:r>
                        <a:rPr lang="es-PE" sz="1800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1" marR="91431" marT="45692" marB="45692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yi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1" marR="91431" marT="45692" marB="45692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</a:p>
                  </a:txBody>
                  <a:tcPr marL="91431" marR="91431" marT="45692" marB="45692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</a:p>
                  </a:txBody>
                  <a:tcPr marL="91431" marR="91431" marT="45692" marB="45692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54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y´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y’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          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y´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y’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           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y´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i-2 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r>
                        <a:rPr lang="es-PE" sz="18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y’</a:t>
                      </a:r>
                      <a:r>
                        <a:rPr lang="es-PE" sz="1800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- 1            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y´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i-1 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r>
                        <a:rPr lang="es-PE" sz="18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y’</a:t>
                      </a:r>
                      <a:r>
                        <a:rPr lang="es-PE" sz="1800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y´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m-1 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r>
                        <a:rPr lang="es-PE" sz="18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y’</a:t>
                      </a:r>
                      <a:r>
                        <a:rPr lang="es-PE" sz="1800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1" marR="91431" marT="45692" marB="45692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y1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y2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yi-1</a:t>
                      </a:r>
                    </a:p>
                    <a:p>
                      <a:r>
                        <a:rPr lang="es-PE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yi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ym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1" marR="91431" marT="45692" marB="45692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f1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f2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i-1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fm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1" marR="91431" marT="45692" marB="45692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F1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F2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i-1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1" marR="91431" marT="45692" marB="45692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717" name="CuadroTexto 1"/>
          <p:cNvSpPr txBox="1">
            <a:spLocks noChangeArrowheads="1"/>
          </p:cNvSpPr>
          <p:nvPr/>
        </p:nvSpPr>
        <p:spPr bwMode="auto">
          <a:xfrm>
            <a:off x="6656388" y="4527550"/>
            <a:ext cx="9366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r>
              <a:rPr lang="es-PE" altLang="es-PE" sz="1600">
                <a:latin typeface="Arial" panose="020B0604020202020204" pitchFamily="34" charset="0"/>
                <a:cs typeface="Arial" panose="020B0604020202020204" pitchFamily="34" charset="0"/>
              </a:rPr>
              <a:t>n/2&gt;F</a:t>
            </a:r>
            <a:r>
              <a:rPr lang="es-PE" altLang="es-PE" sz="1600" baseline="-25000"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endParaRPr lang="es-PE" altLang="es-P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rchetes 2"/>
          <p:cNvSpPr/>
          <p:nvPr/>
        </p:nvSpPr>
        <p:spPr>
          <a:xfrm>
            <a:off x="2879725" y="1195388"/>
            <a:ext cx="1223963" cy="792162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r>
              <a:rPr lang="es-PE" dirty="0"/>
              <a:t>n/2-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b="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PE" b="0" baseline="-25000" dirty="0"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r>
              <a:rPr lang="es-PE" dirty="0"/>
              <a:t> </a:t>
            </a:r>
          </a:p>
        </p:txBody>
      </p:sp>
      <p:cxnSp>
        <p:nvCxnSpPr>
          <p:cNvPr id="7" name="Conector recto 6"/>
          <p:cNvCxnSpPr/>
          <p:nvPr/>
        </p:nvCxnSpPr>
        <p:spPr>
          <a:xfrm>
            <a:off x="2987675" y="1773238"/>
            <a:ext cx="936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20" name="CuadroTexto 7"/>
          <p:cNvSpPr txBox="1">
            <a:spLocks noChangeArrowheads="1"/>
          </p:cNvSpPr>
          <p:nvPr/>
        </p:nvSpPr>
        <p:spPr bwMode="auto">
          <a:xfrm>
            <a:off x="4464050" y="1773238"/>
            <a:ext cx="4032250" cy="132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r>
              <a:rPr lang="es-PE" altLang="es-PE" sz="1600" b="0">
                <a:latin typeface="Arial" panose="020B0604020202020204" pitchFamily="34" charset="0"/>
                <a:cs typeface="Arial" panose="020B0604020202020204" pitchFamily="34" charset="0"/>
              </a:rPr>
              <a:t>y’</a:t>
            </a:r>
            <a:r>
              <a:rPr lang="es-PE" altLang="es-PE" sz="1600" b="0" baseline="-25000">
                <a:latin typeface="Arial" panose="020B0604020202020204" pitchFamily="34" charset="0"/>
                <a:cs typeface="Arial" panose="020B0604020202020204" pitchFamily="34" charset="0"/>
              </a:rPr>
              <a:t>i – 1 </a:t>
            </a:r>
            <a:r>
              <a:rPr lang="es-PE" altLang="es-PE" sz="1600" b="0">
                <a:latin typeface="Arial" panose="020B0604020202020204" pitchFamily="34" charset="0"/>
                <a:cs typeface="Arial" panose="020B0604020202020204" pitchFamily="34" charset="0"/>
              </a:rPr>
              <a:t> : limite inferior de la clase mediana</a:t>
            </a:r>
          </a:p>
          <a:p>
            <a:r>
              <a:rPr lang="es-PE" altLang="es-PE" sz="1600" b="0">
                <a:latin typeface="Arial" panose="020B0604020202020204" pitchFamily="34" charset="0"/>
                <a:cs typeface="Arial" panose="020B0604020202020204" pitchFamily="34" charset="0"/>
              </a:rPr>
              <a:t>Ci : amplitud de la clase mediana</a:t>
            </a:r>
          </a:p>
          <a:p>
            <a:r>
              <a:rPr lang="es-PE" altLang="es-PE" sz="1600" b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PE" altLang="es-PE" sz="1600" b="0" baseline="-25000"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r>
              <a:rPr lang="es-PE" altLang="es-PE" sz="1600" b="0">
                <a:latin typeface="Arial" panose="020B0604020202020204" pitchFamily="34" charset="0"/>
                <a:cs typeface="Arial" panose="020B0604020202020204" pitchFamily="34" charset="0"/>
              </a:rPr>
              <a:t> : F.A.A. anterior a la clase mediana</a:t>
            </a:r>
          </a:p>
          <a:p>
            <a:r>
              <a:rPr lang="es-PE" altLang="es-PE" sz="1600" b="0">
                <a:latin typeface="Arial" panose="020B0604020202020204" pitchFamily="34" charset="0"/>
                <a:cs typeface="Arial" panose="020B0604020202020204" pitchFamily="34" charset="0"/>
              </a:rPr>
              <a:t>fi :  FA. de la clase mediana</a:t>
            </a:r>
          </a:p>
          <a:p>
            <a:endParaRPr lang="es-PE" altLang="es-PE" sz="1600" b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128D19-9468-43D2-95E6-DCD2C8C94A52}" type="slidenum">
              <a:rPr lang="es-ES" smtClean="0"/>
              <a:pPr>
                <a:defRPr/>
              </a:pPr>
              <a:t>22</a:t>
            </a:fld>
            <a:endParaRPr lang="es-ES"/>
          </a:p>
        </p:txBody>
      </p:sp>
      <p:sp>
        <p:nvSpPr>
          <p:cNvPr id="30723" name="Marcador de contenido 2"/>
          <p:cNvSpPr>
            <a:spLocks noGrp="1"/>
          </p:cNvSpPr>
          <p:nvPr>
            <p:ph idx="1"/>
          </p:nvPr>
        </p:nvSpPr>
        <p:spPr>
          <a:xfrm>
            <a:off x="765175" y="765175"/>
            <a:ext cx="7821613" cy="5616575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Ej. La </a:t>
            </a:r>
            <a:r>
              <a:rPr lang="es-PE" altLang="es-PE" sz="2000" dirty="0" err="1">
                <a:latin typeface="Arial" panose="020B0604020202020204" pitchFamily="34" charset="0"/>
                <a:cs typeface="Arial" panose="020B0604020202020204" pitchFamily="34" charset="0"/>
              </a:rPr>
              <a:t>sgte</a:t>
            </a: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 tabla representa información sobre el ingreso mensual(en soles)de 50 familias de una ciudad. Calcular la mediana.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PE" alt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PE" alt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PE" alt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PE" alt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PE" alt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SOL: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P1: determinar la Fi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P2: n/2=25 &gt; F</a:t>
            </a:r>
            <a:r>
              <a:rPr lang="es-PE" altLang="es-PE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 =16 =&gt; Me Ɛ [500-650&gt;=&gt;Me= </a:t>
            </a:r>
            <a:r>
              <a:rPr lang="es-PE" altLang="es-PE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y’</a:t>
            </a:r>
            <a:r>
              <a:rPr lang="es-PE" altLang="es-PE" sz="2000" baseline="-25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PE" altLang="es-PE" sz="20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1</a:t>
            </a:r>
            <a:r>
              <a:rPr lang="es-PE" alt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ci *     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fi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Me=500+150*                    =&gt; Me=622.72 soles</a:t>
            </a:r>
            <a:endParaRPr lang="es-PE" altLang="es-PE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PE" alt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PE" alt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PE" alt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a 4"/>
          <p:cNvGraphicFramePr>
            <a:graphicFrameLocks noGrp="1"/>
          </p:cNvGraphicFramePr>
          <p:nvPr/>
        </p:nvGraphicFramePr>
        <p:xfrm>
          <a:off x="768350" y="1773238"/>
          <a:ext cx="6096000" cy="2194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567"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y´i-1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</a:rPr>
                        <a:t> – </a:t>
                      </a:r>
                      <a:r>
                        <a:rPr lang="es-PE" sz="1800" baseline="0" dirty="0" err="1">
                          <a:solidFill>
                            <a:schemeClr val="tx1"/>
                          </a:solidFill>
                        </a:rPr>
                        <a:t>y´í</a:t>
                      </a:r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631" marB="45631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 err="1">
                          <a:solidFill>
                            <a:schemeClr val="tx1"/>
                          </a:solidFill>
                        </a:rPr>
                        <a:t>yi</a:t>
                      </a:r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631" marB="45631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fi</a:t>
                      </a:r>
                    </a:p>
                  </a:txBody>
                  <a:tcPr marT="45631" marB="45631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rgbClr val="0070C0"/>
                          </a:solidFill>
                        </a:rPr>
                        <a:t>FI</a:t>
                      </a:r>
                    </a:p>
                  </a:txBody>
                  <a:tcPr marT="45631" marB="45631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2791"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200-350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350-500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500-650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650-800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800-950</a:t>
                      </a:r>
                    </a:p>
                  </a:txBody>
                  <a:tcPr marT="45631" marB="45631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275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425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575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725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875</a:t>
                      </a:r>
                    </a:p>
                  </a:txBody>
                  <a:tcPr marT="45631" marB="45631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T="45631" marB="45631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rgbClr val="0070C0"/>
                          </a:solidFill>
                        </a:rPr>
                        <a:t>9</a:t>
                      </a:r>
                    </a:p>
                    <a:p>
                      <a:r>
                        <a:rPr lang="es-PE" sz="1800" dirty="0">
                          <a:solidFill>
                            <a:srgbClr val="0070C0"/>
                          </a:solidFill>
                        </a:rPr>
                        <a:t>16</a:t>
                      </a:r>
                    </a:p>
                    <a:p>
                      <a:r>
                        <a:rPr lang="es-PE" sz="1800" dirty="0">
                          <a:solidFill>
                            <a:srgbClr val="0070C0"/>
                          </a:solidFill>
                        </a:rPr>
                        <a:t>27</a:t>
                      </a:r>
                    </a:p>
                    <a:p>
                      <a:r>
                        <a:rPr lang="es-PE" sz="1800" dirty="0">
                          <a:solidFill>
                            <a:srgbClr val="0070C0"/>
                          </a:solidFill>
                        </a:rPr>
                        <a:t>40</a:t>
                      </a:r>
                    </a:p>
                    <a:p>
                      <a:r>
                        <a:rPr lang="es-PE" sz="1800" dirty="0">
                          <a:solidFill>
                            <a:srgbClr val="0070C0"/>
                          </a:solidFill>
                        </a:rPr>
                        <a:t>50</a:t>
                      </a:r>
                    </a:p>
                  </a:txBody>
                  <a:tcPr marT="45631" marB="45631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567">
                <a:tc>
                  <a:txBody>
                    <a:bodyPr/>
                    <a:lstStyle/>
                    <a:p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631" marB="45631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631" marB="45631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 marT="45631" marB="45631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800" dirty="0">
                        <a:solidFill>
                          <a:srgbClr val="0070C0"/>
                        </a:solidFill>
                      </a:endParaRPr>
                    </a:p>
                  </a:txBody>
                  <a:tcPr marT="45631" marB="45631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746" name="CuadroTexto 1"/>
          <p:cNvSpPr txBox="1">
            <a:spLocks noChangeArrowheads="1"/>
          </p:cNvSpPr>
          <p:nvPr/>
        </p:nvSpPr>
        <p:spPr bwMode="auto">
          <a:xfrm>
            <a:off x="5940425" y="2565400"/>
            <a:ext cx="9366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r>
              <a:rPr lang="es-PE" altLang="es-PE" sz="1600">
                <a:latin typeface="Arial" panose="020B0604020202020204" pitchFamily="34" charset="0"/>
                <a:cs typeface="Arial" panose="020B0604020202020204" pitchFamily="34" charset="0"/>
              </a:rPr>
              <a:t>n/2&gt;F</a:t>
            </a:r>
            <a:r>
              <a:rPr lang="es-PE" altLang="es-PE" sz="1600" baseline="-25000"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endParaRPr lang="es-PE" altLang="es-P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47" name="CuadroTexto 1"/>
          <p:cNvSpPr txBox="1">
            <a:spLocks noChangeArrowheads="1"/>
          </p:cNvSpPr>
          <p:nvPr/>
        </p:nvSpPr>
        <p:spPr bwMode="auto">
          <a:xfrm>
            <a:off x="5580063" y="2427288"/>
            <a:ext cx="5048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r>
              <a:rPr lang="es-PE" altLang="es-PE" sz="160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PE" altLang="es-PE" sz="1600" baseline="-25000"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endParaRPr lang="es-PE" altLang="es-P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48" name="CuadroTexto 1"/>
          <p:cNvSpPr txBox="1">
            <a:spLocks noChangeArrowheads="1"/>
          </p:cNvSpPr>
          <p:nvPr/>
        </p:nvSpPr>
        <p:spPr bwMode="auto">
          <a:xfrm>
            <a:off x="5651500" y="2765425"/>
            <a:ext cx="4333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r>
              <a:rPr lang="es-PE" altLang="es-PE" sz="160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PE" altLang="es-PE" sz="1600" baseline="-2500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PE" altLang="es-P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orchetes 8"/>
          <p:cNvSpPr/>
          <p:nvPr/>
        </p:nvSpPr>
        <p:spPr>
          <a:xfrm>
            <a:off x="7454900" y="4652963"/>
            <a:ext cx="1223963" cy="792162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r>
              <a:rPr lang="es-PE" dirty="0"/>
              <a:t>n/2-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b="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PE" b="0" baseline="-25000" dirty="0"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r>
              <a:rPr lang="es-PE" dirty="0"/>
              <a:t> </a:t>
            </a:r>
          </a:p>
        </p:txBody>
      </p:sp>
      <p:cxnSp>
        <p:nvCxnSpPr>
          <p:cNvPr id="10" name="Conector recto 9"/>
          <p:cNvCxnSpPr/>
          <p:nvPr/>
        </p:nvCxnSpPr>
        <p:spPr>
          <a:xfrm>
            <a:off x="7488238" y="5300663"/>
            <a:ext cx="9715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rchetes 11"/>
          <p:cNvSpPr/>
          <p:nvPr/>
        </p:nvSpPr>
        <p:spPr>
          <a:xfrm>
            <a:off x="2484438" y="5424488"/>
            <a:ext cx="1223962" cy="792162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r>
              <a:rPr lang="es-PE" dirty="0"/>
              <a:t>25-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b="0" dirty="0"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r>
              <a:rPr lang="es-PE" dirty="0"/>
              <a:t> </a:t>
            </a:r>
          </a:p>
        </p:txBody>
      </p:sp>
      <p:cxnSp>
        <p:nvCxnSpPr>
          <p:cNvPr id="13" name="Conector recto 12"/>
          <p:cNvCxnSpPr/>
          <p:nvPr/>
        </p:nvCxnSpPr>
        <p:spPr>
          <a:xfrm>
            <a:off x="2609850" y="5927725"/>
            <a:ext cx="9715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53" name="CuadroTexto 1"/>
          <p:cNvSpPr txBox="1">
            <a:spLocks noChangeArrowheads="1"/>
          </p:cNvSpPr>
          <p:nvPr/>
        </p:nvSpPr>
        <p:spPr bwMode="auto">
          <a:xfrm>
            <a:off x="2879725" y="5953125"/>
            <a:ext cx="431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r>
              <a:rPr lang="es-PE" altLang="es-PE" sz="160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683568" y="764704"/>
            <a:ext cx="7704856" cy="5196359"/>
          </a:xfrm>
          <a:blipFill rotWithShape="0">
            <a:blip r:embed="rId2"/>
            <a:stretch>
              <a:fillRect l="-949" t="-469"/>
            </a:stretch>
          </a:blipFill>
        </p:spPr>
        <p:txBody>
          <a:bodyPr/>
          <a:lstStyle/>
          <a:p>
            <a:pPr>
              <a:defRPr/>
            </a:pPr>
            <a:r>
              <a:rPr lang="es-PE">
                <a:noFill/>
              </a:rPr>
              <a:t> 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EAA3F7-3FB2-49D4-A588-E3FF9591C83E}" type="slidenum">
              <a:rPr lang="es-ES" smtClean="0"/>
              <a:pPr>
                <a:defRPr/>
              </a:pPr>
              <a:t>23</a:t>
            </a:fld>
            <a:endParaRPr lang="es-ES"/>
          </a:p>
        </p:txBody>
      </p:sp>
      <p:graphicFrame>
        <p:nvGraphicFramePr>
          <p:cNvPr id="5" name="Tabla 4"/>
          <p:cNvGraphicFramePr>
            <a:graphicFrameLocks noGrp="1"/>
          </p:cNvGraphicFramePr>
          <p:nvPr/>
        </p:nvGraphicFramePr>
        <p:xfrm>
          <a:off x="1187450" y="2708275"/>
          <a:ext cx="6095997" cy="742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lang="es-PE" sz="1800" b="0" dirty="0" err="1">
                          <a:solidFill>
                            <a:schemeClr val="tx1"/>
                          </a:solidFill>
                        </a:rPr>
                        <a:t>yi</a:t>
                      </a:r>
                      <a:endParaRPr lang="es-PE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45798" marB="45798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T="45798" marB="45798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b="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marT="45798" marB="45798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T="45798" marB="45798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b="0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marT="45798" marB="45798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b="0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 marT="45798" marB="45798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b="0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 marT="45798" marB="45798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b="0" dirty="0">
                          <a:solidFill>
                            <a:schemeClr val="tx1"/>
                          </a:solidFill>
                        </a:rPr>
                        <a:t>70</a:t>
                      </a:r>
                    </a:p>
                  </a:txBody>
                  <a:tcPr marT="45798" marB="45798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b="0" dirty="0">
                          <a:solidFill>
                            <a:schemeClr val="tx1"/>
                          </a:solidFill>
                        </a:rPr>
                        <a:t>80</a:t>
                      </a:r>
                    </a:p>
                  </a:txBody>
                  <a:tcPr marT="45798" marB="45798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r>
                        <a:rPr lang="es-PE" sz="1800" b="0" dirty="0">
                          <a:solidFill>
                            <a:schemeClr val="tx1"/>
                          </a:solidFill>
                        </a:rPr>
                        <a:t>Hi</a:t>
                      </a:r>
                    </a:p>
                  </a:txBody>
                  <a:tcPr marT="45798" marB="45798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b="0" dirty="0">
                          <a:solidFill>
                            <a:schemeClr val="tx1"/>
                          </a:solidFill>
                        </a:rPr>
                        <a:t>0.03</a:t>
                      </a:r>
                    </a:p>
                  </a:txBody>
                  <a:tcPr marT="45798" marB="45798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b="0" dirty="0">
                          <a:solidFill>
                            <a:schemeClr val="tx1"/>
                          </a:solidFill>
                        </a:rPr>
                        <a:t>0.11</a:t>
                      </a:r>
                    </a:p>
                  </a:txBody>
                  <a:tcPr marT="45798" marB="45798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b="0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marT="45798" marB="45798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b="0" dirty="0">
                          <a:solidFill>
                            <a:schemeClr val="tx1"/>
                          </a:solidFill>
                        </a:rPr>
                        <a:t>0.46</a:t>
                      </a:r>
                    </a:p>
                  </a:txBody>
                  <a:tcPr marT="45798" marB="45798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b="0" dirty="0">
                          <a:solidFill>
                            <a:schemeClr val="tx1"/>
                          </a:solidFill>
                        </a:rPr>
                        <a:t>0.68</a:t>
                      </a:r>
                    </a:p>
                  </a:txBody>
                  <a:tcPr marT="45798" marB="45798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45798" marB="45798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b="0" dirty="0">
                          <a:solidFill>
                            <a:schemeClr val="tx1"/>
                          </a:solidFill>
                        </a:rPr>
                        <a:t>0.93</a:t>
                      </a:r>
                    </a:p>
                  </a:txBody>
                  <a:tcPr marT="45798" marB="45798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45798" marB="45798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4213" y="620713"/>
            <a:ext cx="7704137" cy="5472112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LA MODA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La moda de una muestra x1,x2,…</a:t>
            </a:r>
            <a:r>
              <a:rPr lang="es-PE" sz="2000" dirty="0" err="1">
                <a:latin typeface="Arial" panose="020B0604020202020204" pitchFamily="34" charset="0"/>
                <a:cs typeface="Arial" panose="020B0604020202020204" pitchFamily="34" charset="0"/>
              </a:rPr>
              <a:t>xn</a:t>
            </a: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; es aquel valor de la variable que se presenta con mayor frecuencia.</a:t>
            </a:r>
          </a:p>
          <a:p>
            <a:pPr marL="457200" indent="-457200">
              <a:buClrTx/>
              <a:buFont typeface="Arial" panose="020B0604020202020204" pitchFamily="34" charset="0"/>
              <a:buAutoNum type="alphaLcParenR"/>
              <a:defRPr/>
            </a:pPr>
            <a:r>
              <a:rPr 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Datos no tabulados: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Sean los </a:t>
            </a:r>
            <a:r>
              <a:rPr lang="es-PE" sz="2000" dirty="0" err="1">
                <a:latin typeface="Arial" panose="020B0604020202020204" pitchFamily="34" charset="0"/>
                <a:cs typeface="Arial" panose="020B0604020202020204" pitchFamily="34" charset="0"/>
              </a:rPr>
              <a:t>sgtes</a:t>
            </a: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 conjuntos de datos, calcular la moda </a:t>
            </a:r>
          </a:p>
          <a:p>
            <a:pPr>
              <a:buClrTx/>
              <a:buFont typeface="Wingdings" panose="05000000000000000000" pitchFamily="2" charset="2"/>
              <a:buChar char="ü"/>
              <a:defRPr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15,12,8,10,9,12,22</a:t>
            </a:r>
          </a:p>
          <a:p>
            <a:pPr>
              <a:buClrTx/>
              <a:buFont typeface="Wingdings" panose="05000000000000000000" pitchFamily="2" charset="2"/>
              <a:buChar char="ü"/>
              <a:defRPr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6,8,3,5,7,6,11,7</a:t>
            </a:r>
          </a:p>
          <a:p>
            <a:pPr>
              <a:buClrTx/>
              <a:buFont typeface="Wingdings" panose="05000000000000000000" pitchFamily="2" charset="2"/>
              <a:buChar char="ü"/>
              <a:defRPr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3,5,7,9,11,13</a:t>
            </a: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b) </a:t>
            </a:r>
            <a:r>
              <a:rPr 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Datos tabulados:</a:t>
            </a: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r>
              <a:rPr 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b.1) Variable discreta: </a:t>
            </a: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La clase que contiene mayor frecuencia será la que contiene a la moda; es decir, el valor de la variable que mas se repite. </a:t>
            </a: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P1 : Se determina la clase modal</a:t>
            </a: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P2 : Se calcula la moda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EFD049-C24A-4CC8-9048-9BD443355EB0}" type="slidenum">
              <a:rPr lang="es-ES" smtClean="0"/>
              <a:pPr>
                <a:defRPr/>
              </a:pPr>
              <a:t>24</a:t>
            </a:fld>
            <a:endParaRPr lang="es-E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Marcador de contenido 2"/>
          <p:cNvSpPr>
            <a:spLocks noGrp="1"/>
          </p:cNvSpPr>
          <p:nvPr>
            <p:ph idx="1"/>
          </p:nvPr>
        </p:nvSpPr>
        <p:spPr>
          <a:xfrm>
            <a:off x="781050" y="765175"/>
            <a:ext cx="7607300" cy="5475288"/>
          </a:xfrm>
        </p:spPr>
        <p:txBody>
          <a:bodyPr/>
          <a:lstStyle/>
          <a:p>
            <a:pPr marL="0" indent="0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s-PE" altLang="es-PE" sz="2000">
                <a:latin typeface="Arial" panose="020B0604020202020204" pitchFamily="34" charset="0"/>
                <a:cs typeface="Arial" panose="020B0604020202020204" pitchFamily="34" charset="0"/>
              </a:rPr>
              <a:t>Determine la moda de la distribución siguiente: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s-PE" altLang="es-PE" sz="2000" b="1">
                <a:latin typeface="Arial" panose="020B0604020202020204" pitchFamily="34" charset="0"/>
                <a:cs typeface="Arial" panose="020B0604020202020204" pitchFamily="34" charset="0"/>
              </a:rPr>
              <a:t>Sol :    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s-PE" altLang="es-PE" sz="2000" b="1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P1: la &gt; fi=20=clase modal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s-PE" altLang="es-PE" sz="2000" b="1">
                <a:latin typeface="Arial" panose="020B0604020202020204" pitchFamily="34" charset="0"/>
                <a:cs typeface="Arial" panose="020B0604020202020204" pitchFamily="34" charset="0"/>
              </a:rPr>
              <a:t>					P2: Mo= 4 hijos 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s-PE" altLang="es-PE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s-PE" altLang="es-PE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s-PE" altLang="es-PE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s-PE" altLang="es-PE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s-PE" altLang="es-PE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s-PE" altLang="es-PE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s-PE" altLang="es-PE" sz="2000" b="1">
                <a:latin typeface="Arial" panose="020B0604020202020204" pitchFamily="34" charset="0"/>
                <a:cs typeface="Arial" panose="020B0604020202020204" pitchFamily="34" charset="0"/>
              </a:rPr>
              <a:t>b.2) Variable continua: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s-PE" altLang="es-PE" sz="2000" b="1">
                <a:latin typeface="Arial" panose="020B0604020202020204" pitchFamily="34" charset="0"/>
                <a:cs typeface="Arial" panose="020B0604020202020204" pitchFamily="34" charset="0"/>
              </a:rPr>
              <a:t>P1: Se determina la clase modal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s-PE" altLang="es-PE" sz="2000" b="1">
                <a:latin typeface="Arial" panose="020B0604020202020204" pitchFamily="34" charset="0"/>
                <a:cs typeface="Arial" panose="020B0604020202020204" pitchFamily="34" charset="0"/>
              </a:rPr>
              <a:t>P2: 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s-PE" altLang="es-PE" sz="2000" b="1">
                <a:latin typeface="Arial" panose="020B0604020202020204" pitchFamily="34" charset="0"/>
                <a:cs typeface="Arial" panose="020B0604020202020204" pitchFamily="34" charset="0"/>
              </a:rPr>
              <a:t>        Mo= </a:t>
            </a:r>
            <a:r>
              <a:rPr lang="es-PE" altLang="es-PE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y’</a:t>
            </a:r>
            <a:r>
              <a:rPr lang="es-PE" altLang="es-PE" sz="2000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– 1</a:t>
            </a:r>
            <a:r>
              <a:rPr lang="es-PE" altLang="es-PE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ci*    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s-PE" altLang="es-PE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	(</a:t>
            </a:r>
            <a:r>
              <a:rPr lang="es-PE" altLang="es-PE" sz="2000"/>
              <a:t>fi -</a:t>
            </a:r>
            <a:r>
              <a:rPr lang="es-PE" altLang="es-PE" sz="2000">
                <a:latin typeface="Arial" panose="020B0604020202020204" pitchFamily="34" charset="0"/>
                <a:cs typeface="Arial" panose="020B0604020202020204" pitchFamily="34" charset="0"/>
              </a:rPr>
              <a:t> f</a:t>
            </a:r>
            <a:r>
              <a:rPr lang="es-PE" altLang="es-PE" sz="2000" baseline="-25000"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r>
              <a:rPr lang="es-PE" altLang="es-PE" sz="2000"/>
              <a:t> ) + (fi –</a:t>
            </a:r>
            <a:r>
              <a:rPr lang="es-PE" altLang="es-PE" sz="2000">
                <a:latin typeface="Arial" panose="020B0604020202020204" pitchFamily="34" charset="0"/>
                <a:cs typeface="Arial" panose="020B0604020202020204" pitchFamily="34" charset="0"/>
              </a:rPr>
              <a:t> f</a:t>
            </a:r>
            <a:r>
              <a:rPr lang="es-PE" altLang="es-PE" sz="2000" baseline="-25000">
                <a:latin typeface="Arial" panose="020B0604020202020204" pitchFamily="34" charset="0"/>
                <a:cs typeface="Arial" panose="020B0604020202020204" pitchFamily="34" charset="0"/>
              </a:rPr>
              <a:t>i+1</a:t>
            </a:r>
            <a:r>
              <a:rPr lang="es-PE" altLang="es-PE" sz="2000"/>
              <a:t> )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s-PE" altLang="es-PE" sz="2000"/>
              <a:t>Ej :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s-PE" altLang="es-PE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PE" altLang="es-PE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3A2EC1-473C-4311-9C30-FD4AE587960C}" type="slidenum">
              <a:rPr lang="es-ES" smtClean="0"/>
              <a:pPr>
                <a:defRPr/>
              </a:pPr>
              <a:t>25</a:t>
            </a:fld>
            <a:endParaRPr lang="es-ES"/>
          </a:p>
        </p:txBody>
      </p:sp>
      <p:graphicFrame>
        <p:nvGraphicFramePr>
          <p:cNvPr id="5" name="Tabla 4"/>
          <p:cNvGraphicFramePr>
            <a:graphicFrameLocks noGrp="1"/>
          </p:cNvGraphicFramePr>
          <p:nvPr/>
        </p:nvGraphicFramePr>
        <p:xfrm>
          <a:off x="1524000" y="1397000"/>
          <a:ext cx="1463675" cy="2163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063"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N° de hijos(</a:t>
                      </a:r>
                      <a:r>
                        <a:rPr lang="es-PE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yi</a:t>
                      </a:r>
                      <a:r>
                        <a:rPr lang="es-PE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91431" marR="91431" marT="45681" marB="45681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</a:p>
                  </a:txBody>
                  <a:tcPr marL="91431" marR="91431" marT="45681" marB="45681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0508">
                <a:tc>
                  <a:txBody>
                    <a:bodyPr/>
                    <a:lstStyle/>
                    <a:p>
                      <a:r>
                        <a:rPr lang="es-PE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  <a:p>
                      <a:r>
                        <a:rPr lang="es-PE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  <a:p>
                      <a:r>
                        <a:rPr lang="es-PE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  <a:p>
                      <a:r>
                        <a:rPr lang="es-PE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  <a:p>
                      <a:r>
                        <a:rPr lang="es-PE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1431" marR="91431" marT="45681" marB="45681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  <a:p>
                      <a:r>
                        <a:rPr lang="es-PE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  <a:p>
                      <a:r>
                        <a:rPr lang="es-PE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  <a:p>
                      <a:r>
                        <a:rPr lang="es-PE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  <a:p>
                      <a:r>
                        <a:rPr lang="es-PE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91431" marR="91431" marT="45681" marB="45681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91">
                <a:tc>
                  <a:txBody>
                    <a:bodyPr/>
                    <a:lstStyle/>
                    <a:p>
                      <a:endParaRPr lang="es-PE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1" marR="91431" marT="45681" marB="45681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91431" marR="91431" marT="45681" marB="45681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Corchetes 5"/>
          <p:cNvSpPr/>
          <p:nvPr/>
        </p:nvSpPr>
        <p:spPr>
          <a:xfrm>
            <a:off x="3132138" y="4508500"/>
            <a:ext cx="2232025" cy="792163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r>
              <a:rPr lang="es-PE" dirty="0"/>
              <a:t>fi -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b="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PE" b="0" baseline="-25000" dirty="0"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r>
              <a:rPr lang="es-PE" dirty="0"/>
              <a:t> </a:t>
            </a:r>
          </a:p>
        </p:txBody>
      </p:sp>
      <p:cxnSp>
        <p:nvCxnSpPr>
          <p:cNvPr id="8" name="Conector recto 7"/>
          <p:cNvCxnSpPr/>
          <p:nvPr/>
        </p:nvCxnSpPr>
        <p:spPr>
          <a:xfrm>
            <a:off x="3132138" y="5013325"/>
            <a:ext cx="22320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12" name="CuadroTexto 1"/>
          <p:cNvSpPr txBox="1">
            <a:spLocks noChangeArrowheads="1"/>
          </p:cNvSpPr>
          <p:nvPr/>
        </p:nvSpPr>
        <p:spPr bwMode="auto">
          <a:xfrm>
            <a:off x="5580063" y="4208463"/>
            <a:ext cx="295275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just"/>
            <a:r>
              <a:rPr lang="es-PE" altLang="es-PE" sz="1800" b="0">
                <a:latin typeface="Arial" panose="020B0604020202020204" pitchFamily="34" charset="0"/>
                <a:cs typeface="Arial" panose="020B0604020202020204" pitchFamily="34" charset="0"/>
              </a:rPr>
              <a:t>fi: F.a. de la clase modal</a:t>
            </a:r>
          </a:p>
          <a:p>
            <a:pPr algn="just"/>
            <a:r>
              <a:rPr lang="es-PE" altLang="es-PE" sz="1800" b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PE" altLang="es-PE" sz="1800" b="0" baseline="-25000"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r>
              <a:rPr lang="es-PE" altLang="es-PE" sz="1800" b="0">
                <a:latin typeface="Arial" panose="020B0604020202020204" pitchFamily="34" charset="0"/>
                <a:cs typeface="Arial" panose="020B0604020202020204" pitchFamily="34" charset="0"/>
              </a:rPr>
              <a:t> : F.a. anterior a la clase modal</a:t>
            </a:r>
          </a:p>
          <a:p>
            <a:pPr algn="just"/>
            <a:r>
              <a:rPr lang="es-PE" altLang="es-PE" sz="1800" b="0">
                <a:latin typeface="Arial" panose="020B0604020202020204" pitchFamily="34" charset="0"/>
                <a:cs typeface="Arial" panose="020B0604020202020204" pitchFamily="34" charset="0"/>
              </a:rPr>
              <a:t>y’</a:t>
            </a:r>
            <a:r>
              <a:rPr lang="es-PE" altLang="es-PE" sz="1800" b="0" baseline="-25000">
                <a:latin typeface="Arial" panose="020B0604020202020204" pitchFamily="34" charset="0"/>
                <a:cs typeface="Arial" panose="020B0604020202020204" pitchFamily="34" charset="0"/>
              </a:rPr>
              <a:t>i – 1</a:t>
            </a:r>
            <a:r>
              <a:rPr lang="es-PE" altLang="es-PE" sz="1800" b="0">
                <a:latin typeface="Arial" panose="020B0604020202020204" pitchFamily="34" charset="0"/>
                <a:cs typeface="Arial" panose="020B0604020202020204" pitchFamily="34" charset="0"/>
              </a:rPr>
              <a:t> : Limite inferior de la clase modal</a:t>
            </a:r>
          </a:p>
          <a:p>
            <a:pPr algn="just"/>
            <a:r>
              <a:rPr lang="es-PE" altLang="es-PE" sz="1800" b="0">
                <a:latin typeface="Arial" panose="020B0604020202020204" pitchFamily="34" charset="0"/>
                <a:cs typeface="Arial" panose="020B0604020202020204" pitchFamily="34" charset="0"/>
              </a:rPr>
              <a:t>ci: amplitud de la clase modal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0D86C6-3937-4A75-9B26-834F2B2E76D9}" type="slidenum">
              <a:rPr lang="es-ES" smtClean="0"/>
              <a:pPr>
                <a:defRPr/>
              </a:pPr>
              <a:t>26</a:t>
            </a:fld>
            <a:endParaRPr lang="es-ES"/>
          </a:p>
        </p:txBody>
      </p:sp>
      <p:sp>
        <p:nvSpPr>
          <p:cNvPr id="34819" name="Marcador de contenido 11"/>
          <p:cNvSpPr>
            <a:spLocks noGrp="1"/>
          </p:cNvSpPr>
          <p:nvPr>
            <p:ph idx="1"/>
          </p:nvPr>
        </p:nvSpPr>
        <p:spPr>
          <a:xfrm>
            <a:off x="611188" y="692150"/>
            <a:ext cx="7777162" cy="5548313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 dirty="0" err="1">
                <a:latin typeface="Arial" panose="020B0604020202020204" pitchFamily="34" charset="0"/>
                <a:cs typeface="Arial" panose="020B0604020202020204" pitchFamily="34" charset="0"/>
              </a:rPr>
              <a:t>Ej</a:t>
            </a: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: Hallar la moda de la distribución </a:t>
            </a:r>
            <a:r>
              <a:rPr lang="es-PE" altLang="es-PE" sz="2000" dirty="0" err="1">
                <a:latin typeface="Arial" panose="020B0604020202020204" pitchFamily="34" charset="0"/>
                <a:cs typeface="Arial" panose="020B0604020202020204" pitchFamily="34" charset="0"/>
              </a:rPr>
              <a:t>sgte</a:t>
            </a: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PE" alt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PE" alt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Sol: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 dirty="0" err="1">
                <a:latin typeface="Arial" panose="020B0604020202020204" pitchFamily="34" charset="0"/>
                <a:cs typeface="Arial" panose="020B0604020202020204" pitchFamily="34" charset="0"/>
              </a:rPr>
              <a:t>Ej</a:t>
            </a: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 2:Se tiene la </a:t>
            </a:r>
            <a:r>
              <a:rPr lang="es-PE" altLang="es-PE" sz="2000" dirty="0" err="1">
                <a:latin typeface="Arial" panose="020B0604020202020204" pitchFamily="34" charset="0"/>
                <a:cs typeface="Arial" panose="020B0604020202020204" pitchFamily="34" charset="0"/>
              </a:rPr>
              <a:t>sgte</a:t>
            </a: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 información sobre una distribución de frecuencias </a:t>
            </a:r>
            <a:r>
              <a:rPr lang="es-PE" altLang="es-PE" sz="2000">
                <a:latin typeface="Arial" panose="020B0604020202020204" pitchFamily="34" charset="0"/>
                <a:cs typeface="Arial" panose="020B0604020202020204" pitchFamily="34" charset="0"/>
              </a:rPr>
              <a:t>de  </a:t>
            </a: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elementos de un material sometido a prueba de rotura(Kg/cm2). El ancho de los intervalos de clase es constante: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										a) Determinar los 3                                     											promedios.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										b) Determinar el n° de 											observaciones que 												pertenezcan al intervalo											[media, mediana]                                             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PE" alt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PE" alt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PE" alt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Tabla 12"/>
          <p:cNvGraphicFramePr>
            <a:graphicFrameLocks noGrp="1"/>
          </p:cNvGraphicFramePr>
          <p:nvPr/>
        </p:nvGraphicFramePr>
        <p:xfrm>
          <a:off x="755650" y="1196975"/>
          <a:ext cx="7488238" cy="741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0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00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r>
                        <a:rPr lang="es-PE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Intervalos</a:t>
                      </a:r>
                    </a:p>
                  </a:txBody>
                  <a:tcPr marL="91433" marR="91433" marT="45700" marB="45700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34-36</a:t>
                      </a:r>
                    </a:p>
                  </a:txBody>
                  <a:tcPr marL="91433" marR="91433" marT="45700" marB="45700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36-38</a:t>
                      </a:r>
                    </a:p>
                  </a:txBody>
                  <a:tcPr marL="91433" marR="91433" marT="45700" marB="45700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38-40</a:t>
                      </a:r>
                    </a:p>
                  </a:txBody>
                  <a:tcPr marL="91433" marR="91433" marT="45700" marB="45700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40-42</a:t>
                      </a:r>
                    </a:p>
                  </a:txBody>
                  <a:tcPr marL="91433" marR="91433" marT="45700" marB="45700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42-44</a:t>
                      </a:r>
                    </a:p>
                  </a:txBody>
                  <a:tcPr marL="91433" marR="91433" marT="45700" marB="45700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44-46</a:t>
                      </a:r>
                    </a:p>
                  </a:txBody>
                  <a:tcPr marL="91433" marR="91433" marT="45700" marB="45700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r>
                        <a:rPr lang="es-PE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</a:p>
                  </a:txBody>
                  <a:tcPr marL="91433" marR="91433" marT="45700" marB="45700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1433" marR="91433" marT="45700" marB="45700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1433" marR="91433" marT="45700" marB="45700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91433" marR="91433" marT="45700" marB="45700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</a:p>
                  </a:txBody>
                  <a:tcPr marL="91433" marR="91433" marT="45700" marB="45700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91433" marR="91433" marT="45700" marB="45700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33" marR="91433" marT="45700" marB="45700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55650" y="3644900"/>
          <a:ext cx="4464051" cy="2479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0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935"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Intervalos</a:t>
                      </a:r>
                    </a:p>
                  </a:txBody>
                  <a:tcPr marL="91431" marR="91431" marT="45732" marB="45732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 err="1">
                          <a:solidFill>
                            <a:schemeClr val="tx1"/>
                          </a:solidFill>
                        </a:rPr>
                        <a:t>yi</a:t>
                      </a:r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32" marB="45732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fi</a:t>
                      </a:r>
                    </a:p>
                  </a:txBody>
                  <a:tcPr marL="91431" marR="91431" marT="45732" marB="45732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Fi</a:t>
                      </a:r>
                    </a:p>
                  </a:txBody>
                  <a:tcPr marL="91431" marR="91431" marT="45732" marB="45732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 err="1">
                          <a:solidFill>
                            <a:schemeClr val="tx1"/>
                          </a:solidFill>
                        </a:rPr>
                        <a:t>yi</a:t>
                      </a:r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*fi</a:t>
                      </a:r>
                    </a:p>
                  </a:txBody>
                  <a:tcPr marL="91431" marR="91431" marT="45732" marB="45732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805"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[            &gt;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[            &gt;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[            &gt;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[            &gt;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[            &gt;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[            ]</a:t>
                      </a:r>
                    </a:p>
                  </a:txBody>
                  <a:tcPr marL="91431" marR="91431" marT="45732" marB="45732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  <a:p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110</a:t>
                      </a:r>
                    </a:p>
                  </a:txBody>
                  <a:tcPr marL="91431" marR="91431" marT="45732" marB="45732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a:txBody>
                  <a:tcPr marL="91431" marR="91431" marT="45732" marB="45732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  <a:p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 marL="91431" marR="91431" marT="45732" marB="45732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350</a:t>
                      </a:r>
                    </a:p>
                    <a:p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440</a:t>
                      </a:r>
                    </a:p>
                  </a:txBody>
                  <a:tcPr marL="91431" marR="91431" marT="45732" marB="45732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35">
                <a:tc>
                  <a:txBody>
                    <a:bodyPr/>
                    <a:lstStyle/>
                    <a:p>
                      <a:endParaRPr lang="es-PE" sz="180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32" marB="45732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80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32" marB="45732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80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32" marB="45732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80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32" marB="45732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32" marB="45732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Marcador de contenido 2"/>
          <p:cNvSpPr>
            <a:spLocks noGrp="1"/>
          </p:cNvSpPr>
          <p:nvPr>
            <p:ph idx="1"/>
          </p:nvPr>
        </p:nvSpPr>
        <p:spPr>
          <a:xfrm>
            <a:off x="781050" y="692150"/>
            <a:ext cx="7607300" cy="3444875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>
                <a:latin typeface="Arial" panose="020B0604020202020204" pitchFamily="34" charset="0"/>
                <a:cs typeface="Arial" panose="020B0604020202020204" pitchFamily="34" charset="0"/>
              </a:rPr>
              <a:t>Ej 3: Sabiendo que la sgte tabla de frecuencias es simétrica; completalo con los datos dados; además se sabe que la Me=27.5 Calcular la media aritmética y la moda.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DDBD91-1407-4E42-9DE0-17EDE7A67F31}" type="slidenum">
              <a:rPr lang="es-ES" smtClean="0"/>
              <a:pPr>
                <a:defRPr/>
              </a:pPr>
              <a:t>27</a:t>
            </a:fld>
            <a:endParaRPr lang="es-ES"/>
          </a:p>
        </p:txBody>
      </p:sp>
      <p:graphicFrame>
        <p:nvGraphicFramePr>
          <p:cNvPr id="5" name="Tabla 4"/>
          <p:cNvGraphicFramePr>
            <a:graphicFrameLocks noGrp="1"/>
          </p:cNvGraphicFramePr>
          <p:nvPr/>
        </p:nvGraphicFramePr>
        <p:xfrm>
          <a:off x="1692275" y="1916113"/>
          <a:ext cx="4464051" cy="275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968"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Intervalos</a:t>
                      </a:r>
                    </a:p>
                  </a:txBody>
                  <a:tcPr marL="91431" marR="91431" marT="45736" marB="4573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 err="1">
                          <a:solidFill>
                            <a:schemeClr val="tx1"/>
                          </a:solidFill>
                        </a:rPr>
                        <a:t>yi</a:t>
                      </a:r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36" marB="4573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fi</a:t>
                      </a:r>
                    </a:p>
                  </a:txBody>
                  <a:tcPr marL="91431" marR="91431" marT="45736" marB="4573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Fi</a:t>
                      </a:r>
                    </a:p>
                  </a:txBody>
                  <a:tcPr marL="91431" marR="91431" marT="45736" marB="4573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hi</a:t>
                      </a:r>
                    </a:p>
                  </a:txBody>
                  <a:tcPr marL="91431" marR="91431" marT="45736" marB="4573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Hi </a:t>
                      </a:r>
                    </a:p>
                  </a:txBody>
                  <a:tcPr marL="91431" marR="91431" marT="45736" marB="45736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2376"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[             &gt;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[             &gt;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[             &gt;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[             &gt;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[             &gt;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[         50 &gt;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[50           ]</a:t>
                      </a:r>
                    </a:p>
                  </a:txBody>
                  <a:tcPr marL="91431" marR="91431" marT="45736" marB="4573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36" marB="4573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36" marB="4573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36" marB="4573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marL="91431" marR="91431" marT="45736" marB="4573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0.65</a:t>
                      </a:r>
                    </a:p>
                    <a:p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marL="91431" marR="91431" marT="45736" marB="45736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68">
                <a:tc>
                  <a:txBody>
                    <a:bodyPr/>
                    <a:lstStyle/>
                    <a:p>
                      <a:endParaRPr lang="es-PE" sz="180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36" marB="4573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80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36" marB="4573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 marL="91431" marR="91431" marT="45736" marB="4573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80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36" marB="4573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36" marB="4573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36" marB="45736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11188" y="620713"/>
            <a:ext cx="7777162" cy="3444875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CUANTILES</a:t>
            </a:r>
          </a:p>
          <a:p>
            <a:pPr marL="457200" indent="-457200">
              <a:buClrTx/>
              <a:buFont typeface="Arial" panose="020B0604020202020204" pitchFamily="34" charset="0"/>
              <a:buAutoNum type="arabicPeriod"/>
              <a:defRPr/>
            </a:pPr>
            <a:r>
              <a:rPr 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Cuartiles (</a:t>
            </a:r>
            <a:r>
              <a:rPr lang="es-P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Qi</a:t>
            </a:r>
            <a:r>
              <a:rPr 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Valores que dividen a un conjunto de datos ordenados en forma ascendente(descendente) en 4 partes iguales.</a:t>
            </a:r>
          </a:p>
          <a:p>
            <a:pPr marL="457200" indent="-457200">
              <a:buClrTx/>
              <a:buFont typeface="Arial" panose="020B0604020202020204" pitchFamily="34" charset="0"/>
              <a:buAutoNum type="arabicPeriod"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ClrTx/>
              <a:buFont typeface="Arial" panose="020B0604020202020204" pitchFamily="34" charset="0"/>
              <a:buAutoNum type="arabicPeriod"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ClrTx/>
              <a:buFont typeface="Arial" panose="020B0604020202020204" pitchFamily="34" charset="0"/>
              <a:buAutoNum type="arabicPeriod"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ClrTx/>
              <a:buFont typeface="Arial" panose="020B0604020202020204" pitchFamily="34" charset="0"/>
              <a:buAutoNum type="arabicPeriod"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ClrTx/>
              <a:buFont typeface="Arial" panose="020B0604020202020204" pitchFamily="34" charset="0"/>
              <a:buAutoNum type="arabicPeriod"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r>
              <a:rPr 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a) Datos no tabulados:  Tarea</a:t>
            </a:r>
          </a:p>
          <a:p>
            <a:pPr marL="457200" indent="-457200">
              <a:buFont typeface="Arial" panose="020B0604020202020204" pitchFamily="34" charset="0"/>
              <a:buAutoNum type="arabicPeriod"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901F9D-DF67-4B28-9D75-D908607DA88D}" type="slidenum">
              <a:rPr lang="es-ES" smtClean="0"/>
              <a:pPr>
                <a:defRPr/>
              </a:pPr>
              <a:t>28</a:t>
            </a:fld>
            <a:endParaRPr lang="es-ES"/>
          </a:p>
        </p:txBody>
      </p:sp>
      <p:pic>
        <p:nvPicPr>
          <p:cNvPr id="36868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1905000"/>
            <a:ext cx="6192837" cy="207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Marcador de contenido 2"/>
          <p:cNvSpPr>
            <a:spLocks noGrp="1"/>
          </p:cNvSpPr>
          <p:nvPr>
            <p:ph idx="1"/>
          </p:nvPr>
        </p:nvSpPr>
        <p:spPr>
          <a:xfrm>
            <a:off x="611188" y="692150"/>
            <a:ext cx="7993062" cy="5761038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 b="1">
                <a:latin typeface="Arial" panose="020B0604020202020204" pitchFamily="34" charset="0"/>
                <a:cs typeface="Arial" panose="020B0604020202020204" pitchFamily="34" charset="0"/>
              </a:rPr>
              <a:t>b) Datos  tabulados:</a:t>
            </a:r>
          </a:p>
          <a:p>
            <a:pPr marL="0" indent="0">
              <a:buClrTx/>
              <a:buFont typeface="Arial" panose="020B0604020202020204" pitchFamily="34" charset="0"/>
              <a:buNone/>
            </a:pPr>
            <a:r>
              <a:rPr lang="es-PE" altLang="es-PE" sz="2000">
                <a:latin typeface="Arial" panose="020B0604020202020204" pitchFamily="34" charset="0"/>
                <a:cs typeface="Arial" panose="020B0604020202020204" pitchFamily="34" charset="0"/>
              </a:rPr>
              <a:t>P1:Calcular las frecuencias absolutas acumuladas menor que</a:t>
            </a:r>
          </a:p>
          <a:p>
            <a:pPr marL="0" indent="0">
              <a:buClrTx/>
              <a:buFont typeface="Arial" panose="020B0604020202020204" pitchFamily="34" charset="0"/>
              <a:buNone/>
            </a:pPr>
            <a:r>
              <a:rPr lang="es-PE" altLang="es-PE" sz="2000">
                <a:latin typeface="Arial" panose="020B0604020202020204" pitchFamily="34" charset="0"/>
                <a:cs typeface="Arial" panose="020B0604020202020204" pitchFamily="34" charset="0"/>
              </a:rPr>
              <a:t>P2: Determinar la menor de frecuencias absolutas acumuladas Fi; tal que:  Fi &gt; in/4  , donde   </a:t>
            </a:r>
            <a:r>
              <a:rPr lang="es-PE" altLang="es-PE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PE" altLang="es-PE" sz="2000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r>
              <a:rPr lang="es-PE" altLang="es-PE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≤ in/4 &lt; Fi ; se puede presentar 2 casos:</a:t>
            </a:r>
          </a:p>
          <a:p>
            <a:pPr marL="0" indent="0">
              <a:buClrTx/>
              <a:buFont typeface="Arial" panose="020B0604020202020204" pitchFamily="34" charset="0"/>
              <a:buNone/>
            </a:pPr>
            <a:r>
              <a:rPr lang="es-PE" altLang="es-PE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i) Si in/4= F</a:t>
            </a:r>
            <a:r>
              <a:rPr lang="es-PE" altLang="es-PE" sz="20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r>
              <a:rPr lang="es-PE" altLang="es-PE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, entonces la  Qi= y’</a:t>
            </a:r>
            <a:r>
              <a:rPr lang="es-PE" altLang="es-PE" sz="20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– 1  </a:t>
            </a:r>
            <a:r>
              <a:rPr lang="es-PE" altLang="es-PE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donde y’</a:t>
            </a:r>
            <a:r>
              <a:rPr lang="es-PE" altLang="es-PE" sz="20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– 1 </a:t>
            </a:r>
            <a:r>
              <a:rPr lang="es-PE" altLang="es-PE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limite inferior de la clase que contiene a Qi</a:t>
            </a:r>
            <a:endParaRPr lang="es-PE" altLang="es-PE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Tx/>
              <a:buFont typeface="Arial" panose="020B0604020202020204" pitchFamily="34" charset="0"/>
              <a:buNone/>
            </a:pPr>
            <a:endParaRPr lang="es-PE" altLang="es-PE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PE" altLang="es-PE" sz="200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33FED3-4907-4FA4-AEF9-A6207F3B2615}" type="slidenum">
              <a:rPr lang="es-ES" smtClean="0"/>
              <a:pPr>
                <a:defRPr/>
              </a:pPr>
              <a:t>29</a:t>
            </a:fld>
            <a:endParaRPr lang="es-ES"/>
          </a:p>
        </p:txBody>
      </p:sp>
      <p:graphicFrame>
        <p:nvGraphicFramePr>
          <p:cNvPr id="5" name="Tabla 4"/>
          <p:cNvGraphicFramePr>
            <a:graphicFrameLocks noGrp="1"/>
          </p:cNvGraphicFramePr>
          <p:nvPr/>
        </p:nvGraphicFramePr>
        <p:xfrm>
          <a:off x="1258888" y="3248025"/>
          <a:ext cx="6096000" cy="3205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619"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y´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i-1 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r>
                        <a:rPr lang="es-PE" sz="18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y’</a:t>
                      </a:r>
                      <a:r>
                        <a:rPr lang="es-PE" sz="1800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692" marB="45692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yi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692" marB="45692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</a:p>
                  </a:txBody>
                  <a:tcPr marT="45692" marB="45692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</a:p>
                  </a:txBody>
                  <a:tcPr marT="45692" marB="45692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 </a:t>
                      </a:r>
                    </a:p>
                  </a:txBody>
                  <a:tcPr marT="45692" marB="45692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54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y´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y’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          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y´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y’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           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y´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i-2 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r>
                        <a:rPr lang="es-PE" sz="18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y’</a:t>
                      </a:r>
                      <a:r>
                        <a:rPr lang="es-PE" sz="1800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- 1            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y´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i-1 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r>
                        <a:rPr lang="es-PE" sz="18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y’</a:t>
                      </a:r>
                      <a:r>
                        <a:rPr lang="es-PE" sz="1800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y´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m-1 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r>
                        <a:rPr lang="es-PE" sz="18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y’</a:t>
                      </a:r>
                      <a:r>
                        <a:rPr lang="es-PE" sz="1800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692" marB="45692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y1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y2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yi-1</a:t>
                      </a:r>
                    </a:p>
                    <a:p>
                      <a:r>
                        <a:rPr lang="es-PE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yi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ym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692" marB="45692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f1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f2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i-1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fm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692" marB="45692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F1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F2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i-1</a:t>
                      </a: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=in/4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T="45692" marB="45692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H1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H2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i-1</a:t>
                      </a: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=i/4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692" marB="45692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Marcador de contenido 2"/>
          <p:cNvSpPr>
            <a:spLocks noGrp="1"/>
          </p:cNvSpPr>
          <p:nvPr>
            <p:ph idx="1"/>
          </p:nvPr>
        </p:nvSpPr>
        <p:spPr>
          <a:xfrm>
            <a:off x="596900" y="692150"/>
            <a:ext cx="8007350" cy="5548313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ii) Si in/4 &gt;F</a:t>
            </a:r>
            <a:r>
              <a:rPr lang="es-PE" altLang="es-PE" sz="20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r>
              <a:rPr lang="es-PE" altLang="es-PE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, entonces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PE" altLang="es-PE" sz="9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s-PE" altLang="es-PE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Qi= y’</a:t>
            </a:r>
            <a:r>
              <a:rPr lang="es-PE" altLang="es-PE" sz="2000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– 1</a:t>
            </a:r>
            <a:r>
              <a:rPr lang="es-PE" altLang="es-PE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ci *                   donde: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s-PE" altLang="es-PE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fi</a:t>
            </a:r>
            <a:endParaRPr lang="es-PE" altLang="es-PE" sz="2000"/>
          </a:p>
          <a:p>
            <a:pPr marL="0" indent="0">
              <a:buFont typeface="Arial" panose="020B0604020202020204" pitchFamily="34" charset="0"/>
              <a:buNone/>
            </a:pPr>
            <a:endParaRPr lang="es-PE" altLang="es-PE" sz="2000"/>
          </a:p>
          <a:p>
            <a:pPr marL="0" indent="0">
              <a:buFont typeface="Arial" panose="020B0604020202020204" pitchFamily="34" charset="0"/>
              <a:buNone/>
            </a:pPr>
            <a:endParaRPr lang="es-PE" altLang="es-PE" sz="2000"/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>
                <a:latin typeface="Arial" panose="020B0604020202020204" pitchFamily="34" charset="0"/>
                <a:cs typeface="Arial" panose="020B0604020202020204" pitchFamily="34" charset="0"/>
              </a:rPr>
              <a:t>Ej: Hallar los cuartiles de la tabla de frecuencias, referente a las notas de 50 alumnos</a:t>
            </a:r>
            <a:r>
              <a:rPr lang="es-PE" altLang="es-PE" sz="200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/>
              <a:t>								</a:t>
            </a:r>
            <a:r>
              <a:rPr lang="es-PE" altLang="es-PE" sz="2000" b="1">
                <a:latin typeface="Arial" panose="020B0604020202020204" pitchFamily="34" charset="0"/>
                <a:cs typeface="Arial" panose="020B0604020202020204" pitchFamily="34" charset="0"/>
              </a:rPr>
              <a:t>Sol: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PE" altLang="es-PE" sz="200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115E70-CE2A-4000-9965-B2D905A553A4}" type="slidenum">
              <a:rPr lang="es-ES" smtClean="0"/>
              <a:pPr>
                <a:defRPr/>
              </a:pPr>
              <a:t>30</a:t>
            </a:fld>
            <a:endParaRPr lang="es-ES"/>
          </a:p>
        </p:txBody>
      </p:sp>
      <p:sp>
        <p:nvSpPr>
          <p:cNvPr id="5" name="Corchetes 4"/>
          <p:cNvSpPr/>
          <p:nvPr/>
        </p:nvSpPr>
        <p:spPr>
          <a:xfrm>
            <a:off x="2339975" y="1052513"/>
            <a:ext cx="1223963" cy="792162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r>
              <a:rPr lang="es-PE" b="0" dirty="0">
                <a:latin typeface="Arial" panose="020B0604020202020204" pitchFamily="34" charset="0"/>
                <a:cs typeface="Arial" panose="020B0604020202020204" pitchFamily="34" charset="0"/>
              </a:rPr>
              <a:t>in/4</a:t>
            </a:r>
            <a:r>
              <a:rPr lang="es-PE" dirty="0"/>
              <a:t>-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b="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PE" b="0" baseline="-25000" dirty="0"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r>
              <a:rPr lang="es-PE" dirty="0"/>
              <a:t> </a:t>
            </a:r>
          </a:p>
        </p:txBody>
      </p:sp>
      <p:sp>
        <p:nvSpPr>
          <p:cNvPr id="38917" name="CuadroTexto 7"/>
          <p:cNvSpPr txBox="1">
            <a:spLocks noChangeArrowheads="1"/>
          </p:cNvSpPr>
          <p:nvPr/>
        </p:nvSpPr>
        <p:spPr bwMode="auto">
          <a:xfrm>
            <a:off x="3779838" y="1773238"/>
            <a:ext cx="4716462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r>
              <a:rPr lang="es-PE" altLang="es-PE" sz="1600" b="0">
                <a:latin typeface="Arial" panose="020B0604020202020204" pitchFamily="34" charset="0"/>
                <a:cs typeface="Arial" panose="020B0604020202020204" pitchFamily="34" charset="0"/>
              </a:rPr>
              <a:t>y’</a:t>
            </a:r>
            <a:r>
              <a:rPr lang="es-PE" altLang="es-PE" sz="1600" b="0" baseline="-25000">
                <a:latin typeface="Arial" panose="020B0604020202020204" pitchFamily="34" charset="0"/>
                <a:cs typeface="Arial" panose="020B0604020202020204" pitchFamily="34" charset="0"/>
              </a:rPr>
              <a:t>i – 1 </a:t>
            </a:r>
            <a:r>
              <a:rPr lang="es-PE" altLang="es-PE" sz="1600" b="0">
                <a:latin typeface="Arial" panose="020B0604020202020204" pitchFamily="34" charset="0"/>
                <a:cs typeface="Arial" panose="020B0604020202020204" pitchFamily="34" charset="0"/>
              </a:rPr>
              <a:t> : limite inferior de la clase que contiene a Qi</a:t>
            </a:r>
          </a:p>
          <a:p>
            <a:r>
              <a:rPr lang="es-PE" altLang="es-PE" sz="1600" b="0">
                <a:latin typeface="Arial" panose="020B0604020202020204" pitchFamily="34" charset="0"/>
                <a:cs typeface="Arial" panose="020B0604020202020204" pitchFamily="34" charset="0"/>
              </a:rPr>
              <a:t>ci : amplitud de la clase que contiene a Qi</a:t>
            </a:r>
          </a:p>
          <a:p>
            <a:r>
              <a:rPr lang="es-PE" altLang="es-PE" sz="1600" b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PE" altLang="es-PE" sz="1600" b="0" baseline="-25000"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r>
              <a:rPr lang="es-PE" altLang="es-PE" sz="1600" b="0">
                <a:latin typeface="Arial" panose="020B0604020202020204" pitchFamily="34" charset="0"/>
                <a:cs typeface="Arial" panose="020B0604020202020204" pitchFamily="34" charset="0"/>
              </a:rPr>
              <a:t> : F.A.A. anterior a la clase que contiene a Qi</a:t>
            </a:r>
          </a:p>
          <a:p>
            <a:r>
              <a:rPr lang="es-PE" altLang="es-PE" sz="1600" b="0">
                <a:latin typeface="Arial" panose="020B0604020202020204" pitchFamily="34" charset="0"/>
                <a:cs typeface="Arial" panose="020B0604020202020204" pitchFamily="34" charset="0"/>
              </a:rPr>
              <a:t>fi :  FA. de la clase  que contiene a Qi</a:t>
            </a:r>
            <a:endParaRPr lang="es-PE" altLang="es-PE" sz="1600" b="0"/>
          </a:p>
        </p:txBody>
      </p:sp>
      <p:cxnSp>
        <p:nvCxnSpPr>
          <p:cNvPr id="8" name="Conector recto 7"/>
          <p:cNvCxnSpPr/>
          <p:nvPr/>
        </p:nvCxnSpPr>
        <p:spPr>
          <a:xfrm>
            <a:off x="2339975" y="1628775"/>
            <a:ext cx="12239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971550" y="3581400"/>
          <a:ext cx="2952750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2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1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Intervalos</a:t>
                      </a:r>
                    </a:p>
                  </a:txBody>
                  <a:tcPr marL="91453" marR="91453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fi</a:t>
                      </a:r>
                    </a:p>
                  </a:txBody>
                  <a:tcPr marL="91453" marR="91453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[20 – 40&gt;</a:t>
                      </a:r>
                    </a:p>
                    <a:p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[40 – 60&gt;</a:t>
                      </a:r>
                    </a:p>
                    <a:p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[60 – 80&gt;</a:t>
                      </a:r>
                    </a:p>
                    <a:p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[80 – 100&gt;</a:t>
                      </a:r>
                    </a:p>
                  </a:txBody>
                  <a:tcPr marL="91453" marR="91453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  <a:p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  <a:p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53" marR="91453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>
                        <a:solidFill>
                          <a:schemeClr val="tx1"/>
                        </a:solidFill>
                      </a:endParaRPr>
                    </a:p>
                  </a:txBody>
                  <a:tcPr marL="91453" marR="91453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PE">
                        <a:solidFill>
                          <a:schemeClr val="tx1"/>
                        </a:solidFill>
                      </a:endParaRPr>
                    </a:p>
                  </a:txBody>
                  <a:tcPr marL="91453" marR="91453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 marL="91453" marR="91453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11188" y="620713"/>
            <a:ext cx="7921625" cy="3444875"/>
          </a:xfrm>
        </p:spPr>
        <p:txBody>
          <a:bodyPr/>
          <a:lstStyle/>
          <a:p>
            <a:pPr marL="0" indent="0">
              <a:buClrTx/>
              <a:buFont typeface="Arial" panose="020B0604020202020204" pitchFamily="34" charset="0"/>
              <a:buNone/>
              <a:defRPr/>
            </a:pPr>
            <a:r>
              <a:rPr 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s-P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Deciles</a:t>
            </a:r>
            <a:r>
              <a:rPr 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 (Di):</a:t>
            </a: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Valores que dividen a un conjunto de datos ordenados en forma ascendente(descendente) en 10 partes iguales.</a:t>
            </a:r>
          </a:p>
          <a:p>
            <a:pPr marL="457200" indent="-457200">
              <a:buClrTx/>
              <a:buFont typeface="Arial" panose="020B0604020202020204" pitchFamily="34" charset="0"/>
              <a:buAutoNum type="arabicPeriod"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ClrTx/>
              <a:buFont typeface="Arial" panose="020B0604020202020204" pitchFamily="34" charset="0"/>
              <a:buAutoNum type="arabicPeriod"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ClrTx/>
              <a:buFont typeface="Arial" panose="020B0604020202020204" pitchFamily="34" charset="0"/>
              <a:buAutoNum type="arabicPeriod"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ClrTx/>
              <a:buFont typeface="Arial" panose="020B0604020202020204" pitchFamily="34" charset="0"/>
              <a:buAutoNum type="arabicPeriod"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ClrTx/>
              <a:buFont typeface="Arial" panose="020B0604020202020204" pitchFamily="34" charset="0"/>
              <a:buAutoNum type="arabicPeriod"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r>
              <a:rPr 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a) Datos no tabulados:  Tarea</a:t>
            </a:r>
          </a:p>
          <a:p>
            <a:pPr marL="457200" indent="-457200">
              <a:buFont typeface="Arial" panose="020B0604020202020204" pitchFamily="34" charset="0"/>
              <a:buAutoNum type="arabicPeriod"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5A12B7-3147-4A8C-82D7-CDA885FE8A5A}" type="slidenum">
              <a:rPr lang="es-ES" smtClean="0"/>
              <a:pPr>
                <a:defRPr/>
              </a:pPr>
              <a:t>31</a:t>
            </a:fld>
            <a:endParaRPr lang="es-ES"/>
          </a:p>
        </p:txBody>
      </p:sp>
      <p:pic>
        <p:nvPicPr>
          <p:cNvPr id="39940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1341438"/>
            <a:ext cx="5616575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Marcador de contenido 2"/>
          <p:cNvSpPr>
            <a:spLocks noGrp="1"/>
          </p:cNvSpPr>
          <p:nvPr>
            <p:ph idx="1"/>
          </p:nvPr>
        </p:nvSpPr>
        <p:spPr>
          <a:xfrm>
            <a:off x="611188" y="692150"/>
            <a:ext cx="7993062" cy="5548313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 b="1">
                <a:latin typeface="Arial" panose="020B0604020202020204" pitchFamily="34" charset="0"/>
                <a:cs typeface="Arial" panose="020B0604020202020204" pitchFamily="34" charset="0"/>
              </a:rPr>
              <a:t>b) Datos  tabulados:</a:t>
            </a:r>
          </a:p>
          <a:p>
            <a:pPr marL="0" indent="0">
              <a:buClrTx/>
              <a:buFont typeface="Arial" panose="020B0604020202020204" pitchFamily="34" charset="0"/>
              <a:buNone/>
            </a:pPr>
            <a:r>
              <a:rPr lang="es-PE" altLang="es-PE" sz="2000">
                <a:latin typeface="Arial" panose="020B0604020202020204" pitchFamily="34" charset="0"/>
                <a:cs typeface="Arial" panose="020B0604020202020204" pitchFamily="34" charset="0"/>
              </a:rPr>
              <a:t>P1:Calcular las frecuencias absolutas acumuladas menor que</a:t>
            </a:r>
          </a:p>
          <a:p>
            <a:pPr marL="0" indent="0">
              <a:buClrTx/>
              <a:buFont typeface="Arial" panose="020B0604020202020204" pitchFamily="34" charset="0"/>
              <a:buNone/>
            </a:pPr>
            <a:r>
              <a:rPr lang="es-PE" altLang="es-PE" sz="2000">
                <a:latin typeface="Arial" panose="020B0604020202020204" pitchFamily="34" charset="0"/>
                <a:cs typeface="Arial" panose="020B0604020202020204" pitchFamily="34" charset="0"/>
              </a:rPr>
              <a:t>P2: Determinar la menor de frecuencias absolutas acumuladas Fi; tal que:  Fi &gt; in/10  , donde   </a:t>
            </a:r>
            <a:r>
              <a:rPr lang="es-PE" altLang="es-PE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PE" altLang="es-PE" sz="2000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r>
              <a:rPr lang="es-PE" altLang="es-PE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≤ in/10 &lt; Fi ; se puede presentar 2 casos:</a:t>
            </a:r>
          </a:p>
          <a:p>
            <a:pPr marL="0" indent="0">
              <a:buClrTx/>
              <a:buFont typeface="Arial" panose="020B0604020202020204" pitchFamily="34" charset="0"/>
              <a:buNone/>
            </a:pPr>
            <a:r>
              <a:rPr lang="es-PE" altLang="es-PE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i) Si in/10= F</a:t>
            </a:r>
            <a:r>
              <a:rPr lang="es-PE" altLang="es-PE" sz="20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r>
              <a:rPr lang="es-PE" altLang="es-PE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, entonces la  Di= y’</a:t>
            </a:r>
            <a:r>
              <a:rPr lang="es-PE" altLang="es-PE" sz="20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– 1  </a:t>
            </a:r>
            <a:r>
              <a:rPr lang="es-PE" altLang="es-PE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donde y’</a:t>
            </a:r>
            <a:r>
              <a:rPr lang="es-PE" altLang="es-PE" sz="20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– 1 </a:t>
            </a:r>
            <a:r>
              <a:rPr lang="es-PE" altLang="es-PE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limite inferior de la clase que contiene a Di</a:t>
            </a:r>
            <a:endParaRPr lang="es-PE" altLang="es-PE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Tx/>
              <a:buFont typeface="Arial" panose="020B0604020202020204" pitchFamily="34" charset="0"/>
              <a:buNone/>
            </a:pPr>
            <a:endParaRPr lang="es-PE" altLang="es-PE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PE" altLang="es-PE" sz="200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F633A-197D-4355-AE40-1ED3D73214E7}" type="slidenum">
              <a:rPr lang="es-ES" smtClean="0"/>
              <a:pPr>
                <a:defRPr/>
              </a:pPr>
              <a:t>32</a:t>
            </a:fld>
            <a:endParaRPr lang="es-ES"/>
          </a:p>
        </p:txBody>
      </p:sp>
      <p:graphicFrame>
        <p:nvGraphicFramePr>
          <p:cNvPr id="5" name="Tabla 4"/>
          <p:cNvGraphicFramePr>
            <a:graphicFrameLocks noGrp="1"/>
          </p:cNvGraphicFramePr>
          <p:nvPr/>
        </p:nvGraphicFramePr>
        <p:xfrm>
          <a:off x="1116013" y="3357563"/>
          <a:ext cx="6096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37"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y´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i-1 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r>
                        <a:rPr lang="es-PE" sz="18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y’</a:t>
                      </a:r>
                      <a:r>
                        <a:rPr lang="es-PE" sz="1800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06" marB="4570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yi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06" marB="4570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</a:p>
                  </a:txBody>
                  <a:tcPr marT="45706" marB="4570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</a:p>
                  </a:txBody>
                  <a:tcPr marT="45706" marB="4570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 </a:t>
                      </a:r>
                    </a:p>
                  </a:txBody>
                  <a:tcPr marT="45706" marB="45706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6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y´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y’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          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y´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y’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           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y´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i-2 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r>
                        <a:rPr lang="es-PE" sz="18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y’</a:t>
                      </a:r>
                      <a:r>
                        <a:rPr lang="es-PE" sz="1800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- 1            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y´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i-1 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r>
                        <a:rPr lang="es-PE" sz="18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y’</a:t>
                      </a:r>
                      <a:r>
                        <a:rPr lang="es-PE" sz="1800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y´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m-1 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r>
                        <a:rPr lang="es-PE" sz="18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y’</a:t>
                      </a:r>
                      <a:r>
                        <a:rPr lang="es-PE" sz="1800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06" marB="4570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y1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y2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yi-1</a:t>
                      </a:r>
                    </a:p>
                    <a:p>
                      <a:r>
                        <a:rPr lang="es-PE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yi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ym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06" marB="4570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f1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f2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i-1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fm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06" marB="4570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F1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F2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i-1</a:t>
                      </a: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=in/10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T="45706" marB="4570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H1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H2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i-1</a:t>
                      </a: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=i/10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06" marB="45706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Marcador de contenido 2"/>
          <p:cNvSpPr>
            <a:spLocks noGrp="1"/>
          </p:cNvSpPr>
          <p:nvPr>
            <p:ph idx="1"/>
          </p:nvPr>
        </p:nvSpPr>
        <p:spPr>
          <a:xfrm>
            <a:off x="596900" y="692150"/>
            <a:ext cx="8007350" cy="5548313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ii) Si in/10 &gt;F</a:t>
            </a:r>
            <a:r>
              <a:rPr lang="es-PE" altLang="es-PE" sz="20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r>
              <a:rPr lang="es-PE" altLang="es-PE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, entonces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PE" altLang="es-PE" sz="9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s-PE" altLang="es-PE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Di= y’</a:t>
            </a:r>
            <a:r>
              <a:rPr lang="es-PE" altLang="es-PE" sz="2000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– 1</a:t>
            </a:r>
            <a:r>
              <a:rPr lang="es-PE" altLang="es-PE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ci *                        donde: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s-PE" altLang="es-PE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fi</a:t>
            </a:r>
            <a:endParaRPr lang="es-PE" altLang="es-PE" sz="2000"/>
          </a:p>
          <a:p>
            <a:pPr marL="0" indent="0">
              <a:buFont typeface="Arial" panose="020B0604020202020204" pitchFamily="34" charset="0"/>
              <a:buNone/>
            </a:pPr>
            <a:endParaRPr lang="es-PE" altLang="es-PE" sz="2000"/>
          </a:p>
          <a:p>
            <a:pPr marL="0" indent="0">
              <a:buFont typeface="Arial" panose="020B0604020202020204" pitchFamily="34" charset="0"/>
              <a:buNone/>
            </a:pPr>
            <a:endParaRPr lang="es-PE" altLang="es-PE" sz="2000"/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>
                <a:latin typeface="Arial" panose="020B0604020202020204" pitchFamily="34" charset="0"/>
                <a:cs typeface="Arial" panose="020B0604020202020204" pitchFamily="34" charset="0"/>
              </a:rPr>
              <a:t>Ej: Hallar los deciles: 3,5,7 y 9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>
                <a:latin typeface="Arial" panose="020B0604020202020204" pitchFamily="34" charset="0"/>
                <a:cs typeface="Arial" panose="020B0604020202020204" pitchFamily="34" charset="0"/>
              </a:rPr>
              <a:t>						</a:t>
            </a:r>
            <a:r>
              <a:rPr lang="es-PE" altLang="es-PE" sz="2000" b="1">
                <a:latin typeface="Arial" panose="020B0604020202020204" pitchFamily="34" charset="0"/>
                <a:cs typeface="Arial" panose="020B0604020202020204" pitchFamily="34" charset="0"/>
              </a:rPr>
              <a:t>Sol: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PE" altLang="es-PE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0F6608-F18F-45A1-86FA-0CEB2B3D3F5E}" type="slidenum">
              <a:rPr lang="es-ES" smtClean="0"/>
              <a:pPr>
                <a:defRPr/>
              </a:pPr>
              <a:t>33</a:t>
            </a:fld>
            <a:endParaRPr lang="es-ES"/>
          </a:p>
        </p:txBody>
      </p:sp>
      <p:sp>
        <p:nvSpPr>
          <p:cNvPr id="5" name="Corchetes 4"/>
          <p:cNvSpPr/>
          <p:nvPr/>
        </p:nvSpPr>
        <p:spPr>
          <a:xfrm>
            <a:off x="2339975" y="1052513"/>
            <a:ext cx="1439863" cy="792162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r>
              <a:rPr lang="es-PE" b="0" dirty="0">
                <a:latin typeface="Arial" panose="020B0604020202020204" pitchFamily="34" charset="0"/>
                <a:cs typeface="Arial" panose="020B0604020202020204" pitchFamily="34" charset="0"/>
              </a:rPr>
              <a:t>in/10 </a:t>
            </a:r>
            <a:r>
              <a:rPr lang="es-PE" dirty="0"/>
              <a:t>-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b="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PE" b="0" baseline="-25000" dirty="0"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r>
              <a:rPr lang="es-PE" dirty="0"/>
              <a:t> </a:t>
            </a:r>
          </a:p>
        </p:txBody>
      </p:sp>
      <p:sp>
        <p:nvSpPr>
          <p:cNvPr id="41989" name="CuadroTexto 7"/>
          <p:cNvSpPr txBox="1">
            <a:spLocks noChangeArrowheads="1"/>
          </p:cNvSpPr>
          <p:nvPr/>
        </p:nvSpPr>
        <p:spPr bwMode="auto">
          <a:xfrm>
            <a:off x="3779838" y="1773238"/>
            <a:ext cx="4716462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r>
              <a:rPr lang="es-PE" altLang="es-PE" sz="1600" b="0">
                <a:latin typeface="Arial" panose="020B0604020202020204" pitchFamily="34" charset="0"/>
                <a:cs typeface="Arial" panose="020B0604020202020204" pitchFamily="34" charset="0"/>
              </a:rPr>
              <a:t>y’</a:t>
            </a:r>
            <a:r>
              <a:rPr lang="es-PE" altLang="es-PE" sz="1600" b="0" baseline="-25000">
                <a:latin typeface="Arial" panose="020B0604020202020204" pitchFamily="34" charset="0"/>
                <a:cs typeface="Arial" panose="020B0604020202020204" pitchFamily="34" charset="0"/>
              </a:rPr>
              <a:t>i – 1 </a:t>
            </a:r>
            <a:r>
              <a:rPr lang="es-PE" altLang="es-PE" sz="1600" b="0">
                <a:latin typeface="Arial" panose="020B0604020202020204" pitchFamily="34" charset="0"/>
                <a:cs typeface="Arial" panose="020B0604020202020204" pitchFamily="34" charset="0"/>
              </a:rPr>
              <a:t> : limite inferior de la clase que contiene a Di</a:t>
            </a:r>
          </a:p>
          <a:p>
            <a:r>
              <a:rPr lang="es-PE" altLang="es-PE" sz="1600" b="0">
                <a:latin typeface="Arial" panose="020B0604020202020204" pitchFamily="34" charset="0"/>
                <a:cs typeface="Arial" panose="020B0604020202020204" pitchFamily="34" charset="0"/>
              </a:rPr>
              <a:t>ci : amplitud de la clase que contiene a Di</a:t>
            </a:r>
          </a:p>
          <a:p>
            <a:r>
              <a:rPr lang="es-PE" altLang="es-PE" sz="1600" b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PE" altLang="es-PE" sz="1600" b="0" baseline="-25000"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r>
              <a:rPr lang="es-PE" altLang="es-PE" sz="1600" b="0">
                <a:latin typeface="Arial" panose="020B0604020202020204" pitchFamily="34" charset="0"/>
                <a:cs typeface="Arial" panose="020B0604020202020204" pitchFamily="34" charset="0"/>
              </a:rPr>
              <a:t> : F.A.A. anterior a la clase que contiene a Di</a:t>
            </a:r>
          </a:p>
          <a:p>
            <a:r>
              <a:rPr lang="es-PE" altLang="es-PE" sz="1600" b="0">
                <a:latin typeface="Arial" panose="020B0604020202020204" pitchFamily="34" charset="0"/>
                <a:cs typeface="Arial" panose="020B0604020202020204" pitchFamily="34" charset="0"/>
              </a:rPr>
              <a:t>fi :  FA. de la clase  que contiene a Di</a:t>
            </a:r>
            <a:endParaRPr lang="es-PE" altLang="es-PE" sz="1600" b="0"/>
          </a:p>
        </p:txBody>
      </p:sp>
      <p:cxnSp>
        <p:nvCxnSpPr>
          <p:cNvPr id="8" name="Conector recto 7"/>
          <p:cNvCxnSpPr/>
          <p:nvPr/>
        </p:nvCxnSpPr>
        <p:spPr>
          <a:xfrm>
            <a:off x="2339975" y="1628775"/>
            <a:ext cx="12239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971550" y="3500438"/>
          <a:ext cx="1944688" cy="2382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89"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Intervalos</a:t>
                      </a:r>
                    </a:p>
                  </a:txBody>
                  <a:tcPr marL="91462" marR="91462" marT="45726" marB="4572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Hi </a:t>
                      </a:r>
                    </a:p>
                  </a:txBody>
                  <a:tcPr marL="91462" marR="91462" marT="45726" marB="45726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948"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[5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</a:rPr>
                        <a:t> –  15&gt;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[15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</a:rPr>
                        <a:t> – 25&gt;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[25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</a:rPr>
                        <a:t> – 35&gt;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[35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</a:rPr>
                        <a:t> – 45&gt;</a:t>
                      </a:r>
                    </a:p>
                    <a:p>
                      <a:r>
                        <a:rPr lang="es-PE" sz="18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r>
                        <a:rPr lang="es-PE" sz="18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r>
                        <a:rPr lang="es-PE" sz="18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62" marR="91462" marT="45726" marB="4572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0.03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0.11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0.46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91462" marR="91462" marT="45726" marB="45726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8313" y="620713"/>
            <a:ext cx="8064500" cy="3444875"/>
          </a:xfrm>
        </p:spPr>
        <p:txBody>
          <a:bodyPr/>
          <a:lstStyle/>
          <a:p>
            <a:pPr marL="0" indent="0">
              <a:buClrTx/>
              <a:buFont typeface="Arial" panose="020B0604020202020204" pitchFamily="34" charset="0"/>
              <a:buNone/>
              <a:defRPr/>
            </a:pPr>
            <a:r>
              <a:rPr 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3. Percentiles (Pi):</a:t>
            </a: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Valores que dividen a un conjunto de datos ordenados en forma ascendente(descendente) en 100 partes iguales.</a:t>
            </a:r>
          </a:p>
          <a:p>
            <a:pPr marL="457200" indent="-457200">
              <a:buClrTx/>
              <a:buFont typeface="Arial" panose="020B0604020202020204" pitchFamily="34" charset="0"/>
              <a:buAutoNum type="arabicPeriod"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ClrTx/>
              <a:buFont typeface="Arial" panose="020B0604020202020204" pitchFamily="34" charset="0"/>
              <a:buAutoNum type="arabicPeriod"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ClrTx/>
              <a:buFont typeface="Arial" panose="020B0604020202020204" pitchFamily="34" charset="0"/>
              <a:buAutoNum type="arabicPeriod"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ClrTx/>
              <a:buFont typeface="Arial" panose="020B0604020202020204" pitchFamily="34" charset="0"/>
              <a:buAutoNum type="arabicPeriod"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r>
              <a:rPr 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a) Datos no tabulados:  Tarea</a:t>
            </a:r>
          </a:p>
          <a:p>
            <a:pPr marL="457200" indent="-457200">
              <a:buFont typeface="Arial" panose="020B0604020202020204" pitchFamily="34" charset="0"/>
              <a:buAutoNum type="arabicPeriod"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9BBBAC-9572-4EFB-B253-C1F1EAB88904}" type="slidenum">
              <a:rPr lang="es-ES" smtClean="0"/>
              <a:pPr>
                <a:defRPr/>
              </a:pPr>
              <a:t>34</a:t>
            </a:fld>
            <a:endParaRPr lang="es-ES"/>
          </a:p>
        </p:txBody>
      </p:sp>
      <p:pic>
        <p:nvPicPr>
          <p:cNvPr id="43012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450" y="1406525"/>
            <a:ext cx="6667500" cy="187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Marcador de contenido 2"/>
          <p:cNvSpPr>
            <a:spLocks noGrp="1"/>
          </p:cNvSpPr>
          <p:nvPr>
            <p:ph idx="1"/>
          </p:nvPr>
        </p:nvSpPr>
        <p:spPr>
          <a:xfrm>
            <a:off x="611188" y="692150"/>
            <a:ext cx="7993062" cy="5548313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 b="1">
                <a:latin typeface="Arial" panose="020B0604020202020204" pitchFamily="34" charset="0"/>
                <a:cs typeface="Arial" panose="020B0604020202020204" pitchFamily="34" charset="0"/>
              </a:rPr>
              <a:t>b) Datos  tabulados:</a:t>
            </a:r>
          </a:p>
          <a:p>
            <a:pPr marL="0" indent="0">
              <a:buClrTx/>
              <a:buFont typeface="Arial" panose="020B0604020202020204" pitchFamily="34" charset="0"/>
              <a:buNone/>
            </a:pPr>
            <a:r>
              <a:rPr lang="es-PE" altLang="es-PE" sz="2000">
                <a:latin typeface="Arial" panose="020B0604020202020204" pitchFamily="34" charset="0"/>
                <a:cs typeface="Arial" panose="020B0604020202020204" pitchFamily="34" charset="0"/>
              </a:rPr>
              <a:t>P1:Calcular las frecuencias absolutas acumuladas menor que</a:t>
            </a:r>
          </a:p>
          <a:p>
            <a:pPr marL="0" indent="0">
              <a:buClrTx/>
              <a:buFont typeface="Arial" panose="020B0604020202020204" pitchFamily="34" charset="0"/>
              <a:buNone/>
            </a:pPr>
            <a:r>
              <a:rPr lang="es-PE" altLang="es-PE" sz="2000">
                <a:latin typeface="Arial" panose="020B0604020202020204" pitchFamily="34" charset="0"/>
                <a:cs typeface="Arial" panose="020B0604020202020204" pitchFamily="34" charset="0"/>
              </a:rPr>
              <a:t>P2: Determinar la menor de las frecuencias absolutas acumuladas Fi; tal que:  Fi &gt; in/100  , donde   </a:t>
            </a:r>
            <a:r>
              <a:rPr lang="es-PE" altLang="es-PE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PE" altLang="es-PE" sz="2000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r>
              <a:rPr lang="es-PE" altLang="es-PE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≤ in/100 &lt; Fi ; se puede presentar 2 casos:</a:t>
            </a:r>
          </a:p>
          <a:p>
            <a:pPr marL="0" indent="0">
              <a:buClrTx/>
              <a:buFont typeface="Arial" panose="020B0604020202020204" pitchFamily="34" charset="0"/>
              <a:buNone/>
            </a:pPr>
            <a:r>
              <a:rPr lang="es-PE" altLang="es-PE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i) Si in/100= F</a:t>
            </a:r>
            <a:r>
              <a:rPr lang="es-PE" altLang="es-PE" sz="20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r>
              <a:rPr lang="es-PE" altLang="es-PE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, entonces la  Pi= y’</a:t>
            </a:r>
            <a:r>
              <a:rPr lang="es-PE" altLang="es-PE" sz="20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– 1  </a:t>
            </a:r>
            <a:r>
              <a:rPr lang="es-PE" altLang="es-PE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donde y’</a:t>
            </a:r>
            <a:r>
              <a:rPr lang="es-PE" altLang="es-PE" sz="20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– 1 </a:t>
            </a:r>
            <a:r>
              <a:rPr lang="es-PE" altLang="es-PE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limite inferior de la clase que contiene a Pi</a:t>
            </a:r>
            <a:endParaRPr lang="es-PE" altLang="es-PE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Tx/>
              <a:buFont typeface="Arial" panose="020B0604020202020204" pitchFamily="34" charset="0"/>
              <a:buNone/>
            </a:pPr>
            <a:endParaRPr lang="es-PE" altLang="es-PE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PE" altLang="es-PE" sz="200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50A846-F672-41F8-A141-87988C76C4DE}" type="slidenum">
              <a:rPr lang="es-ES" smtClean="0"/>
              <a:pPr>
                <a:defRPr/>
              </a:pPr>
              <a:t>35</a:t>
            </a:fld>
            <a:endParaRPr lang="es-ES"/>
          </a:p>
        </p:txBody>
      </p:sp>
      <p:graphicFrame>
        <p:nvGraphicFramePr>
          <p:cNvPr id="5" name="Tabla 4"/>
          <p:cNvGraphicFramePr>
            <a:graphicFrameLocks noGrp="1"/>
          </p:cNvGraphicFramePr>
          <p:nvPr/>
        </p:nvGraphicFramePr>
        <p:xfrm>
          <a:off x="1116013" y="3357563"/>
          <a:ext cx="626427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1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08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60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37"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y´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i-1 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r>
                        <a:rPr lang="es-PE" sz="18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y’</a:t>
                      </a:r>
                      <a:r>
                        <a:rPr lang="es-PE" sz="1800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06" marB="4570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yi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06" marB="4570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</a:p>
                  </a:txBody>
                  <a:tcPr marL="91434" marR="91434" marT="45706" marB="4570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</a:p>
                  </a:txBody>
                  <a:tcPr marL="91434" marR="91434" marT="45706" marB="4570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 </a:t>
                      </a:r>
                    </a:p>
                  </a:txBody>
                  <a:tcPr marL="91434" marR="91434" marT="45706" marB="45706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6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y´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y’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          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y´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y’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           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y´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i-2 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r>
                        <a:rPr lang="es-PE" sz="18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y’</a:t>
                      </a:r>
                      <a:r>
                        <a:rPr lang="es-PE" sz="1800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- 1            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y´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i-1 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r>
                        <a:rPr lang="es-PE" sz="18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y’</a:t>
                      </a:r>
                      <a:r>
                        <a:rPr lang="es-PE" sz="1800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y´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m-1 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r>
                        <a:rPr lang="es-PE" sz="18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y’</a:t>
                      </a:r>
                      <a:r>
                        <a:rPr lang="es-PE" sz="1800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06" marB="4570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y1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y2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yi-1</a:t>
                      </a:r>
                    </a:p>
                    <a:p>
                      <a:r>
                        <a:rPr lang="es-PE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yi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ym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06" marB="4570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f1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f2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i-1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fm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06" marB="4570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F1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F2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i-1</a:t>
                      </a: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=in/100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91434" marR="91434" marT="45706" marB="45706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H1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H2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  <a:r>
                        <a:rPr lang="es-PE" sz="180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i-1</a:t>
                      </a:r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=i/100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06" marB="45706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Marcador de contenido 2"/>
          <p:cNvSpPr>
            <a:spLocks noGrp="1"/>
          </p:cNvSpPr>
          <p:nvPr>
            <p:ph idx="1"/>
          </p:nvPr>
        </p:nvSpPr>
        <p:spPr>
          <a:xfrm>
            <a:off x="596900" y="692150"/>
            <a:ext cx="8007350" cy="5548313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ii) Si in/10 &gt;F</a:t>
            </a:r>
            <a:r>
              <a:rPr lang="es-PE" altLang="es-PE" sz="20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r>
              <a:rPr lang="es-PE" altLang="es-PE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, entonces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PE" altLang="es-PE" sz="9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s-PE" altLang="es-PE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Pi= y’</a:t>
            </a:r>
            <a:r>
              <a:rPr lang="es-PE" altLang="es-PE" sz="2000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– 1</a:t>
            </a:r>
            <a:r>
              <a:rPr lang="es-PE" altLang="es-PE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ci *                         donde: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s-PE" altLang="es-PE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fi</a:t>
            </a:r>
            <a:endParaRPr lang="es-PE" altLang="es-PE" sz="2000"/>
          </a:p>
          <a:p>
            <a:pPr marL="0" indent="0">
              <a:buFont typeface="Arial" panose="020B0604020202020204" pitchFamily="34" charset="0"/>
              <a:buNone/>
            </a:pPr>
            <a:endParaRPr lang="es-PE" altLang="es-PE" sz="2000"/>
          </a:p>
          <a:p>
            <a:pPr marL="0" indent="0">
              <a:buFont typeface="Arial" panose="020B0604020202020204" pitchFamily="34" charset="0"/>
              <a:buNone/>
            </a:pPr>
            <a:endParaRPr lang="es-PE" altLang="es-PE" sz="2000"/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 sz="1800">
                <a:latin typeface="Arial" panose="020B0604020202020204" pitchFamily="34" charset="0"/>
                <a:cs typeface="Arial" panose="020B0604020202020204" pitchFamily="34" charset="0"/>
              </a:rPr>
              <a:t>Ej: La distribución de frecuencias sobre los diámetros de tubos, presenta las frecuencias relativas h3 y h6 borrosas; se sabe que la media es 7.9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/>
              <a:t>						</a:t>
            </a:r>
            <a:r>
              <a:rPr lang="es-PE" altLang="es-PE" sz="2000">
                <a:latin typeface="Arial" panose="020B0604020202020204" pitchFamily="34" charset="0"/>
                <a:cs typeface="Arial" panose="020B0604020202020204" pitchFamily="34" charset="0"/>
              </a:rPr>
              <a:t>Determine: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s-PE" altLang="es-PE" sz="2000"/>
              <a:t>					</a:t>
            </a:r>
            <a:r>
              <a:rPr lang="es-PE" altLang="es-PE" sz="2000">
                <a:latin typeface="Arial" panose="020B0604020202020204" pitchFamily="34" charset="0"/>
                <a:cs typeface="Arial" panose="020B0604020202020204" pitchFamily="34" charset="0"/>
              </a:rPr>
              <a:t>a) El diámetro que es excedido por el 75% de los 								diámetros de los tubos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s-PE" altLang="es-PE" sz="2000">
                <a:latin typeface="Arial" panose="020B0604020202020204" pitchFamily="34" charset="0"/>
                <a:cs typeface="Arial" panose="020B0604020202020204" pitchFamily="34" charset="0"/>
              </a:rPr>
              <a:t>					b) El diámetro que supere al 75% de los 								diámetros de los tubos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/>
              <a:t> 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C9F32F-4634-4A46-BB92-CB4A61463C61}" type="slidenum">
              <a:rPr lang="es-ES" smtClean="0"/>
              <a:pPr>
                <a:defRPr/>
              </a:pPr>
              <a:t>36</a:t>
            </a:fld>
            <a:endParaRPr lang="es-ES"/>
          </a:p>
        </p:txBody>
      </p:sp>
      <p:sp>
        <p:nvSpPr>
          <p:cNvPr id="5" name="Corchetes 4"/>
          <p:cNvSpPr/>
          <p:nvPr/>
        </p:nvSpPr>
        <p:spPr>
          <a:xfrm>
            <a:off x="2339975" y="1052513"/>
            <a:ext cx="1584325" cy="792162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r>
              <a:rPr lang="es-PE" b="0" dirty="0">
                <a:latin typeface="Arial" panose="020B0604020202020204" pitchFamily="34" charset="0"/>
                <a:cs typeface="Arial" panose="020B0604020202020204" pitchFamily="34" charset="0"/>
              </a:rPr>
              <a:t>in/100 </a:t>
            </a:r>
            <a:r>
              <a:rPr lang="es-PE" dirty="0"/>
              <a:t>-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b="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PE" b="0" baseline="-25000" dirty="0"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r>
              <a:rPr lang="es-PE" dirty="0"/>
              <a:t> </a:t>
            </a:r>
          </a:p>
        </p:txBody>
      </p:sp>
      <p:sp>
        <p:nvSpPr>
          <p:cNvPr id="45061" name="CuadroTexto 7"/>
          <p:cNvSpPr txBox="1">
            <a:spLocks noChangeArrowheads="1"/>
          </p:cNvSpPr>
          <p:nvPr/>
        </p:nvSpPr>
        <p:spPr bwMode="auto">
          <a:xfrm>
            <a:off x="3779838" y="1773238"/>
            <a:ext cx="4716462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r>
              <a:rPr lang="es-PE" altLang="es-PE" sz="1600" b="0">
                <a:latin typeface="Arial" panose="020B0604020202020204" pitchFamily="34" charset="0"/>
                <a:cs typeface="Arial" panose="020B0604020202020204" pitchFamily="34" charset="0"/>
              </a:rPr>
              <a:t>y’</a:t>
            </a:r>
            <a:r>
              <a:rPr lang="es-PE" altLang="es-PE" sz="1600" b="0" baseline="-25000">
                <a:latin typeface="Arial" panose="020B0604020202020204" pitchFamily="34" charset="0"/>
                <a:cs typeface="Arial" panose="020B0604020202020204" pitchFamily="34" charset="0"/>
              </a:rPr>
              <a:t>i – 1 </a:t>
            </a:r>
            <a:r>
              <a:rPr lang="es-PE" altLang="es-PE" sz="1600" b="0">
                <a:latin typeface="Arial" panose="020B0604020202020204" pitchFamily="34" charset="0"/>
                <a:cs typeface="Arial" panose="020B0604020202020204" pitchFamily="34" charset="0"/>
              </a:rPr>
              <a:t> : limite inferior de la clase que contiene a Pi</a:t>
            </a:r>
          </a:p>
          <a:p>
            <a:r>
              <a:rPr lang="es-PE" altLang="es-PE" sz="1600" b="0">
                <a:latin typeface="Arial" panose="020B0604020202020204" pitchFamily="34" charset="0"/>
                <a:cs typeface="Arial" panose="020B0604020202020204" pitchFamily="34" charset="0"/>
              </a:rPr>
              <a:t>ci : amplitud de la clase que contiene a Pi</a:t>
            </a:r>
          </a:p>
          <a:p>
            <a:r>
              <a:rPr lang="es-PE" altLang="es-PE" sz="1600" b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PE" altLang="es-PE" sz="1600" b="0" baseline="-25000"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r>
              <a:rPr lang="es-PE" altLang="es-PE" sz="1600" b="0">
                <a:latin typeface="Arial" panose="020B0604020202020204" pitchFamily="34" charset="0"/>
                <a:cs typeface="Arial" panose="020B0604020202020204" pitchFamily="34" charset="0"/>
              </a:rPr>
              <a:t> : F.A.A. anterior a la clase que contiene a Pi</a:t>
            </a:r>
          </a:p>
          <a:p>
            <a:r>
              <a:rPr lang="es-PE" altLang="es-PE" sz="1600" b="0">
                <a:latin typeface="Arial" panose="020B0604020202020204" pitchFamily="34" charset="0"/>
                <a:cs typeface="Arial" panose="020B0604020202020204" pitchFamily="34" charset="0"/>
              </a:rPr>
              <a:t>fi :  FA. de la clase  que contiene a Pi</a:t>
            </a:r>
            <a:endParaRPr lang="es-PE" altLang="es-PE" sz="1600" b="0"/>
          </a:p>
        </p:txBody>
      </p:sp>
      <p:cxnSp>
        <p:nvCxnSpPr>
          <p:cNvPr id="8" name="Conector recto 7"/>
          <p:cNvCxnSpPr/>
          <p:nvPr/>
        </p:nvCxnSpPr>
        <p:spPr>
          <a:xfrm>
            <a:off x="2339975" y="1628775"/>
            <a:ext cx="12239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876300" y="3644900"/>
          <a:ext cx="2039938" cy="2651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1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583"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Intervalos</a:t>
                      </a:r>
                    </a:p>
                  </a:txBody>
                  <a:tcPr marL="91459" marR="91459" marT="45651" marB="45651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hi</a:t>
                      </a:r>
                    </a:p>
                  </a:txBody>
                  <a:tcPr marL="91459" marR="91459" marT="45651" marB="45651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5542"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[0.5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</a:rPr>
                        <a:t> – 2.5]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[2.5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</a:rPr>
                        <a:t> – 4.5]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[4.5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</a:rPr>
                        <a:t> – 6.5]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[6.5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</a:rPr>
                        <a:t> – 8.5]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[8.5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</a:rPr>
                        <a:t> – 10.5]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[10.5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</a:rPr>
                        <a:t> – 12.5]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[12.5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</a:rPr>
                        <a:t> – 14.5]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[14.5</a:t>
                      </a:r>
                      <a:r>
                        <a:rPr lang="es-PE" sz="1800" baseline="0" dirty="0">
                          <a:solidFill>
                            <a:schemeClr val="tx1"/>
                          </a:solidFill>
                        </a:rPr>
                        <a:t> – a mas]</a:t>
                      </a:r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651" marB="45651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0.10</a:t>
                      </a:r>
                    </a:p>
                    <a:p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0.16</a:t>
                      </a:r>
                    </a:p>
                    <a:p>
                      <a:endParaRPr lang="es-PE" sz="18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0.10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</a:rPr>
                        <a:t>0.00</a:t>
                      </a:r>
                    </a:p>
                  </a:txBody>
                  <a:tcPr marL="91459" marR="91459" marT="45651" marB="45651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contenido 2"/>
          <p:cNvSpPr>
            <a:spLocks noGrp="1"/>
          </p:cNvSpPr>
          <p:nvPr>
            <p:ph idx="1"/>
          </p:nvPr>
        </p:nvSpPr>
        <p:spPr>
          <a:xfrm>
            <a:off x="611188" y="765175"/>
            <a:ext cx="7993062" cy="5475288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>
                <a:latin typeface="Arial" panose="020B0604020202020204" pitchFamily="34" charset="0"/>
                <a:cs typeface="Arial" panose="020B0604020202020204" pitchFamily="34" charset="0"/>
              </a:rPr>
              <a:t>Ej 2: Se tiene una distribución simétrica com m=6; c=cte y los siguientes datos: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>
                <a:latin typeface="Arial" panose="020B0604020202020204" pitchFamily="34" charset="0"/>
                <a:cs typeface="Arial" panose="020B0604020202020204" pitchFamily="34" charset="0"/>
              </a:rPr>
              <a:t>n=150 ; f3=30; </a:t>
            </a:r>
            <a:r>
              <a:rPr lang="es-PE" altLang="es-PE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y’</a:t>
            </a:r>
            <a:r>
              <a:rPr lang="es-PE" altLang="es-PE" sz="2000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s-PE" altLang="es-PE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=60 ; f2=f1+5 y Q1=43.5  .Calcular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 6to decil   b) 90 avo percentil   c)El valor que es superado por el 15%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 3: En una distribución simétrica de m=8 que se refiere al ingreso diario en soles de 212 trabajadores de una empresa, se sabe que: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M0=19 , c=4 , f1=10  ,F6=186  , Q1=14.375 .Hallar: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a)El ingreso mínimo del 30% de las observaciones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>
                <a:latin typeface="Arial" panose="020B0604020202020204" pitchFamily="34" charset="0"/>
                <a:cs typeface="Arial" panose="020B0604020202020204" pitchFamily="34" charset="0"/>
              </a:rPr>
              <a:t>b) El ingreso medio por día de los trabajadores de la empresa.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altLang="es-PE" sz="2000">
                <a:latin typeface="Arial" panose="020B0604020202020204" pitchFamily="34" charset="0"/>
                <a:cs typeface="Arial" panose="020B0604020202020204" pitchFamily="34" charset="0"/>
              </a:rPr>
              <a:t>Sol :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F2E7F9-480F-45FA-BD49-0889A21DD31B}" type="slidenum">
              <a:rPr lang="es-ES" smtClean="0"/>
              <a:pPr>
                <a:defRPr/>
              </a:pPr>
              <a:t>37</a:t>
            </a:fld>
            <a:endParaRPr lang="es-E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68282" y="2622912"/>
            <a:ext cx="6799262" cy="3444875"/>
          </a:xfrm>
        </p:spPr>
        <p:txBody>
          <a:bodyPr/>
          <a:lstStyle/>
          <a:p>
            <a:pPr marL="0" indent="0" algn="ctr">
              <a:buNone/>
            </a:pPr>
            <a:r>
              <a:rPr lang="es-MX" sz="9600" b="1" dirty="0">
                <a:solidFill>
                  <a:srgbClr val="00B0F0"/>
                </a:solidFill>
                <a:latin typeface="Algerian" panose="04020705040A02060702" pitchFamily="82" charset="0"/>
              </a:rPr>
              <a:t>GRACIAS</a:t>
            </a:r>
            <a:endParaRPr lang="en-US" sz="9600" b="1" dirty="0">
              <a:solidFill>
                <a:srgbClr val="00B0F0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DFFBAF-658E-4D4F-A6B4-28C36DC6659A}" type="slidenum">
              <a:rPr lang="es-ES" smtClean="0"/>
              <a:pPr>
                <a:defRPr/>
              </a:pPr>
              <a:t>38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42482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á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á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á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9093</TotalTime>
  <Words>3631</Words>
  <Application>Microsoft Office PowerPoint</Application>
  <PresentationFormat>Presentación en pantalla (4:3)</PresentationFormat>
  <Paragraphs>873</Paragraphs>
  <Slides>38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7" baseType="lpstr">
      <vt:lpstr>Algerian</vt:lpstr>
      <vt:lpstr>Arial</vt:lpstr>
      <vt:lpstr>Arial Narrow</vt:lpstr>
      <vt:lpstr>Cambria Math</vt:lpstr>
      <vt:lpstr>Century Gothic</vt:lpstr>
      <vt:lpstr>Garamond</vt:lpstr>
      <vt:lpstr>Times New Roman</vt:lpstr>
      <vt:lpstr>Wingdings</vt:lpstr>
      <vt:lpstr>Orgánico</vt:lpstr>
      <vt:lpstr>ESTADISTICA GENERAL MEDIDAS DESCRIPTIVAS</vt:lpstr>
      <vt:lpstr>ESTADISTICOS PARA EL ANALISIS DESCRIPTIVO DE DATOS CUANTITATIVOS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Pc</dc:creator>
  <cp:lastModifiedBy>USUARIO - UNAB</cp:lastModifiedBy>
  <cp:revision>359</cp:revision>
  <dcterms:created xsi:type="dcterms:W3CDTF">2004-08-12T19:34:10Z</dcterms:created>
  <dcterms:modified xsi:type="dcterms:W3CDTF">2024-05-09T17:06:02Z</dcterms:modified>
</cp:coreProperties>
</file>