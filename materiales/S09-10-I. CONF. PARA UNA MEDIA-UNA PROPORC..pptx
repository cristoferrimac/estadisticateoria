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12" r:id="rId1"/>
  </p:sldMasterIdLst>
  <p:notesMasterIdLst>
    <p:notesMasterId r:id="rId21"/>
  </p:notesMasterIdLst>
  <p:sldIdLst>
    <p:sldId id="256" r:id="rId2"/>
    <p:sldId id="326" r:id="rId3"/>
    <p:sldId id="327" r:id="rId4"/>
    <p:sldId id="328" r:id="rId5"/>
    <p:sldId id="329" r:id="rId6"/>
    <p:sldId id="341" r:id="rId7"/>
    <p:sldId id="336" r:id="rId8"/>
    <p:sldId id="339" r:id="rId9"/>
    <p:sldId id="330" r:id="rId10"/>
    <p:sldId id="342" r:id="rId11"/>
    <p:sldId id="331" r:id="rId12"/>
    <p:sldId id="337" r:id="rId13"/>
    <p:sldId id="335" r:id="rId14"/>
    <p:sldId id="340" r:id="rId15"/>
    <p:sldId id="332" r:id="rId16"/>
    <p:sldId id="343" r:id="rId17"/>
    <p:sldId id="338" r:id="rId18"/>
    <p:sldId id="333" r:id="rId19"/>
    <p:sldId id="277" r:id="rId2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221" autoAdjust="0"/>
    <p:restoredTop sz="94660"/>
  </p:normalViewPr>
  <p:slideViewPr>
    <p:cSldViewPr showGuides="1">
      <p:cViewPr>
        <p:scale>
          <a:sx n="80" d="100"/>
          <a:sy n="80" d="100"/>
        </p:scale>
        <p:origin x="1050" y="-84"/>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E6D35B0D-AAB4-4C2C-ACB9-5780C747FAF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a:defRPr/>
            </a:pPr>
            <a:endParaRPr lang="es-PE"/>
          </a:p>
        </p:txBody>
      </p:sp>
      <p:sp>
        <p:nvSpPr>
          <p:cNvPr id="3" name="Marcador de fecha 2">
            <a:extLst>
              <a:ext uri="{FF2B5EF4-FFF2-40B4-BE49-F238E27FC236}">
                <a16:creationId xmlns:a16="http://schemas.microsoft.com/office/drawing/2014/main" id="{1D238291-8F78-4717-BDF3-C40669715023}"/>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a:defRPr/>
            </a:pPr>
            <a:fld id="{4CD2A8D2-003D-4843-840F-673D90285E43}" type="datetimeFigureOut">
              <a:rPr lang="es-PE"/>
              <a:pPr>
                <a:defRPr/>
              </a:pPr>
              <a:t>13/05/2025</a:t>
            </a:fld>
            <a:endParaRPr lang="es-PE"/>
          </a:p>
        </p:txBody>
      </p:sp>
      <p:sp>
        <p:nvSpPr>
          <p:cNvPr id="4" name="Marcador de imagen de diapositiva 3">
            <a:extLst>
              <a:ext uri="{FF2B5EF4-FFF2-40B4-BE49-F238E27FC236}">
                <a16:creationId xmlns:a16="http://schemas.microsoft.com/office/drawing/2014/main" id="{4CD5F781-8CC0-4D82-8794-861F8CCE2553}"/>
              </a:ext>
            </a:extLst>
          </p:cNvPr>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lvl="0"/>
            <a:endParaRPr lang="es-PE" noProof="0"/>
          </a:p>
        </p:txBody>
      </p:sp>
      <p:sp>
        <p:nvSpPr>
          <p:cNvPr id="5" name="Marcador de notas 4">
            <a:extLst>
              <a:ext uri="{FF2B5EF4-FFF2-40B4-BE49-F238E27FC236}">
                <a16:creationId xmlns:a16="http://schemas.microsoft.com/office/drawing/2014/main" id="{8D2ABE2E-9C16-4F86-95B4-9C174EAEB03E}"/>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noProof="0"/>
              <a:t>Haga clic para modificar el estilo de texto del patrón</a:t>
            </a:r>
          </a:p>
          <a:p>
            <a:pPr lvl="1"/>
            <a:r>
              <a:rPr lang="es-ES" noProof="0"/>
              <a:t>Segundo nivel</a:t>
            </a:r>
          </a:p>
          <a:p>
            <a:pPr lvl="2"/>
            <a:r>
              <a:rPr lang="es-ES" noProof="0"/>
              <a:t>Tercer nivel</a:t>
            </a:r>
          </a:p>
          <a:p>
            <a:pPr lvl="3"/>
            <a:r>
              <a:rPr lang="es-ES" noProof="0"/>
              <a:t>Cuarto nivel</a:t>
            </a:r>
          </a:p>
          <a:p>
            <a:pPr lvl="4"/>
            <a:r>
              <a:rPr lang="es-ES" noProof="0"/>
              <a:t>Quinto nivel</a:t>
            </a:r>
            <a:endParaRPr lang="es-PE" noProof="0"/>
          </a:p>
        </p:txBody>
      </p:sp>
      <p:sp>
        <p:nvSpPr>
          <p:cNvPr id="6" name="Marcador de pie de página 5">
            <a:extLst>
              <a:ext uri="{FF2B5EF4-FFF2-40B4-BE49-F238E27FC236}">
                <a16:creationId xmlns:a16="http://schemas.microsoft.com/office/drawing/2014/main" id="{E2121A9B-0B3A-48CE-BE9B-22F72BAFEA72}"/>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a:defRPr/>
            </a:pPr>
            <a:endParaRPr lang="es-PE"/>
          </a:p>
        </p:txBody>
      </p:sp>
      <p:sp>
        <p:nvSpPr>
          <p:cNvPr id="7" name="Marcador de número de diapositiva 6">
            <a:extLst>
              <a:ext uri="{FF2B5EF4-FFF2-40B4-BE49-F238E27FC236}">
                <a16:creationId xmlns:a16="http://schemas.microsoft.com/office/drawing/2014/main" id="{41C4572E-172A-4CB2-B077-F7B37940F6BC}"/>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a:defRPr/>
            </a:pPr>
            <a:fld id="{AD5EC2C7-A858-443B-9340-CD08BF5B5476}" type="slidenum">
              <a:rPr lang="es-PE"/>
              <a:pPr>
                <a:defRPr/>
              </a:pPr>
              <a:t>‹Nº›</a:t>
            </a:fld>
            <a:endParaRPr lang="es-PE"/>
          </a:p>
        </p:txBody>
      </p:sp>
    </p:spTree>
    <p:extLst>
      <p:ext uri="{BB962C8B-B14F-4D97-AF65-F5344CB8AC3E}">
        <p14:creationId xmlns:p14="http://schemas.microsoft.com/office/powerpoint/2010/main" val="58983213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2396319" y="802299"/>
            <a:ext cx="5618515" cy="2541431"/>
          </a:xfrm>
        </p:spPr>
        <p:txBody>
          <a:bodyPr bIns="0" anchor="b">
            <a:normAutofit/>
          </a:bodyPr>
          <a:lstStyle>
            <a:lvl1pPr algn="l">
              <a:defRPr sz="54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2396319" y="3531205"/>
            <a:ext cx="5618515" cy="977621"/>
          </a:xfrm>
        </p:spPr>
        <p:txBody>
          <a:bodyPr tIns="91440" bIns="91440">
            <a:normAutofit/>
          </a:bodyPr>
          <a:lstStyle>
            <a:lvl1pPr marL="0" indent="0" algn="l">
              <a:buNone/>
              <a:defRPr sz="1600" b="0" cap="all" baseline="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pPr>
              <a:defRPr/>
            </a:pPr>
            <a:fld id="{B7437059-77A7-4219-BF41-BB930F35EC0C}" type="datetimeFigureOut">
              <a:rPr lang="en-US" smtClean="0"/>
              <a:pPr>
                <a:defRPr/>
              </a:pPr>
              <a:t>5/13/2025</a:t>
            </a:fld>
            <a:endParaRPr lang="en-US"/>
          </a:p>
        </p:txBody>
      </p:sp>
      <p:sp>
        <p:nvSpPr>
          <p:cNvPr id="5" name="Footer Placeholder 4"/>
          <p:cNvSpPr>
            <a:spLocks noGrp="1"/>
          </p:cNvSpPr>
          <p:nvPr>
            <p:ph type="ftr" sz="quarter" idx="11"/>
          </p:nvPr>
        </p:nvSpPr>
        <p:spPr>
          <a:xfrm>
            <a:off x="2396319" y="329308"/>
            <a:ext cx="3086292" cy="309201"/>
          </a:xfrm>
        </p:spPr>
        <p:txBody>
          <a:bodyPr/>
          <a:lstStyle/>
          <a:p>
            <a:pPr>
              <a:defRPr/>
            </a:pPr>
            <a:endParaRPr lang="en-US"/>
          </a:p>
        </p:txBody>
      </p:sp>
      <p:sp>
        <p:nvSpPr>
          <p:cNvPr id="6" name="Slide Number Placeholder 5"/>
          <p:cNvSpPr>
            <a:spLocks noGrp="1"/>
          </p:cNvSpPr>
          <p:nvPr>
            <p:ph type="sldNum" sz="quarter" idx="12"/>
          </p:nvPr>
        </p:nvSpPr>
        <p:spPr>
          <a:xfrm>
            <a:off x="1434703" y="798973"/>
            <a:ext cx="802005" cy="503578"/>
          </a:xfrm>
        </p:spPr>
        <p:txBody>
          <a:bodyPr/>
          <a:lstStyle/>
          <a:p>
            <a:pPr>
              <a:defRPr/>
            </a:pPr>
            <a:fld id="{65E7D111-7B47-4A3A-B6E8-DCCE15CB5AB6}" type="slidenum">
              <a:rPr lang="en-US" smtClean="0"/>
              <a:pPr>
                <a:defRPr/>
              </a:pPr>
              <a:t>‹Nº›</a:t>
            </a:fld>
            <a:endParaRPr lang="en-US"/>
          </a:p>
        </p:txBody>
      </p:sp>
      <p:cxnSp>
        <p:nvCxnSpPr>
          <p:cNvPr id="15" name="Straight Connector 14"/>
          <p:cNvCxnSpPr/>
          <p:nvPr/>
        </p:nvCxnSpPr>
        <p:spPr>
          <a:xfrm>
            <a:off x="2396319" y="3528542"/>
            <a:ext cx="5618515"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119116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pPr>
              <a:defRPr/>
            </a:pPr>
            <a:fld id="{B573123B-D60B-4714-8663-5D5148CEC9E9}" type="datetimeFigureOut">
              <a:rPr lang="en-US" smtClean="0"/>
              <a:pPr>
                <a:defRPr/>
              </a:pPr>
              <a:t>5/13/2025</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6B781F73-58CD-406A-BB8C-A73522F6B19B}" type="slidenum">
              <a:rPr lang="en-US" smtClean="0"/>
              <a:pPr>
                <a:defRPr/>
              </a:pPr>
              <a:t>‹Nº›</a:t>
            </a:fld>
            <a:endParaRPr lang="en-US"/>
          </a:p>
        </p:txBody>
      </p:sp>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694191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443491" y="1756130"/>
            <a:ext cx="5617002" cy="1887950"/>
          </a:xfrm>
        </p:spPr>
        <p:txBody>
          <a:bodyPr anchor="b">
            <a:normAutofit/>
          </a:bodyPr>
          <a:lstStyle>
            <a:lvl1pPr algn="l">
              <a:defRPr sz="32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443492" y="3806196"/>
            <a:ext cx="5617002" cy="1012929"/>
          </a:xfrm>
        </p:spPr>
        <p:txBody>
          <a:bodyPr tIns="91440">
            <a:normAutofit/>
          </a:bodyPr>
          <a:lstStyle>
            <a:lvl1pPr marL="0" indent="0" algn="l">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pPr>
              <a:defRPr/>
            </a:pPr>
            <a:fld id="{85E1B1C3-AD20-4753-AF0E-E501CBBF0A57}" type="datetimeFigureOut">
              <a:rPr lang="en-US" smtClean="0"/>
              <a:pPr>
                <a:defRPr/>
              </a:pPr>
              <a:t>5/13/2025</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839AD8BC-20DF-4070-A67B-8ECEF4EB5F75}" type="slidenum">
              <a:rPr lang="en-US" smtClean="0"/>
              <a:pPr>
                <a:defRPr/>
              </a:pPr>
              <a:t>‹Nº›</a:t>
            </a:fld>
            <a:endParaRPr lang="en-US"/>
          </a:p>
        </p:txBody>
      </p:sp>
      <p:cxnSp>
        <p:nvCxnSpPr>
          <p:cNvPr id="15" name="Straight Connector 14"/>
          <p:cNvCxnSpPr/>
          <p:nvPr/>
        </p:nvCxnSpPr>
        <p:spPr>
          <a:xfrm>
            <a:off x="1443491" y="3804985"/>
            <a:ext cx="561700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909966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a:xfrm>
            <a:off x="1443491" y="804890"/>
            <a:ext cx="6571343" cy="1059305"/>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443490" y="2013936"/>
            <a:ext cx="3125871" cy="343756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4889182" y="2013936"/>
            <a:ext cx="3125652" cy="3437559"/>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pPr>
              <a:defRPr/>
            </a:pPr>
            <a:fld id="{A2F2BECF-3799-469F-87C6-99A751B25009}" type="datetimeFigureOut">
              <a:rPr lang="en-US" smtClean="0"/>
              <a:pPr>
                <a:defRPr/>
              </a:pPr>
              <a:t>5/13/2025</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08DD6FC9-2AEE-49CD-A9E1-2B4914B46867}" type="slidenum">
              <a:rPr lang="en-US" smtClean="0"/>
              <a:pPr>
                <a:defRPr/>
              </a:pPr>
              <a:t>‹Nº›</a:t>
            </a:fld>
            <a:endParaRPr lang="en-US"/>
          </a:p>
        </p:txBody>
      </p:sp>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707522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cxnSp>
        <p:nvCxnSpPr>
          <p:cNvPr id="36" name="Straight Connector 35"/>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a:xfrm>
            <a:off x="1443491" y="804164"/>
            <a:ext cx="6571344" cy="1056319"/>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443491" y="2019550"/>
            <a:ext cx="3125766" cy="801943"/>
          </a:xfrm>
        </p:spPr>
        <p:txBody>
          <a:bodyPr anchor="b">
            <a:normAutofit/>
          </a:bodyPr>
          <a:lstStyle>
            <a:lvl1pPr marL="0" indent="0">
              <a:lnSpc>
                <a:spcPct val="100000"/>
              </a:lnSpc>
              <a:buNone/>
              <a:defRPr sz="220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ES"/>
              <a:t>Haga clic para modificar los estilos de texto del patrón</a:t>
            </a:r>
          </a:p>
        </p:txBody>
      </p:sp>
      <p:sp>
        <p:nvSpPr>
          <p:cNvPr id="4" name="Content Placeholder 3"/>
          <p:cNvSpPr>
            <a:spLocks noGrp="1"/>
          </p:cNvSpPr>
          <p:nvPr>
            <p:ph sz="half" idx="2"/>
          </p:nvPr>
        </p:nvSpPr>
        <p:spPr>
          <a:xfrm>
            <a:off x="1443491" y="2824270"/>
            <a:ext cx="3125766" cy="264445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4889182" y="2023004"/>
            <a:ext cx="3125652" cy="802237"/>
          </a:xfrm>
        </p:spPr>
        <p:txBody>
          <a:bodyPr anchor="b">
            <a:normAutofit/>
          </a:bodyPr>
          <a:lstStyle>
            <a:lvl1pPr marL="0" indent="0">
              <a:lnSpc>
                <a:spcPct val="100000"/>
              </a:lnSpc>
              <a:buNone/>
              <a:defRPr sz="220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ES"/>
              <a:t>Haga clic para modificar los estilos de texto del patrón</a:t>
            </a:r>
          </a:p>
        </p:txBody>
      </p:sp>
      <p:sp>
        <p:nvSpPr>
          <p:cNvPr id="6" name="Content Placeholder 5"/>
          <p:cNvSpPr>
            <a:spLocks noGrp="1"/>
          </p:cNvSpPr>
          <p:nvPr>
            <p:ph sz="quarter" idx="4"/>
          </p:nvPr>
        </p:nvSpPr>
        <p:spPr>
          <a:xfrm>
            <a:off x="4889182" y="2821491"/>
            <a:ext cx="3125652" cy="2637371"/>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pPr>
              <a:defRPr/>
            </a:pPr>
            <a:fld id="{66FABB72-F61A-48E9-9A8A-E549BE9FA546}" type="datetimeFigureOut">
              <a:rPr lang="en-US" smtClean="0"/>
              <a:pPr>
                <a:defRPr/>
              </a:pPr>
              <a:t>5/13/2025</a:t>
            </a:fld>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18C07867-A599-4C20-A67C-37800E02CF4F}" type="slidenum">
              <a:rPr lang="en-US" smtClean="0"/>
              <a:pPr>
                <a:defRPr/>
              </a:pPr>
              <a:t>‹Nº›</a:t>
            </a:fld>
            <a:endParaRPr lang="en-US"/>
          </a:p>
        </p:txBody>
      </p:sp>
    </p:spTree>
    <p:extLst>
      <p:ext uri="{BB962C8B-B14F-4D97-AF65-F5344CB8AC3E}">
        <p14:creationId xmlns:p14="http://schemas.microsoft.com/office/powerpoint/2010/main" val="4340755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cxnSp>
        <p:nvCxnSpPr>
          <p:cNvPr id="32" name="Straight Connector 31"/>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pPr>
              <a:defRPr/>
            </a:pPr>
            <a:fld id="{AD5FDC35-3BDB-4997-81BC-53BA8DA4EFAC}" type="datetimeFigureOut">
              <a:rPr lang="en-US" smtClean="0"/>
              <a:pPr>
                <a:defRPr/>
              </a:pPr>
              <a:t>5/13/2025</a:t>
            </a:fld>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C94EE652-E0AE-4ED2-9209-A1209CEAC548}" type="slidenum">
              <a:rPr lang="en-US" smtClean="0"/>
              <a:pPr>
                <a:defRPr/>
              </a:pPr>
              <a:t>‹Nº›</a:t>
            </a:fld>
            <a:endParaRPr lang="en-US"/>
          </a:p>
        </p:txBody>
      </p:sp>
    </p:spTree>
    <p:extLst>
      <p:ext uri="{BB962C8B-B14F-4D97-AF65-F5344CB8AC3E}">
        <p14:creationId xmlns:p14="http://schemas.microsoft.com/office/powerpoint/2010/main" val="1852253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1B4FD352-1E41-417E-8616-0BBEE32A8FD9}" type="datetimeFigureOut">
              <a:rPr lang="en-US" smtClean="0"/>
              <a:pPr>
                <a:defRPr/>
              </a:pPr>
              <a:t>5/13/2025</a:t>
            </a:fld>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CC1FF5C4-33D5-448B-A9E3-2C544D78D066}" type="slidenum">
              <a:rPr lang="en-US" smtClean="0"/>
              <a:pPr>
                <a:defRPr/>
              </a:pPr>
              <a:t>‹Nº›</a:t>
            </a:fld>
            <a:endParaRPr lang="en-US"/>
          </a:p>
        </p:txBody>
      </p:sp>
    </p:spTree>
    <p:extLst>
      <p:ext uri="{BB962C8B-B14F-4D97-AF65-F5344CB8AC3E}">
        <p14:creationId xmlns:p14="http://schemas.microsoft.com/office/powerpoint/2010/main" val="5475709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439042" y="798973"/>
            <a:ext cx="2425950" cy="2247117"/>
          </a:xfrm>
        </p:spPr>
        <p:txBody>
          <a:bodyPr anchor="b">
            <a:normAutofit/>
          </a:bodyPr>
          <a:lstStyle>
            <a:lvl1pPr algn="l">
              <a:defRPr sz="24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186656" y="798974"/>
            <a:ext cx="3828178" cy="4658826"/>
          </a:xfrm>
        </p:spPr>
        <p:txBody>
          <a:bodyPr anchor="ct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439042" y="3205492"/>
            <a:ext cx="2427369" cy="2248181"/>
          </a:xfrm>
        </p:spPr>
        <p:txBody>
          <a:bodyPr>
            <a:normAutofit/>
          </a:bodyPr>
          <a:lstStyle>
            <a:lvl1pPr marL="0" indent="0" algn="l">
              <a:buNone/>
              <a:defRPr sz="16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pPr>
              <a:defRPr/>
            </a:pPr>
            <a:fld id="{6480C51A-FFA8-419B-A30F-3C02109D45F5}" type="datetimeFigureOut">
              <a:rPr lang="en-US" smtClean="0"/>
              <a:pPr>
                <a:defRPr/>
              </a:pPr>
              <a:t>5/13/2025</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9C825EE0-D74D-4598-94E6-033941AC98E2}" type="slidenum">
              <a:rPr lang="en-US" smtClean="0"/>
              <a:pPr>
                <a:defRPr/>
              </a:pPr>
              <a:t>‹Nº›</a:t>
            </a:fld>
            <a:endParaRPr lang="en-US"/>
          </a:p>
        </p:txBody>
      </p:sp>
      <p:cxnSp>
        <p:nvCxnSpPr>
          <p:cNvPr id="17" name="Straight Connector 16"/>
          <p:cNvCxnSpPr/>
          <p:nvPr/>
        </p:nvCxnSpPr>
        <p:spPr>
          <a:xfrm>
            <a:off x="1441748" y="3205491"/>
            <a:ext cx="242327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164065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grpSp>
        <p:nvGrpSpPr>
          <p:cNvPr id="13" name="Group 12"/>
          <p:cNvGrpSpPr/>
          <p:nvPr/>
        </p:nvGrpSpPr>
        <p:grpSpPr>
          <a:xfrm>
            <a:off x="4996501" y="482171"/>
            <a:ext cx="3511387" cy="5149101"/>
            <a:chOff x="6852919" y="583365"/>
            <a:chExt cx="4681849" cy="5181928"/>
          </a:xfrm>
        </p:grpSpPr>
        <p:sp>
          <p:nvSpPr>
            <p:cNvPr id="14" name="Rectangle 13"/>
            <p:cNvSpPr/>
            <p:nvPr/>
          </p:nvSpPr>
          <p:spPr>
            <a:xfrm>
              <a:off x="6852919" y="583365"/>
              <a:ext cx="4681849" cy="5181928"/>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5" name="Rectangle 14"/>
            <p:cNvSpPr/>
            <p:nvPr/>
          </p:nvSpPr>
          <p:spPr>
            <a:xfrm>
              <a:off x="7273787" y="915806"/>
              <a:ext cx="3844017" cy="4507918"/>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44148" y="1129513"/>
            <a:ext cx="3244935" cy="1830584"/>
          </a:xfrm>
        </p:spPr>
        <p:txBody>
          <a:bodyPr anchor="b">
            <a:normAutofit/>
          </a:bodyPr>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5640128" y="1122543"/>
            <a:ext cx="2234998" cy="3866327"/>
          </a:xfrm>
          <a:solidFill>
            <a:schemeClr val="bg1">
              <a:lumMod val="85000"/>
            </a:schemeClr>
          </a:solidFill>
          <a:ln w="9525" cap="sq">
            <a:noFill/>
            <a:miter lim="800000"/>
          </a:ln>
          <a:effectLst/>
        </p:spPr>
        <p:txBody>
          <a:bodyPr anchor="t"/>
          <a:lstStyle>
            <a:lvl1pPr marL="0" indent="0" algn="ctr">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443492" y="3145992"/>
            <a:ext cx="3240286" cy="2003742"/>
          </a:xfrm>
        </p:spPr>
        <p:txBody>
          <a:bodyPr>
            <a:normAutofit/>
          </a:bodyPr>
          <a:lstStyle>
            <a:lvl1pPr marL="0" indent="0" algn="l">
              <a:buNone/>
              <a:defRPr sz="18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ES"/>
              <a:t>Haga clic para modificar los estilos de texto del patrón</a:t>
            </a:r>
          </a:p>
        </p:txBody>
      </p:sp>
      <p:sp>
        <p:nvSpPr>
          <p:cNvPr id="5" name="Date Placeholder 4"/>
          <p:cNvSpPr>
            <a:spLocks noGrp="1"/>
          </p:cNvSpPr>
          <p:nvPr>
            <p:ph type="dt" sz="half" idx="10"/>
          </p:nvPr>
        </p:nvSpPr>
        <p:spPr>
          <a:xfrm>
            <a:off x="1436664" y="5469857"/>
            <a:ext cx="3252420" cy="320123"/>
          </a:xfrm>
        </p:spPr>
        <p:txBody>
          <a:bodyPr/>
          <a:lstStyle>
            <a:lvl1pPr algn="l">
              <a:defRPr/>
            </a:lvl1pPr>
          </a:lstStyle>
          <a:p>
            <a:pPr>
              <a:defRPr/>
            </a:pPr>
            <a:fld id="{74B63417-B868-4563-BE34-B59A2282FAAF}" type="datetimeFigureOut">
              <a:rPr lang="en-US" smtClean="0"/>
              <a:pPr>
                <a:defRPr/>
              </a:pPr>
              <a:t>5/13/2025</a:t>
            </a:fld>
            <a:endParaRPr lang="en-US"/>
          </a:p>
        </p:txBody>
      </p:sp>
      <p:sp>
        <p:nvSpPr>
          <p:cNvPr id="6" name="Footer Placeholder 5"/>
          <p:cNvSpPr>
            <a:spLocks noGrp="1"/>
          </p:cNvSpPr>
          <p:nvPr>
            <p:ph type="ftr" sz="quarter" idx="11"/>
          </p:nvPr>
        </p:nvSpPr>
        <p:spPr>
          <a:xfrm>
            <a:off x="1437530" y="318641"/>
            <a:ext cx="3251553" cy="320931"/>
          </a:xfrm>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EC0D99F4-710F-4F3B-B25C-644F15F3B16C}" type="slidenum">
              <a:rPr lang="en-US" smtClean="0"/>
              <a:pPr>
                <a:defRPr/>
              </a:pPr>
              <a:t>‹Nº›</a:t>
            </a:fld>
            <a:endParaRPr lang="en-US"/>
          </a:p>
        </p:txBody>
      </p:sp>
      <p:cxnSp>
        <p:nvCxnSpPr>
          <p:cNvPr id="31" name="Straight Connector 30"/>
          <p:cNvCxnSpPr/>
          <p:nvPr/>
        </p:nvCxnSpPr>
        <p:spPr>
          <a:xfrm>
            <a:off x="1441281" y="3143605"/>
            <a:ext cx="3242014"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077138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pPr>
              <a:defRPr/>
            </a:pPr>
            <a:fld id="{7EEE9222-9090-4A96-9349-19E9A0D9AE08}" type="datetimeFigureOut">
              <a:rPr lang="en-US" smtClean="0"/>
              <a:pPr>
                <a:defRPr/>
              </a:pPr>
              <a:t>5/13/2025</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4D7E4E3-B6DF-41D5-A7D0-3329D9DA59EF}" type="slidenum">
              <a:rPr lang="en-US" smtClean="0"/>
              <a:pPr>
                <a:defRPr/>
              </a:pPr>
              <a:t>‹Nº›</a:t>
            </a:fld>
            <a:endParaRPr lang="en-US"/>
          </a:p>
        </p:txBody>
      </p:sp>
    </p:spTree>
    <p:extLst>
      <p:ext uri="{BB962C8B-B14F-4D97-AF65-F5344CB8AC3E}">
        <p14:creationId xmlns:p14="http://schemas.microsoft.com/office/powerpoint/2010/main" val="24071622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18028" y="798974"/>
            <a:ext cx="1103027" cy="4659889"/>
          </a:xfrm>
        </p:spPr>
        <p:txBody>
          <a:bodyPr vert="eaVert"/>
          <a:lstStyle>
            <a:lvl1pPr algn="l">
              <a:defRPr/>
            </a:lvl1p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443491" y="798974"/>
            <a:ext cx="5301095" cy="4659889"/>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pPr>
              <a:defRPr/>
            </a:pPr>
            <a:fld id="{4EC36AF6-4489-4060-8258-C0F3B65EA0FC}" type="datetimeFigureOut">
              <a:rPr lang="en-US" smtClean="0"/>
              <a:pPr>
                <a:defRPr/>
              </a:pPr>
              <a:t>5/13/2025</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61E79E03-F418-46F8-A775-D034C9E9E4CA}" type="slidenum">
              <a:rPr lang="en-US" smtClean="0"/>
              <a:pPr>
                <a:defRPr/>
              </a:pPr>
              <a:t>‹Nº›</a:t>
            </a:fld>
            <a:endParaRPr lang="en-US"/>
          </a:p>
        </p:txBody>
      </p:sp>
      <p:cxnSp>
        <p:nvCxnSpPr>
          <p:cNvPr id="15" name="Straight Connector 14"/>
          <p:cNvCxnSpPr/>
          <p:nvPr/>
        </p:nvCxnSpPr>
        <p:spPr>
          <a:xfrm>
            <a:off x="6918028" y="798974"/>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414939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10" name="Rectangle 9"/>
          <p:cNvSpPr/>
          <p:nvPr/>
        </p:nvSpPr>
        <p:spPr>
          <a:xfrm>
            <a:off x="0" y="2015734"/>
            <a:ext cx="9144000" cy="4079520"/>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12" name="Picture 11"/>
          <p:cNvPicPr>
            <a:picLocks noChangeAspect="1"/>
          </p:cNvPicPr>
          <p:nvPr/>
        </p:nvPicPr>
        <p:blipFill rotWithShape="1">
          <a:blip r:embed="rId13">
            <a:extLst>
              <a:ext uri="{28A0092B-C50C-407E-A947-70E740481C1C}">
                <a14:useLocalDpi xmlns:a14="http://schemas.microsoft.com/office/drawing/2010/main" val="0"/>
              </a:ext>
            </a:extLst>
          </a:blip>
          <a:srcRect l="12500" t="1538" r="12500" b="-1538"/>
          <a:stretch/>
        </p:blipFill>
        <p:spPr>
          <a:xfrm>
            <a:off x="-1" y="6095253"/>
            <a:ext cx="9144001" cy="774727"/>
          </a:xfrm>
          <a:prstGeom prst="rect">
            <a:avLst/>
          </a:prstGeom>
        </p:spPr>
      </p:pic>
      <p:cxnSp>
        <p:nvCxnSpPr>
          <p:cNvPr id="13" name="Straight Connector 12"/>
          <p:cNvCxnSpPr/>
          <p:nvPr/>
        </p:nvCxnSpPr>
        <p:spPr>
          <a:xfrm>
            <a:off x="0" y="6101127"/>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2" name="Title Placeholder 1"/>
          <p:cNvSpPr>
            <a:spLocks noGrp="1"/>
          </p:cNvSpPr>
          <p:nvPr>
            <p:ph type="title"/>
          </p:nvPr>
        </p:nvSpPr>
        <p:spPr>
          <a:xfrm>
            <a:off x="1443491" y="804520"/>
            <a:ext cx="6571343" cy="1049235"/>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443491" y="2015733"/>
            <a:ext cx="6571343" cy="3450613"/>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5646542" y="330370"/>
            <a:ext cx="2368292" cy="309201"/>
          </a:xfrm>
          <a:prstGeom prst="rect">
            <a:avLst/>
          </a:prstGeom>
        </p:spPr>
        <p:txBody>
          <a:bodyPr vert="horz" lIns="91440" tIns="45720" rIns="91440" bIns="45720" rtlCol="0" anchor="ctr"/>
          <a:lstStyle>
            <a:lvl1pPr algn="r">
              <a:defRPr sz="1000">
                <a:solidFill>
                  <a:schemeClr val="tx1">
                    <a:tint val="75000"/>
                  </a:schemeClr>
                </a:solidFill>
              </a:defRPr>
            </a:lvl1pPr>
          </a:lstStyle>
          <a:p>
            <a:pPr>
              <a:defRPr/>
            </a:pPr>
            <a:fld id="{9F4EB82D-798A-4104-B157-B1E288B2679D}" type="datetimeFigureOut">
              <a:rPr lang="en-US" smtClean="0"/>
              <a:pPr>
                <a:defRPr/>
              </a:pPr>
              <a:t>5/13/2025</a:t>
            </a:fld>
            <a:endParaRPr lang="en-US"/>
          </a:p>
        </p:txBody>
      </p:sp>
      <p:sp>
        <p:nvSpPr>
          <p:cNvPr id="5" name="Footer Placeholder 4"/>
          <p:cNvSpPr>
            <a:spLocks noGrp="1"/>
          </p:cNvSpPr>
          <p:nvPr>
            <p:ph type="ftr" sz="quarter" idx="3"/>
          </p:nvPr>
        </p:nvSpPr>
        <p:spPr>
          <a:xfrm>
            <a:off x="1443491" y="329308"/>
            <a:ext cx="4034004" cy="309201"/>
          </a:xfrm>
          <a:prstGeom prst="rect">
            <a:avLst/>
          </a:prstGeom>
        </p:spPr>
        <p:txBody>
          <a:bodyPr vert="horz" lIns="91440" tIns="45720" rIns="91440" bIns="45720" rtlCol="0" anchor="ctr"/>
          <a:lstStyle>
            <a:lvl1pPr algn="l">
              <a:defRPr sz="10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487725" y="798973"/>
            <a:ext cx="795746" cy="503578"/>
          </a:xfrm>
          <a:prstGeom prst="rect">
            <a:avLst/>
          </a:prstGeom>
        </p:spPr>
        <p:txBody>
          <a:bodyPr vert="horz" lIns="91440" tIns="45720" rIns="91440" bIns="45720" rtlCol="0" anchor="t"/>
          <a:lstStyle>
            <a:lvl1pPr algn="r">
              <a:defRPr sz="2800">
                <a:solidFill>
                  <a:schemeClr val="accent1"/>
                </a:solidFill>
              </a:defRPr>
            </a:lvl1pPr>
          </a:lstStyle>
          <a:p>
            <a:pPr>
              <a:defRPr/>
            </a:pPr>
            <a:fld id="{F076261D-1C2B-40F2-92DD-F1D0FF065CEC}" type="slidenum">
              <a:rPr lang="en-US" smtClean="0"/>
              <a:pPr>
                <a:defRPr/>
              </a:pPr>
              <a:t>‹Nº›</a:t>
            </a:fld>
            <a:endParaRPr lang="en-US"/>
          </a:p>
        </p:txBody>
      </p:sp>
    </p:spTree>
    <p:extLst>
      <p:ext uri="{BB962C8B-B14F-4D97-AF65-F5344CB8AC3E}">
        <p14:creationId xmlns:p14="http://schemas.microsoft.com/office/powerpoint/2010/main" val="625946103"/>
      </p:ext>
    </p:extLst>
  </p:cSld>
  <p:clrMap bg1="lt1" tx1="dk1" bg2="lt2" tx2="dk2" accent1="accent1" accent2="accent2" accent3="accent3" accent4="accent4" accent5="accent5" accent6="accent6" hlink="hlink" folHlink="folHlink"/>
  <p:sldLayoutIdLst>
    <p:sldLayoutId id="2147484113" r:id="rId1"/>
    <p:sldLayoutId id="2147484114" r:id="rId2"/>
    <p:sldLayoutId id="2147484115" r:id="rId3"/>
    <p:sldLayoutId id="2147484116" r:id="rId4"/>
    <p:sldLayoutId id="2147484117" r:id="rId5"/>
    <p:sldLayoutId id="2147484118" r:id="rId6"/>
    <p:sldLayoutId id="2147484119" r:id="rId7"/>
    <p:sldLayoutId id="2147484120" r:id="rId8"/>
    <p:sldLayoutId id="2147484121" r:id="rId9"/>
    <p:sldLayoutId id="2147484122" r:id="rId10"/>
    <p:sldLayoutId id="2147484123" r:id="rId11"/>
  </p:sldLayoutIdLst>
  <p:txStyles>
    <p:titleStyle>
      <a:lvl1pPr algn="l" defTabSz="6858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685800" rtl="0" eaLnBrk="1" latinLnBrk="0" hangingPunct="1">
        <a:lnSpc>
          <a:spcPct val="120000"/>
        </a:lnSpc>
        <a:spcBef>
          <a:spcPts val="1000"/>
        </a:spcBef>
        <a:buClr>
          <a:schemeClr val="accent1"/>
        </a:buClr>
        <a:buSzPct val="100000"/>
        <a:buFont typeface="Arial" panose="020B0604020202020204" pitchFamily="34" charset="0"/>
        <a:buChar char="•"/>
        <a:defRPr sz="2000" kern="1200" cap="none">
          <a:solidFill>
            <a:schemeClr val="tx1"/>
          </a:solidFill>
          <a:effectLst/>
          <a:latin typeface="+mn-lt"/>
          <a:ea typeface="+mn-ea"/>
          <a:cs typeface="+mn-cs"/>
        </a:defRPr>
      </a:lvl1pPr>
      <a:lvl2pPr marL="6858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baseline="0">
          <a:solidFill>
            <a:schemeClr val="tx1"/>
          </a:solidFill>
          <a:effectLst/>
          <a:latin typeface="+mn-lt"/>
          <a:ea typeface="+mn-ea"/>
          <a:cs typeface="+mn-cs"/>
        </a:defRPr>
      </a:lvl2pPr>
      <a:lvl3pPr marL="11430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a:solidFill>
            <a:schemeClr val="tx1"/>
          </a:solidFill>
          <a:effectLst/>
          <a:latin typeface="+mn-lt"/>
          <a:ea typeface="+mn-ea"/>
          <a:cs typeface="+mn-cs"/>
        </a:defRPr>
      </a:lvl3pPr>
      <a:lvl4pPr marL="16002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200" kern="1200" cap="none">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1.xml"/><Relationship Id="rId5" Type="http://schemas.microsoft.com/office/2007/relationships/hdphoto" Target="../media/hdphoto2.wdp"/><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90.png"/><Relationship Id="rId1" Type="http://schemas.openxmlformats.org/officeDocument/2006/relationships/slideLayout" Target="../slideLayouts/slideLayout2.xml"/><Relationship Id="rId5" Type="http://schemas.microsoft.com/office/2007/relationships/hdphoto" Target="../media/hdphoto3.wdp"/><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hyperlink" Target="21%20Black%20Jack%20-%20Cambio%20de%20variable..wmv"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a:extLst>
              <a:ext uri="{FF2B5EF4-FFF2-40B4-BE49-F238E27FC236}">
                <a16:creationId xmlns:a16="http://schemas.microsoft.com/office/drawing/2014/main" id="{E1BA3C16-A75E-4494-AF67-D17C1E5C89E1}"/>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saturation sat="33000"/>
                    </a14:imgEffect>
                    <a14:imgEffect>
                      <a14:brightnessContrast bright="-20000" contrast="-20000"/>
                    </a14:imgEffect>
                  </a14:imgLayer>
                </a14:imgProps>
              </a:ext>
              <a:ext uri="{28A0092B-C50C-407E-A947-70E740481C1C}">
                <a14:useLocalDpi xmlns:a14="http://schemas.microsoft.com/office/drawing/2010/main" val="0"/>
              </a:ext>
            </a:extLst>
          </a:blip>
          <a:srcRect/>
          <a:stretch>
            <a:fillRect/>
          </a:stretch>
        </p:blipFill>
        <p:spPr bwMode="auto">
          <a:xfrm>
            <a:off x="2286000" y="0"/>
            <a:ext cx="68580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1 Título">
            <a:extLst>
              <a:ext uri="{FF2B5EF4-FFF2-40B4-BE49-F238E27FC236}">
                <a16:creationId xmlns:a16="http://schemas.microsoft.com/office/drawing/2014/main" id="{8B6F6570-B891-48CB-A550-B8EAE4EC5FCD}"/>
              </a:ext>
            </a:extLst>
          </p:cNvPr>
          <p:cNvSpPr>
            <a:spLocks noGrp="1"/>
          </p:cNvSpPr>
          <p:nvPr>
            <p:ph type="ctrTitle"/>
          </p:nvPr>
        </p:nvSpPr>
        <p:spPr>
          <a:xfrm>
            <a:off x="76200" y="914400"/>
            <a:ext cx="7300912" cy="1470025"/>
          </a:xfrm>
        </p:spPr>
        <p:txBody>
          <a:bodyPr rtlCol="0">
            <a:normAutofit fontScale="90000"/>
          </a:bodyPr>
          <a:lstStyle/>
          <a:p>
            <a:pPr marL="484632" algn="ctr" eaLnBrk="1" fontAlgn="auto" hangingPunct="1">
              <a:spcAft>
                <a:spcPts val="0"/>
              </a:spcAft>
              <a:defRPr/>
            </a:pPr>
            <a:r>
              <a:rPr lang="es-MX" sz="4400" dirty="0">
                <a:solidFill>
                  <a:srgbClr val="FF0000"/>
                </a:solidFill>
              </a:rPr>
              <a:t>INTERVALO DE CONFIANZA PARA UNA MEDIA – UNA PROPORCION</a:t>
            </a:r>
            <a:endParaRPr lang="en-US" sz="4400" dirty="0">
              <a:solidFill>
                <a:srgbClr val="FF0000"/>
              </a:solidFill>
            </a:endParaRPr>
          </a:p>
        </p:txBody>
      </p:sp>
      <p:pic>
        <p:nvPicPr>
          <p:cNvPr id="6148" name="4 Imagen" descr="Ruleta Rusa.jpg">
            <a:extLst>
              <a:ext uri="{FF2B5EF4-FFF2-40B4-BE49-F238E27FC236}">
                <a16:creationId xmlns:a16="http://schemas.microsoft.com/office/drawing/2014/main" id="{EFBE1E60-2459-4FC3-95D9-A643981BFD46}"/>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auto">
          <a:xfrm>
            <a:off x="0" y="2781300"/>
            <a:ext cx="5000625" cy="400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9" name="TextBox 8">
            <a:extLst>
              <a:ext uri="{FF2B5EF4-FFF2-40B4-BE49-F238E27FC236}">
                <a16:creationId xmlns:a16="http://schemas.microsoft.com/office/drawing/2014/main" id="{2A6AC541-958A-47EE-BA10-26E5F63DB21B}"/>
              </a:ext>
            </a:extLst>
          </p:cNvPr>
          <p:cNvSpPr txBox="1">
            <a:spLocks noChangeArrowheads="1"/>
          </p:cNvSpPr>
          <p:nvPr/>
        </p:nvSpPr>
        <p:spPr bwMode="auto">
          <a:xfrm>
            <a:off x="5486400" y="6172200"/>
            <a:ext cx="34766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000"/>
              </a:spcBef>
              <a:buClr>
                <a:schemeClr val="accent1"/>
              </a:buClr>
              <a:buSzPct val="80000"/>
              <a:buFont typeface="Wingdings 3" panose="05040102010807070707" pitchFamily="18" charset="2"/>
              <a:buChar char=""/>
              <a:defRPr>
                <a:solidFill>
                  <a:srgbClr val="FFFFFF"/>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buChar char=""/>
              <a:defRPr sz="1600">
                <a:solidFill>
                  <a:srgbClr val="FFFFFF"/>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buChar char=""/>
              <a:defRPr sz="1400">
                <a:solidFill>
                  <a:srgbClr val="FFFFFF"/>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buChar char=""/>
              <a:defRPr sz="1200">
                <a:solidFill>
                  <a:srgbClr val="FFFFFF"/>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buChar char=""/>
              <a:defRPr sz="1200">
                <a:solidFill>
                  <a:srgbClr val="FFFFFF"/>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FFFFFF"/>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FFFFFF"/>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FFFFFF"/>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FFFFFF"/>
                </a:solidFill>
                <a:latin typeface="Trebuchet MS" panose="020B0603020202020204" pitchFamily="34" charset="0"/>
              </a:defRPr>
            </a:lvl9pPr>
          </a:lstStyle>
          <a:p>
            <a:pPr eaLnBrk="1" hangingPunct="1">
              <a:spcBef>
                <a:spcPct val="0"/>
              </a:spcBef>
              <a:buClrTx/>
              <a:buSzTx/>
              <a:buFontTx/>
              <a:buNone/>
            </a:pPr>
            <a:r>
              <a:rPr lang="es-MX" altLang="es-PE" dirty="0">
                <a:solidFill>
                  <a:schemeClr val="tx1"/>
                </a:solidFill>
                <a:latin typeface="Arial" panose="020B0604020202020204" pitchFamily="34" charset="0"/>
              </a:rPr>
              <a:t>Mg. Edward I. Terrones Gálvez</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152400" y="228600"/>
            <a:ext cx="8991600" cy="6629400"/>
          </a:xfrm>
        </p:spPr>
        <p:txBody>
          <a:bodyPr/>
          <a:lstStyle/>
          <a:p>
            <a:pPr marL="0" indent="0" algn="just">
              <a:lnSpc>
                <a:spcPct val="150000"/>
              </a:lnSpc>
              <a:buNone/>
            </a:pPr>
            <a:r>
              <a:rPr lang="es-PE" sz="2000" b="1" dirty="0">
                <a:solidFill>
                  <a:srgbClr val="0070C0"/>
                </a:solidFill>
                <a:latin typeface="Arial" panose="020B0604020202020204" pitchFamily="34" charset="0"/>
                <a:cs typeface="Arial" panose="020B0604020202020204" pitchFamily="34" charset="0"/>
              </a:rPr>
              <a:t>ESTIMACION DE PARAMETROS</a:t>
            </a:r>
          </a:p>
          <a:p>
            <a:pPr marL="0" indent="0" algn="just">
              <a:lnSpc>
                <a:spcPct val="150000"/>
              </a:lnSpc>
              <a:buNone/>
            </a:pPr>
            <a:r>
              <a:rPr lang="es-PE" sz="1900" dirty="0">
                <a:latin typeface="Arial" panose="020B0604020202020204" pitchFamily="34" charset="0"/>
                <a:cs typeface="Arial" panose="020B0604020202020204" pitchFamily="34" charset="0"/>
              </a:rPr>
              <a:t>Al realizar una investigación estadística a menudo se sabe o se supone que</a:t>
            </a:r>
          </a:p>
          <a:p>
            <a:pPr marL="0" indent="0" algn="just">
              <a:lnSpc>
                <a:spcPct val="150000"/>
              </a:lnSpc>
              <a:buNone/>
            </a:pPr>
            <a:r>
              <a:rPr lang="es-PE" sz="1900" dirty="0">
                <a:latin typeface="Arial" panose="020B0604020202020204" pitchFamily="34" charset="0"/>
                <a:cs typeface="Arial" panose="020B0604020202020204" pitchFamily="34" charset="0"/>
              </a:rPr>
              <a:t>la población, de la cual se selecciona una muestra aleatoria, cuyos parámetros se intenta determinar.</a:t>
            </a:r>
          </a:p>
          <a:p>
            <a:pPr marL="0" indent="0" algn="just">
              <a:lnSpc>
                <a:spcPct val="150000"/>
              </a:lnSpc>
              <a:buNone/>
            </a:pPr>
            <a:r>
              <a:rPr lang="es-PE" sz="1900" dirty="0">
                <a:latin typeface="Arial" panose="020B0604020202020204" pitchFamily="34" charset="0"/>
                <a:cs typeface="Arial" panose="020B0604020202020204" pitchFamily="34" charset="0"/>
              </a:rPr>
              <a:t>Los métodos de inferencia estadística consiste en seleccionar una muestra aleatoria de la población, de manera que a partir de la información que se obtenga de la muestra:</a:t>
            </a:r>
          </a:p>
          <a:p>
            <a:pPr marL="0" indent="0" algn="just">
              <a:lnSpc>
                <a:spcPct val="150000"/>
              </a:lnSpc>
              <a:buNone/>
            </a:pPr>
            <a:r>
              <a:rPr lang="es-PE" sz="1900" dirty="0">
                <a:latin typeface="Arial" panose="020B0604020202020204" pitchFamily="34" charset="0"/>
                <a:cs typeface="Arial" panose="020B0604020202020204" pitchFamily="34" charset="0"/>
              </a:rPr>
              <a:t>1. Determinar el valor del parámetro desconocido</a:t>
            </a:r>
          </a:p>
          <a:p>
            <a:pPr marL="0" indent="0" algn="just">
              <a:lnSpc>
                <a:spcPct val="150000"/>
              </a:lnSpc>
              <a:buNone/>
            </a:pPr>
            <a:r>
              <a:rPr lang="es-PE" sz="1900" dirty="0">
                <a:latin typeface="Arial" panose="020B0604020202020204" pitchFamily="34" charset="0"/>
                <a:cs typeface="Arial" panose="020B0604020202020204" pitchFamily="34" charset="0"/>
              </a:rPr>
              <a:t>2. Decidir si el parámetro desconocido, es igual a algún valor predeterminado.</a:t>
            </a:r>
          </a:p>
          <a:p>
            <a:pPr marL="0" indent="0" algn="just">
              <a:lnSpc>
                <a:spcPct val="150000"/>
              </a:lnSpc>
              <a:buNone/>
            </a:pPr>
            <a:r>
              <a:rPr lang="es-PE" sz="1900" dirty="0">
                <a:latin typeface="Arial" panose="020B0604020202020204" pitchFamily="34" charset="0"/>
                <a:cs typeface="Arial" panose="020B0604020202020204" pitchFamily="34" charset="0"/>
              </a:rPr>
              <a:t>Al primero sele denomina estimación de parámetros que puede ser puntual o por intervalos.</a:t>
            </a:r>
          </a:p>
          <a:p>
            <a:pPr marL="0" indent="0" algn="just">
              <a:lnSpc>
                <a:spcPct val="150000"/>
              </a:lnSpc>
              <a:buNone/>
            </a:pPr>
            <a:r>
              <a:rPr lang="es-PE" sz="1900" dirty="0">
                <a:latin typeface="Arial" panose="020B0604020202020204" pitchFamily="34" charset="0"/>
                <a:cs typeface="Arial" panose="020B0604020202020204" pitchFamily="34" charset="0"/>
              </a:rPr>
              <a:t>Al segundo de le conoce como prueba de hipótesis.</a:t>
            </a:r>
          </a:p>
        </p:txBody>
      </p:sp>
    </p:spTree>
    <p:extLst>
      <p:ext uri="{BB962C8B-B14F-4D97-AF65-F5344CB8AC3E}">
        <p14:creationId xmlns:p14="http://schemas.microsoft.com/office/powerpoint/2010/main" val="20128483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266700" y="228600"/>
            <a:ext cx="8610600" cy="6096000"/>
          </a:xfrm>
        </p:spPr>
        <p:txBody>
          <a:bodyPr>
            <a:normAutofit fontScale="92500" lnSpcReduction="10000"/>
          </a:bodyPr>
          <a:lstStyle/>
          <a:p>
            <a:pPr marL="0" indent="0" algn="just">
              <a:buNone/>
            </a:pPr>
            <a:r>
              <a:rPr lang="es-PE" sz="2000" b="1" dirty="0">
                <a:solidFill>
                  <a:srgbClr val="0070C0"/>
                </a:solidFill>
                <a:latin typeface="Arial" panose="020B0604020202020204" pitchFamily="34" charset="0"/>
                <a:cs typeface="Arial" panose="020B0604020202020204" pitchFamily="34" charset="0"/>
              </a:rPr>
              <a:t>Estimación de parámetros por intervalos</a:t>
            </a:r>
            <a:r>
              <a:rPr lang="es-PE" sz="2000" dirty="0">
                <a:solidFill>
                  <a:srgbClr val="0070C0"/>
                </a:solidFill>
                <a:latin typeface="Arial" panose="020B0604020202020204" pitchFamily="34" charset="0"/>
                <a:cs typeface="Arial" panose="020B0604020202020204" pitchFamily="34" charset="0"/>
              </a:rPr>
              <a:t>:</a:t>
            </a:r>
          </a:p>
          <a:p>
            <a:pPr marL="0" indent="0" algn="just">
              <a:lnSpc>
                <a:spcPct val="150000"/>
              </a:lnSpc>
              <a:buNone/>
            </a:pPr>
            <a:r>
              <a:rPr lang="es-PE" sz="1900" dirty="0">
                <a:latin typeface="Arial" panose="020B0604020202020204" pitchFamily="34" charset="0"/>
                <a:cs typeface="Arial" panose="020B0604020202020204" pitchFamily="34" charset="0"/>
              </a:rPr>
              <a:t>Propuesta por J. </a:t>
            </a:r>
            <a:r>
              <a:rPr lang="es-PE" sz="1900" dirty="0" err="1">
                <a:latin typeface="Arial" panose="020B0604020202020204" pitchFamily="34" charset="0"/>
                <a:cs typeface="Arial" panose="020B0604020202020204" pitchFamily="34" charset="0"/>
              </a:rPr>
              <a:t>Neyman</a:t>
            </a:r>
            <a:r>
              <a:rPr lang="es-PE" sz="1900" dirty="0">
                <a:latin typeface="Arial" panose="020B0604020202020204" pitchFamily="34" charset="0"/>
                <a:cs typeface="Arial" panose="020B0604020202020204" pitchFamily="34" charset="0"/>
              </a:rPr>
              <a:t>, es la estimación de un parámetro </a:t>
            </a:r>
            <a:r>
              <a:rPr lang="el-GR" sz="1900" dirty="0">
                <a:latin typeface="Arial" panose="020B0604020202020204" pitchFamily="34" charset="0"/>
                <a:cs typeface="Arial" panose="020B0604020202020204" pitchFamily="34" charset="0"/>
              </a:rPr>
              <a:t>θ</a:t>
            </a:r>
            <a:r>
              <a:rPr lang="es-PE" sz="1900" dirty="0">
                <a:latin typeface="Arial" panose="020B0604020202020204" pitchFamily="34" charset="0"/>
                <a:cs typeface="Arial" panose="020B0604020202020204" pitchFamily="34" charset="0"/>
              </a:rPr>
              <a:t>, dentro de un intervalo de extremos cerrados que tiene un limite inferior de confianza (LIC) y un limite superior de confianza (LSC) que se obtienen a partir de los valores de una muestra.</a:t>
            </a:r>
          </a:p>
          <a:p>
            <a:pPr marL="0" indent="0" algn="just">
              <a:lnSpc>
                <a:spcPct val="150000"/>
              </a:lnSpc>
              <a:buNone/>
            </a:pPr>
            <a:r>
              <a:rPr lang="es-PE" sz="1900" b="1" dirty="0">
                <a:latin typeface="Arial" panose="020B0604020202020204" pitchFamily="34" charset="0"/>
                <a:cs typeface="Arial" panose="020B0604020202020204" pitchFamily="34" charset="0"/>
              </a:rPr>
              <a:t>Coeficiente de confianza (1- </a:t>
            </a:r>
            <a:r>
              <a:rPr lang="el-GR" sz="1900" b="1" dirty="0">
                <a:latin typeface="Arial" panose="020B0604020202020204" pitchFamily="34" charset="0"/>
                <a:cs typeface="Arial" panose="020B0604020202020204" pitchFamily="34" charset="0"/>
              </a:rPr>
              <a:t>α</a:t>
            </a:r>
            <a:r>
              <a:rPr lang="es-PE" sz="1900" b="1" dirty="0">
                <a:latin typeface="Arial" panose="020B0604020202020204" pitchFamily="34" charset="0"/>
                <a:cs typeface="Arial" panose="020B0604020202020204" pitchFamily="34" charset="0"/>
              </a:rPr>
              <a:t>) : </a:t>
            </a:r>
            <a:r>
              <a:rPr lang="es-PE" sz="1900" dirty="0">
                <a:latin typeface="Arial" panose="020B0604020202020204" pitchFamily="34" charset="0"/>
                <a:cs typeface="Arial" panose="020B0604020202020204" pitchFamily="34" charset="0"/>
              </a:rPr>
              <a:t>Es el nivel de confianza que se tiene en el que el intervalo contenga al valor desconocido del parámetro.</a:t>
            </a:r>
          </a:p>
          <a:p>
            <a:pPr marL="0" indent="0" algn="just">
              <a:lnSpc>
                <a:spcPct val="150000"/>
              </a:lnSpc>
              <a:buNone/>
            </a:pPr>
            <a:r>
              <a:rPr lang="es-PE" sz="1900" b="1" dirty="0">
                <a:latin typeface="Arial" panose="020B0604020202020204" pitchFamily="34" charset="0"/>
                <a:cs typeface="Arial" panose="020B0604020202020204" pitchFamily="34" charset="0"/>
              </a:rPr>
              <a:t>Valor alfa (</a:t>
            </a:r>
            <a:r>
              <a:rPr lang="el-GR" sz="1900" b="1" dirty="0">
                <a:latin typeface="Arial" panose="020B0604020202020204" pitchFamily="34" charset="0"/>
                <a:cs typeface="Arial" panose="020B0604020202020204" pitchFamily="34" charset="0"/>
              </a:rPr>
              <a:t>α</a:t>
            </a:r>
            <a:r>
              <a:rPr lang="es-PE" sz="1900" b="1" dirty="0">
                <a:latin typeface="Arial" panose="020B0604020202020204" pitchFamily="34" charset="0"/>
                <a:cs typeface="Arial" panose="020B0604020202020204" pitchFamily="34" charset="0"/>
              </a:rPr>
              <a:t>): </a:t>
            </a:r>
            <a:r>
              <a:rPr lang="es-PE" sz="1900" dirty="0">
                <a:latin typeface="Arial" panose="020B0604020202020204" pitchFamily="34" charset="0"/>
                <a:cs typeface="Arial" panose="020B0604020202020204" pitchFamily="34" charset="0"/>
              </a:rPr>
              <a:t>Probabilidad de error o la probabilidad de3 que un intervalo dado no contenga la media poblacional desconocida</a:t>
            </a:r>
            <a:r>
              <a:rPr lang="es-PE" sz="2000" b="1" dirty="0">
                <a:latin typeface="Arial" panose="020B0604020202020204" pitchFamily="34" charset="0"/>
                <a:cs typeface="Arial" panose="020B0604020202020204" pitchFamily="34" charset="0"/>
              </a:rPr>
              <a:t>.</a:t>
            </a:r>
          </a:p>
          <a:p>
            <a:pPr marL="0" indent="0" algn="just">
              <a:lnSpc>
                <a:spcPct val="150000"/>
              </a:lnSpc>
              <a:buNone/>
            </a:pPr>
            <a:endParaRPr lang="es-PE" sz="800" b="1" dirty="0">
              <a:latin typeface="Arial" panose="020B0604020202020204" pitchFamily="34" charset="0"/>
              <a:cs typeface="Arial" panose="020B0604020202020204" pitchFamily="34" charset="0"/>
            </a:endParaRPr>
          </a:p>
          <a:p>
            <a:pPr marL="0" indent="0" algn="just">
              <a:buNone/>
            </a:pPr>
            <a:r>
              <a:rPr lang="es-PE" sz="2000" b="1" dirty="0">
                <a:solidFill>
                  <a:srgbClr val="0070C0"/>
                </a:solidFill>
                <a:latin typeface="Arial" panose="020B0604020202020204" pitchFamily="34" charset="0"/>
                <a:cs typeface="Arial" panose="020B0604020202020204" pitchFamily="34" charset="0"/>
              </a:rPr>
              <a:t>INTERVALO DE CONFIANZA PARA UNA MEDIA POBLACIONAL</a:t>
            </a:r>
          </a:p>
          <a:p>
            <a:pPr marL="0" indent="0" algn="just">
              <a:lnSpc>
                <a:spcPct val="150000"/>
              </a:lnSpc>
              <a:buNone/>
            </a:pPr>
            <a:r>
              <a:rPr lang="es-PE" sz="2000" b="1" dirty="0">
                <a:solidFill>
                  <a:srgbClr val="0070C0"/>
                </a:solidFill>
                <a:latin typeface="Arial" panose="020B0604020202020204" pitchFamily="34" charset="0"/>
                <a:cs typeface="Arial" panose="020B0604020202020204" pitchFamily="34" charset="0"/>
              </a:rPr>
              <a:t>1. Cuando la </a:t>
            </a:r>
            <a:r>
              <a:rPr lang="el-GR" sz="2000" b="1" dirty="0">
                <a:solidFill>
                  <a:srgbClr val="0070C0"/>
                </a:solidFill>
                <a:latin typeface="Arial" panose="020B0604020202020204" pitchFamily="34" charset="0"/>
                <a:cs typeface="Arial" panose="020B0604020202020204" pitchFamily="34" charset="0"/>
              </a:rPr>
              <a:t>σ</a:t>
            </a:r>
            <a:r>
              <a:rPr lang="es-PE" sz="2000" b="1" baseline="30000" dirty="0">
                <a:solidFill>
                  <a:srgbClr val="0070C0"/>
                </a:solidFill>
                <a:latin typeface="Arial" panose="020B0604020202020204" pitchFamily="34" charset="0"/>
                <a:cs typeface="Arial" panose="020B0604020202020204" pitchFamily="34" charset="0"/>
              </a:rPr>
              <a:t>2</a:t>
            </a:r>
            <a:r>
              <a:rPr lang="es-PE" sz="2000" b="1" dirty="0">
                <a:solidFill>
                  <a:srgbClr val="0070C0"/>
                </a:solidFill>
                <a:latin typeface="Arial" panose="020B0604020202020204" pitchFamily="34" charset="0"/>
                <a:cs typeface="Arial" panose="020B0604020202020204" pitchFamily="34" charset="0"/>
              </a:rPr>
              <a:t> se conoce: </a:t>
            </a:r>
            <a:r>
              <a:rPr lang="es-PE" sz="2000" dirty="0">
                <a:latin typeface="Arial" panose="020B0604020202020204" pitchFamily="34" charset="0"/>
                <a:cs typeface="Arial" panose="020B0604020202020204" pitchFamily="34" charset="0"/>
              </a:rPr>
              <a:t>Sea X1,X2,…</a:t>
            </a:r>
            <a:r>
              <a:rPr lang="es-PE" sz="2000" dirty="0" err="1">
                <a:latin typeface="Arial" panose="020B0604020202020204" pitchFamily="34" charset="0"/>
                <a:cs typeface="Arial" panose="020B0604020202020204" pitchFamily="34" charset="0"/>
              </a:rPr>
              <a:t>Xn</a:t>
            </a:r>
            <a:r>
              <a:rPr lang="es-PE" sz="2000" dirty="0">
                <a:latin typeface="Arial" panose="020B0604020202020204" pitchFamily="34" charset="0"/>
                <a:cs typeface="Arial" panose="020B0604020202020204" pitchFamily="34" charset="0"/>
              </a:rPr>
              <a:t>; una muestra aleatoria de tamaño “n”, seleccionada de una población normal( o de cualquier otro tipo) con media </a:t>
            </a:r>
            <a:r>
              <a:rPr lang="el-GR" sz="2000" dirty="0">
                <a:latin typeface="Arial" panose="020B0604020202020204" pitchFamily="34" charset="0"/>
                <a:cs typeface="Arial" panose="020B0604020202020204" pitchFamily="34" charset="0"/>
              </a:rPr>
              <a:t>μ</a:t>
            </a:r>
            <a:r>
              <a:rPr lang="es-PE" sz="2000" dirty="0">
                <a:latin typeface="Arial" panose="020B0604020202020204" pitchFamily="34" charset="0"/>
                <a:cs typeface="Arial" panose="020B0604020202020204" pitchFamily="34" charset="0"/>
              </a:rPr>
              <a:t> y varianza </a:t>
            </a:r>
            <a:r>
              <a:rPr lang="el-GR" sz="2000" dirty="0">
                <a:latin typeface="Arial" panose="020B0604020202020204" pitchFamily="34" charset="0"/>
                <a:cs typeface="Arial" panose="020B0604020202020204" pitchFamily="34" charset="0"/>
              </a:rPr>
              <a:t>σ</a:t>
            </a:r>
            <a:r>
              <a:rPr lang="es-PE" sz="2000" baseline="30000" dirty="0">
                <a:latin typeface="Arial" panose="020B0604020202020204" pitchFamily="34" charset="0"/>
                <a:cs typeface="Arial" panose="020B0604020202020204" pitchFamily="34" charset="0"/>
              </a:rPr>
              <a:t>2</a:t>
            </a:r>
            <a:r>
              <a:rPr lang="es-PE" sz="2000" dirty="0">
                <a:latin typeface="Arial" panose="020B0604020202020204" pitchFamily="34" charset="0"/>
                <a:cs typeface="Arial" panose="020B0604020202020204" pitchFamily="34" charset="0"/>
              </a:rPr>
              <a:t> supuestamente conocida.</a:t>
            </a:r>
          </a:p>
        </p:txBody>
      </p:sp>
    </p:spTree>
    <p:extLst>
      <p:ext uri="{BB962C8B-B14F-4D97-AF65-F5344CB8AC3E}">
        <p14:creationId xmlns:p14="http://schemas.microsoft.com/office/powerpoint/2010/main" val="1179425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p:cNvSpPr>
                <a:spLocks noGrp="1"/>
              </p:cNvSpPr>
              <p:nvPr>
                <p:ph idx="1"/>
              </p:nvPr>
            </p:nvSpPr>
            <p:spPr>
              <a:xfrm>
                <a:off x="152400" y="76200"/>
                <a:ext cx="8610600" cy="6553200"/>
              </a:xfrm>
            </p:spPr>
            <p:txBody>
              <a:bodyPr>
                <a:normAutofit fontScale="92500" lnSpcReduction="10000"/>
              </a:bodyPr>
              <a:lstStyle/>
              <a:p>
                <a:pPr marL="0" indent="0" algn="just">
                  <a:buNone/>
                </a:pPr>
                <a:r>
                  <a:rPr lang="es-PE" sz="2000" dirty="0">
                    <a:latin typeface="Arial" panose="020B0604020202020204" pitchFamily="34" charset="0"/>
                    <a:cs typeface="Arial" panose="020B0604020202020204" pitchFamily="34" charset="0"/>
                  </a:rPr>
                  <a:t>El mejor estimador del parámetro </a:t>
                </a:r>
                <a:r>
                  <a:rPr lang="el-GR" sz="2000" dirty="0">
                    <a:latin typeface="Arial" panose="020B0604020202020204" pitchFamily="34" charset="0"/>
                    <a:cs typeface="Arial" panose="020B0604020202020204" pitchFamily="34" charset="0"/>
                  </a:rPr>
                  <a:t>μ</a:t>
                </a:r>
                <a:r>
                  <a:rPr lang="es-PE" sz="2000" dirty="0">
                    <a:latin typeface="Arial" panose="020B0604020202020204" pitchFamily="34" charset="0"/>
                    <a:cs typeface="Arial" panose="020B0604020202020204" pitchFamily="34" charset="0"/>
                  </a:rPr>
                  <a:t> es la media muestral </a:t>
                </a:r>
                <a14:m>
                  <m:oMath xmlns:m="http://schemas.openxmlformats.org/officeDocument/2006/math">
                    <m:acc>
                      <m:accPr>
                        <m:chr m:val="̅"/>
                        <m:ctrlPr>
                          <a:rPr lang="es-PE" sz="2000" i="1">
                            <a:latin typeface="Cambria Math" panose="02040503050406030204" pitchFamily="18" charset="0"/>
                            <a:cs typeface="Arial" panose="020B0604020202020204" pitchFamily="34" charset="0"/>
                          </a:rPr>
                        </m:ctrlPr>
                      </m:accPr>
                      <m:e>
                        <m:r>
                          <a:rPr lang="es-PE" sz="2000" i="1">
                            <a:latin typeface="Cambria Math" panose="02040503050406030204" pitchFamily="18" charset="0"/>
                            <a:cs typeface="Arial" panose="020B0604020202020204" pitchFamily="34" charset="0"/>
                          </a:rPr>
                          <m:t>𝑋</m:t>
                        </m:r>
                      </m:e>
                    </m:acc>
                  </m:oMath>
                </a14:m>
                <a:r>
                  <a:rPr lang="es-PE" sz="2000" baseline="30000" dirty="0">
                    <a:latin typeface="Arial" panose="020B0604020202020204" pitchFamily="34" charset="0"/>
                    <a:cs typeface="Arial" panose="020B0604020202020204" pitchFamily="34" charset="0"/>
                  </a:rPr>
                  <a:t>       </a:t>
                </a:r>
                <a:r>
                  <a:rPr lang="es-PE" sz="2000" dirty="0">
                    <a:latin typeface="Arial" panose="020B0604020202020204" pitchFamily="34" charset="0"/>
                    <a:cs typeface="Arial" panose="020B0604020202020204" pitchFamily="34" charset="0"/>
                  </a:rPr>
                  <a:t> </a:t>
                </a:r>
                <a:r>
                  <a:rPr lang="es-PE" sz="2000" baseline="30000" dirty="0">
                    <a:latin typeface="Arial" panose="020B0604020202020204" pitchFamily="34" charset="0"/>
                    <a:cs typeface="Arial" panose="020B0604020202020204" pitchFamily="34" charset="0"/>
                  </a:rPr>
                  <a:t>       </a:t>
                </a:r>
                <a:endParaRPr lang="es-PE" sz="2000" dirty="0">
                  <a:latin typeface="Arial" panose="020B0604020202020204" pitchFamily="34" charset="0"/>
                  <a:cs typeface="Arial" panose="020B0604020202020204" pitchFamily="34" charset="0"/>
                </a:endParaRPr>
              </a:p>
              <a:p>
                <a:pPr marL="0" indent="0" algn="just">
                  <a:buNone/>
                </a:pPr>
                <a:r>
                  <a:rPr lang="es-PE" sz="2000" dirty="0">
                    <a:latin typeface="Arial" panose="020B0604020202020204" pitchFamily="34" charset="0"/>
                    <a:cs typeface="Arial" panose="020B0604020202020204" pitchFamily="34" charset="0"/>
                  </a:rPr>
                  <a:t>Se puede utilizar, entonces, la distribución muestral de la media </a:t>
                </a:r>
                <a14:m>
                  <m:oMath xmlns:m="http://schemas.openxmlformats.org/officeDocument/2006/math">
                    <m:acc>
                      <m:accPr>
                        <m:chr m:val="̅"/>
                        <m:ctrlPr>
                          <a:rPr lang="es-PE" sz="2000" i="1" smtClean="0">
                            <a:latin typeface="Cambria Math" panose="02040503050406030204" pitchFamily="18" charset="0"/>
                            <a:cs typeface="Arial" panose="020B0604020202020204" pitchFamily="34" charset="0"/>
                          </a:rPr>
                        </m:ctrlPr>
                      </m:accPr>
                      <m:e>
                        <m:r>
                          <a:rPr lang="es-PE" sz="2000" b="0" i="1" smtClean="0">
                            <a:latin typeface="Cambria Math" panose="02040503050406030204" pitchFamily="18" charset="0"/>
                            <a:cs typeface="Arial" panose="020B0604020202020204" pitchFamily="34" charset="0"/>
                          </a:rPr>
                          <m:t>𝑋</m:t>
                        </m:r>
                      </m:e>
                    </m:acc>
                  </m:oMath>
                </a14:m>
                <a:r>
                  <a:rPr lang="es-PE" sz="2000" dirty="0">
                    <a:latin typeface="Arial" panose="020B0604020202020204" pitchFamily="34" charset="0"/>
                    <a:cs typeface="Arial" panose="020B0604020202020204" pitchFamily="34" charset="0"/>
                  </a:rPr>
                  <a:t> para determinar el intervalo de confianza del parámetro μ.</a:t>
                </a:r>
              </a:p>
              <a:p>
                <a:pPr algn="just">
                  <a:buFont typeface="Wingdings" panose="05000000000000000000" pitchFamily="2" charset="2"/>
                  <a:buChar char="Ø"/>
                </a:pPr>
                <a:r>
                  <a:rPr lang="es-PE" sz="2000" dirty="0">
                    <a:latin typeface="Arial" panose="020B0604020202020204" pitchFamily="34" charset="0"/>
                    <a:cs typeface="Arial" panose="020B0604020202020204" pitchFamily="34" charset="0"/>
                  </a:rPr>
                  <a:t>Si la población es normal N(μ, </a:t>
                </a:r>
                <a:r>
                  <a:rPr lang="el-GR" sz="2000" b="1" dirty="0">
                    <a:latin typeface="Arial" panose="020B0604020202020204" pitchFamily="34" charset="0"/>
                    <a:cs typeface="Arial" panose="020B0604020202020204" pitchFamily="34" charset="0"/>
                  </a:rPr>
                  <a:t>σ</a:t>
                </a:r>
                <a:r>
                  <a:rPr lang="es-PE" sz="2000" b="1" baseline="30000" dirty="0">
                    <a:latin typeface="Arial" panose="020B0604020202020204" pitchFamily="34" charset="0"/>
                    <a:cs typeface="Arial" panose="020B0604020202020204" pitchFamily="34" charset="0"/>
                  </a:rPr>
                  <a:t>2</a:t>
                </a:r>
                <a:r>
                  <a:rPr lang="es-PE" sz="2000" dirty="0">
                    <a:latin typeface="Arial" panose="020B0604020202020204" pitchFamily="34" charset="0"/>
                    <a:cs typeface="Arial" panose="020B0604020202020204" pitchFamily="34" charset="0"/>
                  </a:rPr>
                  <a:t>) , entonces, la distribución del estadístico  </a:t>
                </a:r>
                <a14:m>
                  <m:oMath xmlns:m="http://schemas.openxmlformats.org/officeDocument/2006/math">
                    <m:acc>
                      <m:accPr>
                        <m:chr m:val="̅"/>
                        <m:ctrlPr>
                          <a:rPr lang="es-PE" sz="2000" i="1">
                            <a:latin typeface="Cambria Math" panose="02040503050406030204" pitchFamily="18" charset="0"/>
                            <a:cs typeface="Arial" panose="020B0604020202020204" pitchFamily="34" charset="0"/>
                          </a:rPr>
                        </m:ctrlPr>
                      </m:accPr>
                      <m:e>
                        <m:r>
                          <a:rPr lang="es-PE" sz="2000" i="1">
                            <a:latin typeface="Cambria Math" panose="02040503050406030204" pitchFamily="18" charset="0"/>
                            <a:cs typeface="Arial" panose="020B0604020202020204" pitchFamily="34" charset="0"/>
                          </a:rPr>
                          <m:t>𝑋</m:t>
                        </m:r>
                      </m:e>
                    </m:acc>
                  </m:oMath>
                </a14:m>
                <a:r>
                  <a:rPr lang="es-PE" sz="2000" dirty="0">
                    <a:latin typeface="Arial" panose="020B0604020202020204" pitchFamily="34" charset="0"/>
                    <a:cs typeface="Arial" panose="020B0604020202020204" pitchFamily="34" charset="0"/>
                  </a:rPr>
                  <a:t> es normal N(μ, </a:t>
                </a:r>
                <a:r>
                  <a:rPr lang="el-GR" sz="2000" b="1" dirty="0">
                    <a:latin typeface="Arial" panose="020B0604020202020204" pitchFamily="34" charset="0"/>
                    <a:cs typeface="Arial" panose="020B0604020202020204" pitchFamily="34" charset="0"/>
                  </a:rPr>
                  <a:t>σ</a:t>
                </a:r>
                <a:r>
                  <a:rPr lang="es-PE" sz="2000" b="1" baseline="30000" dirty="0">
                    <a:latin typeface="Arial" panose="020B0604020202020204" pitchFamily="34" charset="0"/>
                    <a:cs typeface="Arial" panose="020B0604020202020204" pitchFamily="34" charset="0"/>
                  </a:rPr>
                  <a:t>2</a:t>
                </a:r>
                <a:r>
                  <a:rPr lang="es-PE" sz="2000" b="1" dirty="0">
                    <a:latin typeface="Arial" panose="020B0604020202020204" pitchFamily="34" charset="0"/>
                    <a:cs typeface="Arial" panose="020B0604020202020204" pitchFamily="34" charset="0"/>
                  </a:rPr>
                  <a:t> / n</a:t>
                </a:r>
                <a:r>
                  <a:rPr lang="es-PE" sz="2000" dirty="0">
                    <a:latin typeface="Arial" panose="020B0604020202020204" pitchFamily="34" charset="0"/>
                    <a:cs typeface="Arial" panose="020B0604020202020204" pitchFamily="34" charset="0"/>
                  </a:rPr>
                  <a:t>) para cualquier valor de n (n≥ 2).</a:t>
                </a:r>
              </a:p>
              <a:p>
                <a:pPr algn="just">
                  <a:buFont typeface="Wingdings" panose="05000000000000000000" pitchFamily="2" charset="2"/>
                  <a:buChar char="Ø"/>
                </a:pPr>
                <a:r>
                  <a:rPr lang="es-PE" sz="2000" dirty="0">
                    <a:latin typeface="Arial" panose="020B0604020202020204" pitchFamily="34" charset="0"/>
                    <a:cs typeface="Arial" panose="020B0604020202020204" pitchFamily="34" charset="0"/>
                  </a:rPr>
                  <a:t>Si la población no es normal, pero tiene media μ  y varianza </a:t>
                </a:r>
                <a:r>
                  <a:rPr lang="el-GR" sz="2000" b="1" dirty="0">
                    <a:latin typeface="Arial" panose="020B0604020202020204" pitchFamily="34" charset="0"/>
                    <a:cs typeface="Arial" panose="020B0604020202020204" pitchFamily="34" charset="0"/>
                  </a:rPr>
                  <a:t>σ</a:t>
                </a:r>
                <a:r>
                  <a:rPr lang="es-PE" sz="2000" b="1" baseline="30000" dirty="0">
                    <a:latin typeface="Arial" panose="020B0604020202020204" pitchFamily="34" charset="0"/>
                    <a:cs typeface="Arial" panose="020B0604020202020204" pitchFamily="34" charset="0"/>
                  </a:rPr>
                  <a:t>2 </a:t>
                </a:r>
                <a:r>
                  <a:rPr lang="es-PE" sz="2000" dirty="0">
                    <a:latin typeface="Arial" panose="020B0604020202020204" pitchFamily="34" charset="0"/>
                    <a:cs typeface="Arial" panose="020B0604020202020204" pitchFamily="34" charset="0"/>
                  </a:rPr>
                  <a:t> finitas, entonces, siempre que el tamaño n de la muestra sea suficientemente grande, (n ≥30), por el teorema del límite central, la distribución de </a:t>
                </a:r>
                <a14:m>
                  <m:oMath xmlns:m="http://schemas.openxmlformats.org/officeDocument/2006/math">
                    <m:acc>
                      <m:accPr>
                        <m:chr m:val="̅"/>
                        <m:ctrlPr>
                          <a:rPr lang="es-PE" sz="2000" i="1">
                            <a:latin typeface="Cambria Math" panose="02040503050406030204" pitchFamily="18" charset="0"/>
                            <a:cs typeface="Arial" panose="020B0604020202020204" pitchFamily="34" charset="0"/>
                          </a:rPr>
                        </m:ctrlPr>
                      </m:accPr>
                      <m:e>
                        <m:r>
                          <a:rPr lang="es-PE" sz="2000" i="1">
                            <a:latin typeface="Cambria Math" panose="02040503050406030204" pitchFamily="18" charset="0"/>
                            <a:cs typeface="Arial" panose="020B0604020202020204" pitchFamily="34" charset="0"/>
                          </a:rPr>
                          <m:t>𝑋</m:t>
                        </m:r>
                      </m:e>
                    </m:acc>
                  </m:oMath>
                </a14:m>
                <a:r>
                  <a:rPr lang="es-PE" sz="2000" dirty="0">
                    <a:latin typeface="Arial" panose="020B0604020202020204" pitchFamily="34" charset="0"/>
                    <a:cs typeface="Arial" panose="020B0604020202020204" pitchFamily="34" charset="0"/>
                  </a:rPr>
                  <a:t> es aproximadamente normal N(μ, </a:t>
                </a:r>
                <a:r>
                  <a:rPr lang="el-GR" sz="2000" b="1" dirty="0">
                    <a:latin typeface="Arial" panose="020B0604020202020204" pitchFamily="34" charset="0"/>
                    <a:cs typeface="Arial" panose="020B0604020202020204" pitchFamily="34" charset="0"/>
                  </a:rPr>
                  <a:t>σ</a:t>
                </a:r>
                <a:r>
                  <a:rPr lang="es-PE" sz="2000" b="1" baseline="30000" dirty="0">
                    <a:latin typeface="Arial" panose="020B0604020202020204" pitchFamily="34" charset="0"/>
                    <a:cs typeface="Arial" panose="020B0604020202020204" pitchFamily="34" charset="0"/>
                  </a:rPr>
                  <a:t>2</a:t>
                </a:r>
                <a:r>
                  <a:rPr lang="es-PE" sz="2000" b="1" dirty="0">
                    <a:latin typeface="Arial" panose="020B0604020202020204" pitchFamily="34" charset="0"/>
                    <a:cs typeface="Arial" panose="020B0604020202020204" pitchFamily="34" charset="0"/>
                  </a:rPr>
                  <a:t> / n</a:t>
                </a:r>
                <a:r>
                  <a:rPr lang="es-PE" sz="2000" dirty="0">
                    <a:latin typeface="Arial" panose="020B0604020202020204" pitchFamily="34" charset="0"/>
                    <a:cs typeface="Arial" panose="020B0604020202020204" pitchFamily="34" charset="0"/>
                  </a:rPr>
                  <a:t>)</a:t>
                </a:r>
              </a:p>
              <a:p>
                <a:pPr marL="0" indent="0" algn="just">
                  <a:buNone/>
                </a:pPr>
                <a:r>
                  <a:rPr lang="es-PE" sz="2000" dirty="0">
                    <a:latin typeface="Arial" panose="020B0604020202020204" pitchFamily="34" charset="0"/>
                    <a:cs typeface="Arial" panose="020B0604020202020204" pitchFamily="34" charset="0"/>
                  </a:rPr>
                  <a:t>Por tanto, la distribución de la variable aleatoria:</a:t>
                </a:r>
              </a:p>
              <a:p>
                <a:pPr marL="0" indent="0" algn="just">
                  <a:buNone/>
                </a:pPr>
                <a:r>
                  <a:rPr lang="es-PE" sz="2000" dirty="0">
                    <a:latin typeface="Arial" panose="020B0604020202020204" pitchFamily="34" charset="0"/>
                    <a:cs typeface="Arial" panose="020B0604020202020204" pitchFamily="34" charset="0"/>
                  </a:rPr>
                  <a:t>     Z=  </a:t>
                </a:r>
                <a14:m>
                  <m:oMath xmlns:m="http://schemas.openxmlformats.org/officeDocument/2006/math">
                    <m:acc>
                      <m:accPr>
                        <m:chr m:val="̅"/>
                        <m:ctrlPr>
                          <a:rPr lang="es-PE" sz="2000" i="1">
                            <a:latin typeface="Cambria Math" panose="02040503050406030204" pitchFamily="18" charset="0"/>
                            <a:cs typeface="Arial" panose="020B0604020202020204" pitchFamily="34" charset="0"/>
                          </a:rPr>
                        </m:ctrlPr>
                      </m:accPr>
                      <m:e>
                        <m:r>
                          <a:rPr lang="es-PE" sz="2000" i="1">
                            <a:latin typeface="Cambria Math" panose="02040503050406030204" pitchFamily="18" charset="0"/>
                            <a:cs typeface="Arial" panose="020B0604020202020204" pitchFamily="34" charset="0"/>
                          </a:rPr>
                          <m:t>𝑋</m:t>
                        </m:r>
                      </m:e>
                    </m:acc>
                  </m:oMath>
                </a14:m>
                <a:r>
                  <a:rPr lang="es-PE" sz="2000" dirty="0">
                    <a:latin typeface="Arial" panose="020B0604020202020204" pitchFamily="34" charset="0"/>
                    <a:cs typeface="Arial" panose="020B0604020202020204" pitchFamily="34" charset="0"/>
                  </a:rPr>
                  <a:t> - μ     ,es aproximadamente normal N(0, 1)</a:t>
                </a:r>
              </a:p>
              <a:p>
                <a:pPr marL="0" indent="0" algn="just">
                  <a:buNone/>
                </a:pPr>
                <a:r>
                  <a:rPr lang="es-PE" sz="2000" dirty="0">
                    <a:latin typeface="Arial" panose="020B0604020202020204" pitchFamily="34" charset="0"/>
                    <a:cs typeface="Arial" panose="020B0604020202020204" pitchFamily="34" charset="0"/>
                  </a:rPr>
                  <a:t>            </a:t>
                </a:r>
                <a:r>
                  <a:rPr lang="el-GR" sz="2000" dirty="0">
                    <a:latin typeface="Arial" panose="020B0604020202020204" pitchFamily="34" charset="0"/>
                    <a:cs typeface="Arial" panose="020B0604020202020204" pitchFamily="34" charset="0"/>
                  </a:rPr>
                  <a:t>σ</a:t>
                </a:r>
                <a:r>
                  <a:rPr lang="es-PE" sz="2000" dirty="0">
                    <a:latin typeface="Arial" panose="020B0604020202020204" pitchFamily="34" charset="0"/>
                    <a:cs typeface="Arial" panose="020B0604020202020204" pitchFamily="34" charset="0"/>
                  </a:rPr>
                  <a:t>/</a:t>
                </a:r>
                <a14:m>
                  <m:oMath xmlns:m="http://schemas.openxmlformats.org/officeDocument/2006/math">
                    <m:rad>
                      <m:radPr>
                        <m:degHide m:val="on"/>
                        <m:ctrlPr>
                          <a:rPr lang="es-PE" sz="2000" i="1" smtClean="0">
                            <a:latin typeface="Cambria Math" panose="02040503050406030204" pitchFamily="18" charset="0"/>
                            <a:cs typeface="Arial" panose="020B0604020202020204" pitchFamily="34" charset="0"/>
                          </a:rPr>
                        </m:ctrlPr>
                      </m:radPr>
                      <m:deg/>
                      <m:e>
                        <m:r>
                          <a:rPr lang="es-PE" sz="2000" b="0" i="1" smtClean="0">
                            <a:latin typeface="Cambria Math" panose="02040503050406030204" pitchFamily="18" charset="0"/>
                            <a:cs typeface="Arial" panose="020B0604020202020204" pitchFamily="34" charset="0"/>
                          </a:rPr>
                          <m:t>𝑛</m:t>
                        </m:r>
                      </m:e>
                    </m:rad>
                  </m:oMath>
                </a14:m>
                <a:endParaRPr lang="es-PE" sz="2000" dirty="0">
                  <a:latin typeface="Arial" panose="020B0604020202020204" pitchFamily="34" charset="0"/>
                  <a:cs typeface="Arial" panose="020B0604020202020204" pitchFamily="34" charset="0"/>
                </a:endParaRPr>
              </a:p>
              <a:p>
                <a:pPr marL="0" indent="0" algn="just">
                  <a:buNone/>
                </a:pPr>
                <a:r>
                  <a:rPr lang="es-PE" sz="2000" dirty="0">
                    <a:latin typeface="Arial" panose="020B0604020202020204" pitchFamily="34" charset="0"/>
                    <a:cs typeface="Arial" panose="020B0604020202020204" pitchFamily="34" charset="0"/>
                  </a:rPr>
                  <a:t>Por lo tanto el intervalo de confianza para μ es:</a:t>
                </a:r>
              </a:p>
              <a:p>
                <a:pPr marL="0" indent="0" algn="just">
                  <a:buNone/>
                </a:pPr>
                <a:r>
                  <a:rPr lang="es-PE" sz="2000" dirty="0">
                    <a:solidFill>
                      <a:srgbClr val="FF0000"/>
                    </a:solidFill>
                    <a:latin typeface="Arial" panose="020B0604020202020204" pitchFamily="34" charset="0"/>
                    <a:cs typeface="Arial" panose="020B0604020202020204" pitchFamily="34" charset="0"/>
                  </a:rPr>
                  <a:t>[</a:t>
                </a:r>
                <a14:m>
                  <m:oMath xmlns:m="http://schemas.openxmlformats.org/officeDocument/2006/math">
                    <m:acc>
                      <m:accPr>
                        <m:chr m:val="̅"/>
                        <m:ctrlPr>
                          <a:rPr lang="es-PE" sz="2000" i="1">
                            <a:solidFill>
                              <a:srgbClr val="FF0000"/>
                            </a:solidFill>
                            <a:latin typeface="Cambria Math" panose="02040503050406030204" pitchFamily="18" charset="0"/>
                            <a:cs typeface="Arial" panose="020B0604020202020204" pitchFamily="34" charset="0"/>
                          </a:rPr>
                        </m:ctrlPr>
                      </m:accPr>
                      <m:e>
                        <m:r>
                          <a:rPr lang="es-PE" sz="2000" b="0" i="1" smtClean="0">
                            <a:solidFill>
                              <a:srgbClr val="FF0000"/>
                            </a:solidFill>
                            <a:latin typeface="Cambria Math" panose="02040503050406030204" pitchFamily="18" charset="0"/>
                            <a:cs typeface="Arial" panose="020B0604020202020204" pitchFamily="34" charset="0"/>
                          </a:rPr>
                          <m:t> </m:t>
                        </m:r>
                        <m:r>
                          <a:rPr lang="es-PE" sz="2000" i="1">
                            <a:solidFill>
                              <a:srgbClr val="FF0000"/>
                            </a:solidFill>
                            <a:latin typeface="Cambria Math" panose="02040503050406030204" pitchFamily="18" charset="0"/>
                            <a:cs typeface="Arial" panose="020B0604020202020204" pitchFamily="34" charset="0"/>
                          </a:rPr>
                          <m:t>𝑋</m:t>
                        </m:r>
                      </m:e>
                    </m:acc>
                    <m:r>
                      <a:rPr lang="es-PE" sz="2000" b="0" i="0" smtClean="0">
                        <a:solidFill>
                          <a:srgbClr val="FF0000"/>
                        </a:solidFill>
                        <a:latin typeface="Cambria Math" panose="02040503050406030204" pitchFamily="18" charset="0"/>
                        <a:cs typeface="Arial" panose="020B0604020202020204" pitchFamily="34" charset="0"/>
                      </a:rPr>
                      <m:t>− </m:t>
                    </m:r>
                  </m:oMath>
                </a14:m>
                <a:r>
                  <a:rPr lang="es-PE" sz="2000" dirty="0">
                    <a:solidFill>
                      <a:srgbClr val="FF0000"/>
                    </a:solidFill>
                    <a:latin typeface="Arial" panose="020B0604020202020204" pitchFamily="34" charset="0"/>
                    <a:cs typeface="Arial" panose="020B0604020202020204" pitchFamily="34" charset="0"/>
                  </a:rPr>
                  <a:t>Z</a:t>
                </a:r>
                <a:r>
                  <a:rPr lang="es-PE" sz="2000" baseline="-25000" dirty="0">
                    <a:solidFill>
                      <a:srgbClr val="FF0000"/>
                    </a:solidFill>
                    <a:latin typeface="Arial" panose="020B0604020202020204" pitchFamily="34" charset="0"/>
                    <a:cs typeface="Arial" panose="020B0604020202020204" pitchFamily="34" charset="0"/>
                  </a:rPr>
                  <a:t>1-</a:t>
                </a:r>
                <a:r>
                  <a:rPr lang="el-GR" sz="2000" baseline="-25000" dirty="0">
                    <a:solidFill>
                      <a:srgbClr val="FF0000"/>
                    </a:solidFill>
                    <a:latin typeface="Arial" panose="020B0604020202020204" pitchFamily="34" charset="0"/>
                    <a:cs typeface="Arial" panose="020B0604020202020204" pitchFamily="34" charset="0"/>
                  </a:rPr>
                  <a:t>α</a:t>
                </a:r>
                <a:r>
                  <a:rPr lang="es-PE" sz="2000" baseline="-25000" dirty="0">
                    <a:solidFill>
                      <a:srgbClr val="FF0000"/>
                    </a:solidFill>
                    <a:latin typeface="Arial" panose="020B0604020202020204" pitchFamily="34" charset="0"/>
                    <a:cs typeface="Arial" panose="020B0604020202020204" pitchFamily="34" charset="0"/>
                  </a:rPr>
                  <a:t>/2</a:t>
                </a:r>
                <a:r>
                  <a:rPr lang="es-PE" sz="2000" dirty="0">
                    <a:solidFill>
                      <a:srgbClr val="FF0000"/>
                    </a:solidFill>
                    <a:latin typeface="Arial" panose="020B0604020202020204" pitchFamily="34" charset="0"/>
                    <a:cs typeface="Arial" panose="020B0604020202020204" pitchFamily="34" charset="0"/>
                  </a:rPr>
                  <a:t> *</a:t>
                </a:r>
                <a:r>
                  <a:rPr lang="es-PE" sz="2000" baseline="-25000" dirty="0">
                    <a:solidFill>
                      <a:srgbClr val="FF0000"/>
                    </a:solidFill>
                    <a:latin typeface="Arial" panose="020B0604020202020204" pitchFamily="34" charset="0"/>
                    <a:cs typeface="Arial" panose="020B0604020202020204" pitchFamily="34" charset="0"/>
                  </a:rPr>
                  <a:t> </a:t>
                </a:r>
                <a:r>
                  <a:rPr lang="el-GR" sz="2000" dirty="0">
                    <a:solidFill>
                      <a:srgbClr val="FF0000"/>
                    </a:solidFill>
                    <a:latin typeface="Arial" panose="020B0604020202020204" pitchFamily="34" charset="0"/>
                    <a:cs typeface="Arial" panose="020B0604020202020204" pitchFamily="34" charset="0"/>
                  </a:rPr>
                  <a:t>σ</a:t>
                </a:r>
                <a:r>
                  <a:rPr lang="es-PE" sz="2000" dirty="0">
                    <a:solidFill>
                      <a:srgbClr val="FF0000"/>
                    </a:solidFill>
                    <a:latin typeface="Arial" panose="020B0604020202020204" pitchFamily="34" charset="0"/>
                    <a:cs typeface="Arial" panose="020B0604020202020204" pitchFamily="34" charset="0"/>
                  </a:rPr>
                  <a:t> ≤ </a:t>
                </a:r>
                <a:r>
                  <a:rPr lang="el-GR" sz="2000" dirty="0">
                    <a:solidFill>
                      <a:srgbClr val="FF0000"/>
                    </a:solidFill>
                    <a:latin typeface="Arial" panose="020B0604020202020204" pitchFamily="34" charset="0"/>
                    <a:cs typeface="Arial" panose="020B0604020202020204" pitchFamily="34" charset="0"/>
                  </a:rPr>
                  <a:t>μ</a:t>
                </a:r>
                <a:r>
                  <a:rPr lang="es-PE" sz="2000" dirty="0">
                    <a:solidFill>
                      <a:srgbClr val="FF0000"/>
                    </a:solidFill>
                    <a:latin typeface="Arial" panose="020B0604020202020204" pitchFamily="34" charset="0"/>
                    <a:cs typeface="Arial" panose="020B0604020202020204" pitchFamily="34" charset="0"/>
                  </a:rPr>
                  <a:t> ≤ </a:t>
                </a:r>
                <a14:m>
                  <m:oMath xmlns:m="http://schemas.openxmlformats.org/officeDocument/2006/math">
                    <m:acc>
                      <m:accPr>
                        <m:chr m:val="̅"/>
                        <m:ctrlPr>
                          <a:rPr lang="es-PE" sz="2000" i="1">
                            <a:solidFill>
                              <a:srgbClr val="FF0000"/>
                            </a:solidFill>
                            <a:latin typeface="Cambria Math" panose="02040503050406030204" pitchFamily="18" charset="0"/>
                            <a:cs typeface="Arial" panose="020B0604020202020204" pitchFamily="34" charset="0"/>
                          </a:rPr>
                        </m:ctrlPr>
                      </m:accPr>
                      <m:e>
                        <m:r>
                          <a:rPr lang="es-PE" sz="2000" i="1">
                            <a:solidFill>
                              <a:srgbClr val="FF0000"/>
                            </a:solidFill>
                            <a:latin typeface="Cambria Math" panose="02040503050406030204" pitchFamily="18" charset="0"/>
                            <a:cs typeface="Arial" panose="020B0604020202020204" pitchFamily="34" charset="0"/>
                          </a:rPr>
                          <m:t> </m:t>
                        </m:r>
                        <m:r>
                          <a:rPr lang="es-PE" sz="2000" i="1">
                            <a:solidFill>
                              <a:srgbClr val="FF0000"/>
                            </a:solidFill>
                            <a:latin typeface="Cambria Math" panose="02040503050406030204" pitchFamily="18" charset="0"/>
                            <a:cs typeface="Arial" panose="020B0604020202020204" pitchFamily="34" charset="0"/>
                          </a:rPr>
                          <m:t>𝑋</m:t>
                        </m:r>
                      </m:e>
                    </m:acc>
                    <m:r>
                      <a:rPr lang="es-PE" sz="2000" b="0" i="0" smtClean="0">
                        <a:solidFill>
                          <a:srgbClr val="FF0000"/>
                        </a:solidFill>
                        <a:latin typeface="Cambria Math" panose="02040503050406030204" pitchFamily="18" charset="0"/>
                        <a:cs typeface="Arial" panose="020B0604020202020204" pitchFamily="34" charset="0"/>
                      </a:rPr>
                      <m:t>+</m:t>
                    </m:r>
                    <m:r>
                      <a:rPr lang="es-PE" sz="2000">
                        <a:solidFill>
                          <a:srgbClr val="FF0000"/>
                        </a:solidFill>
                        <a:latin typeface="Cambria Math" panose="02040503050406030204" pitchFamily="18" charset="0"/>
                        <a:cs typeface="Arial" panose="020B0604020202020204" pitchFamily="34" charset="0"/>
                      </a:rPr>
                      <m:t> </m:t>
                    </m:r>
                  </m:oMath>
                </a14:m>
                <a:r>
                  <a:rPr lang="es-PE" sz="2000" dirty="0">
                    <a:solidFill>
                      <a:srgbClr val="FF0000"/>
                    </a:solidFill>
                    <a:latin typeface="Arial" panose="020B0604020202020204" pitchFamily="34" charset="0"/>
                    <a:cs typeface="Arial" panose="020B0604020202020204" pitchFamily="34" charset="0"/>
                  </a:rPr>
                  <a:t>Z</a:t>
                </a:r>
                <a:r>
                  <a:rPr lang="es-PE" sz="2000" baseline="-25000" dirty="0">
                    <a:solidFill>
                      <a:srgbClr val="FF0000"/>
                    </a:solidFill>
                    <a:latin typeface="Arial" panose="020B0604020202020204" pitchFamily="34" charset="0"/>
                    <a:cs typeface="Arial" panose="020B0604020202020204" pitchFamily="34" charset="0"/>
                  </a:rPr>
                  <a:t>1-</a:t>
                </a:r>
                <a:r>
                  <a:rPr lang="el-GR" sz="2000" baseline="-25000" dirty="0">
                    <a:solidFill>
                      <a:srgbClr val="FF0000"/>
                    </a:solidFill>
                    <a:latin typeface="Arial" panose="020B0604020202020204" pitchFamily="34" charset="0"/>
                    <a:cs typeface="Arial" panose="020B0604020202020204" pitchFamily="34" charset="0"/>
                  </a:rPr>
                  <a:t>α</a:t>
                </a:r>
                <a:r>
                  <a:rPr lang="es-PE" sz="2000" baseline="-25000" dirty="0">
                    <a:solidFill>
                      <a:srgbClr val="FF0000"/>
                    </a:solidFill>
                    <a:latin typeface="Arial" panose="020B0604020202020204" pitchFamily="34" charset="0"/>
                    <a:cs typeface="Arial" panose="020B0604020202020204" pitchFamily="34" charset="0"/>
                  </a:rPr>
                  <a:t>/2</a:t>
                </a:r>
                <a:r>
                  <a:rPr lang="es-PE" sz="2000" dirty="0">
                    <a:solidFill>
                      <a:srgbClr val="FF0000"/>
                    </a:solidFill>
                    <a:latin typeface="Arial" panose="020B0604020202020204" pitchFamily="34" charset="0"/>
                    <a:cs typeface="Arial" panose="020B0604020202020204" pitchFamily="34" charset="0"/>
                  </a:rPr>
                  <a:t>*</a:t>
                </a:r>
                <a:r>
                  <a:rPr lang="es-PE" sz="2000" baseline="-25000" dirty="0">
                    <a:solidFill>
                      <a:srgbClr val="FF0000"/>
                    </a:solidFill>
                    <a:latin typeface="Arial" panose="020B0604020202020204" pitchFamily="34" charset="0"/>
                    <a:cs typeface="Arial" panose="020B0604020202020204" pitchFamily="34" charset="0"/>
                  </a:rPr>
                  <a:t> </a:t>
                </a:r>
                <a:r>
                  <a:rPr lang="el-GR" sz="2000" dirty="0">
                    <a:solidFill>
                      <a:srgbClr val="FF0000"/>
                    </a:solidFill>
                    <a:latin typeface="Arial" panose="020B0604020202020204" pitchFamily="34" charset="0"/>
                    <a:cs typeface="Arial" panose="020B0604020202020204" pitchFamily="34" charset="0"/>
                  </a:rPr>
                  <a:t>σ</a:t>
                </a:r>
                <a:r>
                  <a:rPr lang="es-PE" sz="2000" dirty="0">
                    <a:solidFill>
                      <a:srgbClr val="FF0000"/>
                    </a:solidFill>
                    <a:latin typeface="Arial" panose="020B0604020202020204" pitchFamily="34" charset="0"/>
                    <a:cs typeface="Arial" panose="020B0604020202020204" pitchFamily="34" charset="0"/>
                  </a:rPr>
                  <a:t> ] = 1- </a:t>
                </a:r>
                <a:r>
                  <a:rPr lang="el-GR" sz="2000" dirty="0">
                    <a:solidFill>
                      <a:srgbClr val="FF0000"/>
                    </a:solidFill>
                    <a:latin typeface="Arial" panose="020B0604020202020204" pitchFamily="34" charset="0"/>
                    <a:cs typeface="Arial" panose="020B0604020202020204" pitchFamily="34" charset="0"/>
                  </a:rPr>
                  <a:t>α</a:t>
                </a:r>
                <a:endParaRPr lang="es-PE" sz="2000" dirty="0">
                  <a:solidFill>
                    <a:srgbClr val="FF0000"/>
                  </a:solidFill>
                  <a:latin typeface="Arial" panose="020B0604020202020204" pitchFamily="34" charset="0"/>
                  <a:cs typeface="Arial" panose="020B0604020202020204" pitchFamily="34" charset="0"/>
                </a:endParaRPr>
              </a:p>
              <a:p>
                <a:pPr marL="0" indent="0" algn="just">
                  <a:buNone/>
                </a:pPr>
                <a:r>
                  <a:rPr lang="es-PE" sz="2000" dirty="0">
                    <a:solidFill>
                      <a:srgbClr val="FF0000"/>
                    </a:solidFill>
                    <a:latin typeface="Arial" panose="020B0604020202020204" pitchFamily="34" charset="0"/>
                    <a:cs typeface="Arial" panose="020B0604020202020204" pitchFamily="34" charset="0"/>
                  </a:rPr>
                  <a:t>                  </a:t>
                </a:r>
                <a14:m>
                  <m:oMath xmlns:m="http://schemas.openxmlformats.org/officeDocument/2006/math">
                    <m:rad>
                      <m:radPr>
                        <m:degHide m:val="on"/>
                        <m:ctrlPr>
                          <a:rPr lang="es-PE" sz="2000" i="1">
                            <a:solidFill>
                              <a:srgbClr val="FF0000"/>
                            </a:solidFill>
                            <a:latin typeface="Cambria Math" panose="02040503050406030204" pitchFamily="18" charset="0"/>
                            <a:cs typeface="Arial" panose="020B0604020202020204" pitchFamily="34" charset="0"/>
                          </a:rPr>
                        </m:ctrlPr>
                      </m:radPr>
                      <m:deg/>
                      <m:e>
                        <m:r>
                          <a:rPr lang="es-PE" sz="2000" i="1">
                            <a:solidFill>
                              <a:srgbClr val="FF0000"/>
                            </a:solidFill>
                            <a:latin typeface="Cambria Math" panose="02040503050406030204" pitchFamily="18" charset="0"/>
                            <a:cs typeface="Arial" panose="020B0604020202020204" pitchFamily="34" charset="0"/>
                          </a:rPr>
                          <m:t>𝑛</m:t>
                        </m:r>
                      </m:e>
                    </m:rad>
                  </m:oMath>
                </a14:m>
                <a:r>
                  <a:rPr lang="es-PE" sz="2000" dirty="0">
                    <a:solidFill>
                      <a:srgbClr val="FF0000"/>
                    </a:solidFill>
                    <a:latin typeface="Arial" panose="020B0604020202020204" pitchFamily="34" charset="0"/>
                    <a:cs typeface="Arial" panose="020B0604020202020204" pitchFamily="34" charset="0"/>
                  </a:rPr>
                  <a:t>                     </a:t>
                </a:r>
                <a14:m>
                  <m:oMath xmlns:m="http://schemas.openxmlformats.org/officeDocument/2006/math">
                    <m:rad>
                      <m:radPr>
                        <m:degHide m:val="on"/>
                        <m:ctrlPr>
                          <a:rPr lang="es-PE" sz="2000" i="1">
                            <a:solidFill>
                              <a:srgbClr val="FF0000"/>
                            </a:solidFill>
                            <a:latin typeface="Cambria Math" panose="02040503050406030204" pitchFamily="18" charset="0"/>
                            <a:cs typeface="Arial" panose="020B0604020202020204" pitchFamily="34" charset="0"/>
                          </a:rPr>
                        </m:ctrlPr>
                      </m:radPr>
                      <m:deg/>
                      <m:e>
                        <m:r>
                          <a:rPr lang="es-PE" sz="2000" i="1">
                            <a:solidFill>
                              <a:srgbClr val="FF0000"/>
                            </a:solidFill>
                            <a:latin typeface="Cambria Math" panose="02040503050406030204" pitchFamily="18" charset="0"/>
                            <a:cs typeface="Arial" panose="020B0604020202020204" pitchFamily="34" charset="0"/>
                          </a:rPr>
                          <m:t>𝑛</m:t>
                        </m:r>
                      </m:e>
                    </m:rad>
                  </m:oMath>
                </a14:m>
                <a:endParaRPr lang="es-PE" sz="2000" dirty="0">
                  <a:solidFill>
                    <a:srgbClr val="FF0000"/>
                  </a:solidFill>
                  <a:latin typeface="Arial" panose="020B0604020202020204" pitchFamily="34" charset="0"/>
                  <a:cs typeface="Arial" panose="020B0604020202020204" pitchFamily="34" charset="0"/>
                </a:endParaRPr>
              </a:p>
              <a:p>
                <a:pPr marL="0" indent="0" algn="just">
                  <a:buNone/>
                </a:pPr>
                <a:r>
                  <a:rPr lang="es-PE" sz="2000" dirty="0">
                    <a:latin typeface="Arial" panose="020B0604020202020204" pitchFamily="34" charset="0"/>
                    <a:cs typeface="Arial" panose="020B0604020202020204" pitchFamily="34" charset="0"/>
                  </a:rPr>
                  <a:t>INTERPRETACION:</a:t>
                </a:r>
              </a:p>
              <a:p>
                <a:pPr marL="0" indent="0" algn="just">
                  <a:buNone/>
                </a:pPr>
                <a:endParaRPr lang="es-PE" sz="2000" dirty="0">
                  <a:latin typeface="Arial" panose="020B0604020202020204" pitchFamily="34" charset="0"/>
                  <a:cs typeface="Arial" panose="020B0604020202020204" pitchFamily="34" charset="0"/>
                </a:endParaRPr>
              </a:p>
              <a:p>
                <a:pPr marL="0" indent="0" algn="just">
                  <a:buNone/>
                </a:pPr>
                <a:endParaRPr lang="es-PE" sz="2000" dirty="0">
                  <a:latin typeface="Arial" panose="020B0604020202020204" pitchFamily="34" charset="0"/>
                  <a:cs typeface="Arial" panose="020B0604020202020204" pitchFamily="34" charset="0"/>
                </a:endParaRPr>
              </a:p>
            </p:txBody>
          </p:sp>
        </mc:Choice>
        <mc:Fallback xmlns="">
          <p:sp>
            <p:nvSpPr>
              <p:cNvPr id="3" name="Marcador de contenido 2"/>
              <p:cNvSpPr>
                <a:spLocks noGrp="1" noRot="1" noChangeAspect="1" noMove="1" noResize="1" noEditPoints="1" noAdjustHandles="1" noChangeArrowheads="1" noChangeShapeType="1" noTextEdit="1"/>
              </p:cNvSpPr>
              <p:nvPr>
                <p:ph idx="1"/>
              </p:nvPr>
            </p:nvSpPr>
            <p:spPr>
              <a:xfrm>
                <a:off x="152400" y="76200"/>
                <a:ext cx="8610600" cy="6553200"/>
              </a:xfrm>
              <a:blipFill>
                <a:blip r:embed="rId2"/>
                <a:stretch>
                  <a:fillRect l="-637" t="-465" r="-566"/>
                </a:stretch>
              </a:blipFill>
            </p:spPr>
            <p:txBody>
              <a:bodyPr/>
              <a:lstStyle/>
              <a:p>
                <a:r>
                  <a:rPr lang="es-PE">
                    <a:noFill/>
                  </a:rPr>
                  <a:t> </a:t>
                </a:r>
              </a:p>
            </p:txBody>
          </p:sp>
        </mc:Fallback>
      </mc:AlternateContent>
      <p:cxnSp>
        <p:nvCxnSpPr>
          <p:cNvPr id="5" name="Conector recto 4"/>
          <p:cNvCxnSpPr/>
          <p:nvPr/>
        </p:nvCxnSpPr>
        <p:spPr>
          <a:xfrm>
            <a:off x="822036" y="4267200"/>
            <a:ext cx="914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Conector recto 7"/>
          <p:cNvCxnSpPr/>
          <p:nvPr/>
        </p:nvCxnSpPr>
        <p:spPr>
          <a:xfrm>
            <a:off x="1477818" y="5638800"/>
            <a:ext cx="304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Conector recto 8"/>
          <p:cNvCxnSpPr/>
          <p:nvPr/>
        </p:nvCxnSpPr>
        <p:spPr>
          <a:xfrm>
            <a:off x="3200400" y="5638800"/>
            <a:ext cx="304800" cy="0"/>
          </a:xfrm>
          <a:prstGeom prst="line">
            <a:avLst/>
          </a:prstGeom>
        </p:spPr>
        <p:style>
          <a:lnRef idx="1">
            <a:schemeClr val="accent1"/>
          </a:lnRef>
          <a:fillRef idx="0">
            <a:schemeClr val="accent1"/>
          </a:fillRef>
          <a:effectRef idx="0">
            <a:schemeClr val="accent1"/>
          </a:effectRef>
          <a:fontRef idx="minor">
            <a:schemeClr val="tx1"/>
          </a:fontRef>
        </p:style>
      </p:cxnSp>
      <p:pic>
        <p:nvPicPr>
          <p:cNvPr id="10" name="Imagen 9"/>
          <p:cNvPicPr/>
          <p:nvPr/>
        </p:nvPicPr>
        <p:blipFill rotWithShape="1">
          <a:blip r:embed="rId3"/>
          <a:srcRect l="10054" t="20707" r="25564" b="6819"/>
          <a:stretch/>
        </p:blipFill>
        <p:spPr bwMode="auto">
          <a:xfrm>
            <a:off x="5867400" y="3124200"/>
            <a:ext cx="3124200" cy="3352799"/>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9533693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Marcador de contenido 2"/>
              <p:cNvSpPr>
                <a:spLocks noGrp="1"/>
              </p:cNvSpPr>
              <p:nvPr>
                <p:ph idx="1"/>
              </p:nvPr>
            </p:nvSpPr>
            <p:spPr>
              <a:xfrm>
                <a:off x="42648" y="58513"/>
                <a:ext cx="8750832" cy="2362200"/>
              </a:xfrm>
            </p:spPr>
            <p:txBody>
              <a:bodyPr>
                <a:normAutofit lnSpcReduction="10000"/>
              </a:bodyPr>
              <a:lstStyle/>
              <a:p>
                <a:pPr marL="0" indent="0">
                  <a:buNone/>
                </a:pPr>
                <a:r>
                  <a:rPr lang="es-PE" sz="1900" dirty="0">
                    <a:latin typeface="Arial" panose="020B0604020202020204" pitchFamily="34" charset="0"/>
                    <a:cs typeface="Arial" panose="020B0604020202020204" pitchFamily="34" charset="0"/>
                  </a:rPr>
                  <a:t>Nota: Si el muestreo es sin reemplazo y la población es finita de tamaño N, con una </a:t>
                </a:r>
                <a:r>
                  <a:rPr lang="el-GR" sz="1900" b="1" dirty="0">
                    <a:latin typeface="Arial" panose="020B0604020202020204" pitchFamily="34" charset="0"/>
                    <a:cs typeface="Arial" panose="020B0604020202020204" pitchFamily="34" charset="0"/>
                  </a:rPr>
                  <a:t>σ</a:t>
                </a:r>
                <a:r>
                  <a:rPr lang="es-PE" sz="1900" b="1" baseline="30000" dirty="0">
                    <a:latin typeface="Arial" panose="020B0604020202020204" pitchFamily="34" charset="0"/>
                    <a:cs typeface="Arial" panose="020B0604020202020204" pitchFamily="34" charset="0"/>
                  </a:rPr>
                  <a:t>2</a:t>
                </a:r>
                <a:r>
                  <a:rPr lang="es-PE" sz="1900" b="1" dirty="0">
                    <a:latin typeface="Arial" panose="020B0604020202020204" pitchFamily="34" charset="0"/>
                    <a:cs typeface="Arial" panose="020B0604020202020204" pitchFamily="34" charset="0"/>
                  </a:rPr>
                  <a:t> </a:t>
                </a:r>
                <a:r>
                  <a:rPr lang="es-PE" sz="1900" dirty="0">
                    <a:latin typeface="Arial" panose="020B0604020202020204" pitchFamily="34" charset="0"/>
                    <a:cs typeface="Arial" panose="020B0604020202020204" pitchFamily="34" charset="0"/>
                  </a:rPr>
                  <a:t>supuesta conocida, para una muestra aleatoria de tamaño “n”, entonces el intervalo de confianza para la media </a:t>
                </a:r>
                <a:r>
                  <a:rPr lang="el-GR" sz="1900" dirty="0">
                    <a:latin typeface="Arial" panose="020B0604020202020204" pitchFamily="34" charset="0"/>
                    <a:cs typeface="Arial" panose="020B0604020202020204" pitchFamily="34" charset="0"/>
                  </a:rPr>
                  <a:t>μ</a:t>
                </a:r>
                <a:r>
                  <a:rPr lang="es-PE" sz="1900" dirty="0">
                    <a:latin typeface="Arial" panose="020B0604020202020204" pitchFamily="34" charset="0"/>
                    <a:cs typeface="Arial" panose="020B0604020202020204" pitchFamily="34" charset="0"/>
                  </a:rPr>
                  <a:t> es:</a:t>
                </a:r>
              </a:p>
              <a:p>
                <a:pPr marL="0" indent="0" algn="just">
                  <a:buNone/>
                </a:pPr>
                <a:r>
                  <a:rPr lang="es-PE" sz="1900" dirty="0">
                    <a:cs typeface="Arial" panose="020B0604020202020204" pitchFamily="34" charset="0"/>
                  </a:rPr>
                  <a:t>[</a:t>
                </a:r>
                <a14:m>
                  <m:oMath xmlns:m="http://schemas.openxmlformats.org/officeDocument/2006/math">
                    <m:acc>
                      <m:accPr>
                        <m:chr m:val="̅"/>
                        <m:ctrlPr>
                          <a:rPr lang="es-PE" sz="1900" i="1">
                            <a:latin typeface="Cambria Math" panose="02040503050406030204" pitchFamily="18" charset="0"/>
                            <a:cs typeface="Arial" panose="020B0604020202020204" pitchFamily="34" charset="0"/>
                          </a:rPr>
                        </m:ctrlPr>
                      </m:accPr>
                      <m:e>
                        <m:r>
                          <a:rPr lang="es-PE" sz="1900" i="1">
                            <a:latin typeface="Cambria Math" panose="02040503050406030204" pitchFamily="18" charset="0"/>
                            <a:cs typeface="Arial" panose="020B0604020202020204" pitchFamily="34" charset="0"/>
                          </a:rPr>
                          <m:t> </m:t>
                        </m:r>
                        <m:r>
                          <a:rPr lang="es-PE" sz="1900" i="1">
                            <a:latin typeface="Cambria Math" panose="02040503050406030204" pitchFamily="18" charset="0"/>
                            <a:cs typeface="Arial" panose="020B0604020202020204" pitchFamily="34" charset="0"/>
                          </a:rPr>
                          <m:t>𝑋</m:t>
                        </m:r>
                      </m:e>
                    </m:acc>
                    <m:r>
                      <a:rPr lang="es-PE" sz="1900">
                        <a:latin typeface="Cambria Math" panose="02040503050406030204" pitchFamily="18" charset="0"/>
                        <a:cs typeface="Arial" panose="020B0604020202020204" pitchFamily="34" charset="0"/>
                      </a:rPr>
                      <m:t>− </m:t>
                    </m:r>
                  </m:oMath>
                </a14:m>
                <a:r>
                  <a:rPr lang="es-PE" sz="1900" dirty="0">
                    <a:latin typeface="Arial" panose="020B0604020202020204" pitchFamily="34" charset="0"/>
                    <a:cs typeface="Arial" panose="020B0604020202020204" pitchFamily="34" charset="0"/>
                  </a:rPr>
                  <a:t>Z</a:t>
                </a:r>
                <a:r>
                  <a:rPr lang="es-PE" sz="1900" baseline="-25000" dirty="0">
                    <a:latin typeface="Arial" panose="020B0604020202020204" pitchFamily="34" charset="0"/>
                    <a:cs typeface="Arial" panose="020B0604020202020204" pitchFamily="34" charset="0"/>
                  </a:rPr>
                  <a:t>1-</a:t>
                </a:r>
                <a:r>
                  <a:rPr lang="el-GR" sz="1900" baseline="-25000" dirty="0">
                    <a:latin typeface="Arial" panose="020B0604020202020204" pitchFamily="34" charset="0"/>
                    <a:cs typeface="Arial" panose="020B0604020202020204" pitchFamily="34" charset="0"/>
                  </a:rPr>
                  <a:t>α</a:t>
                </a:r>
                <a:r>
                  <a:rPr lang="es-PE" sz="1900" baseline="-25000" dirty="0">
                    <a:latin typeface="Arial" panose="020B0604020202020204" pitchFamily="34" charset="0"/>
                    <a:cs typeface="Arial" panose="020B0604020202020204" pitchFamily="34" charset="0"/>
                  </a:rPr>
                  <a:t>/2 *  </a:t>
                </a:r>
                <a:r>
                  <a:rPr lang="el-GR" sz="1900" dirty="0">
                    <a:latin typeface="Arial" panose="020B0604020202020204" pitchFamily="34" charset="0"/>
                    <a:cs typeface="Arial" panose="020B0604020202020204" pitchFamily="34" charset="0"/>
                  </a:rPr>
                  <a:t>σ</a:t>
                </a:r>
                <a:r>
                  <a:rPr lang="es-PE" sz="1900" dirty="0">
                    <a:latin typeface="Arial" panose="020B0604020202020204" pitchFamily="34" charset="0"/>
                    <a:cs typeface="Arial" panose="020B0604020202020204" pitchFamily="34" charset="0"/>
                  </a:rPr>
                  <a:t>   *</a:t>
                </a:r>
                <a14:m>
                  <m:oMath xmlns:m="http://schemas.openxmlformats.org/officeDocument/2006/math">
                    <m:rad>
                      <m:radPr>
                        <m:degHide m:val="on"/>
                        <m:ctrlPr>
                          <a:rPr lang="es-PE" sz="1900" i="1" smtClean="0">
                            <a:latin typeface="Cambria Math" panose="02040503050406030204" pitchFamily="18" charset="0"/>
                            <a:cs typeface="Arial" panose="020B0604020202020204" pitchFamily="34" charset="0"/>
                          </a:rPr>
                        </m:ctrlPr>
                      </m:radPr>
                      <m:deg/>
                      <m:e>
                        <m:eqArr>
                          <m:eqArrPr>
                            <m:ctrlPr>
                              <a:rPr lang="es-PE" sz="1900" b="0" i="1" smtClean="0">
                                <a:latin typeface="Cambria Math" panose="02040503050406030204" pitchFamily="18" charset="0"/>
                                <a:cs typeface="Arial" panose="020B0604020202020204" pitchFamily="34" charset="0"/>
                              </a:rPr>
                            </m:ctrlPr>
                          </m:eqArrPr>
                          <m:e>
                            <m:r>
                              <a:rPr lang="es-PE" sz="1900" b="0" i="1" smtClean="0">
                                <a:latin typeface="Cambria Math" panose="02040503050406030204" pitchFamily="18" charset="0"/>
                                <a:cs typeface="Arial" panose="020B0604020202020204" pitchFamily="34" charset="0"/>
                              </a:rPr>
                              <m:t>𝑁</m:t>
                            </m:r>
                            <m:r>
                              <a:rPr lang="es-PE" sz="1900" b="0" i="1" smtClean="0">
                                <a:latin typeface="Cambria Math" panose="02040503050406030204" pitchFamily="18" charset="0"/>
                                <a:cs typeface="Arial" panose="020B0604020202020204" pitchFamily="34" charset="0"/>
                              </a:rPr>
                              <m:t>−</m:t>
                            </m:r>
                            <m:r>
                              <a:rPr lang="es-PE" sz="1900" b="0" i="1" smtClean="0">
                                <a:latin typeface="Cambria Math" panose="02040503050406030204" pitchFamily="18" charset="0"/>
                                <a:cs typeface="Arial" panose="020B0604020202020204" pitchFamily="34" charset="0"/>
                              </a:rPr>
                              <m:t>𝑛</m:t>
                            </m:r>
                          </m:e>
                          <m:e>
                            <m:r>
                              <a:rPr lang="es-PE" sz="1900" b="0" i="1" smtClean="0">
                                <a:latin typeface="Cambria Math" panose="02040503050406030204" pitchFamily="18" charset="0"/>
                                <a:cs typeface="Arial" panose="020B0604020202020204" pitchFamily="34" charset="0"/>
                              </a:rPr>
                              <m:t>𝑁</m:t>
                            </m:r>
                            <m:r>
                              <a:rPr lang="es-PE" sz="1900" b="0" i="1" smtClean="0">
                                <a:latin typeface="Cambria Math" panose="02040503050406030204" pitchFamily="18" charset="0"/>
                                <a:cs typeface="Arial" panose="020B0604020202020204" pitchFamily="34" charset="0"/>
                              </a:rPr>
                              <m:t>−1</m:t>
                            </m:r>
                          </m:e>
                        </m:eqArr>
                      </m:e>
                    </m:rad>
                  </m:oMath>
                </a14:m>
                <a:r>
                  <a:rPr lang="es-PE" sz="1900" dirty="0">
                    <a:latin typeface="Arial" panose="020B0604020202020204" pitchFamily="34" charset="0"/>
                    <a:cs typeface="Arial" panose="020B0604020202020204" pitchFamily="34" charset="0"/>
                  </a:rPr>
                  <a:t>   ≤ </a:t>
                </a:r>
                <a:r>
                  <a:rPr lang="el-GR" sz="1900" dirty="0">
                    <a:latin typeface="Arial" panose="020B0604020202020204" pitchFamily="34" charset="0"/>
                    <a:cs typeface="Arial" panose="020B0604020202020204" pitchFamily="34" charset="0"/>
                  </a:rPr>
                  <a:t>μ</a:t>
                </a:r>
                <a:r>
                  <a:rPr lang="es-PE" sz="1900" dirty="0">
                    <a:latin typeface="Arial" panose="020B0604020202020204" pitchFamily="34" charset="0"/>
                    <a:cs typeface="Arial" panose="020B0604020202020204" pitchFamily="34" charset="0"/>
                  </a:rPr>
                  <a:t> ≤ </a:t>
                </a:r>
                <a14:m>
                  <m:oMath xmlns:m="http://schemas.openxmlformats.org/officeDocument/2006/math">
                    <m:acc>
                      <m:accPr>
                        <m:chr m:val="̅"/>
                        <m:ctrlPr>
                          <a:rPr lang="es-PE" sz="1900" i="1">
                            <a:latin typeface="Cambria Math" panose="02040503050406030204" pitchFamily="18" charset="0"/>
                            <a:cs typeface="Arial" panose="020B0604020202020204" pitchFamily="34" charset="0"/>
                          </a:rPr>
                        </m:ctrlPr>
                      </m:accPr>
                      <m:e>
                        <m:r>
                          <a:rPr lang="es-PE" sz="1900" i="1">
                            <a:latin typeface="Cambria Math" panose="02040503050406030204" pitchFamily="18" charset="0"/>
                            <a:cs typeface="Arial" panose="020B0604020202020204" pitchFamily="34" charset="0"/>
                          </a:rPr>
                          <m:t> </m:t>
                        </m:r>
                        <m:r>
                          <a:rPr lang="es-PE" sz="1900" i="1">
                            <a:latin typeface="Cambria Math" panose="02040503050406030204" pitchFamily="18" charset="0"/>
                            <a:cs typeface="Arial" panose="020B0604020202020204" pitchFamily="34" charset="0"/>
                          </a:rPr>
                          <m:t>𝑋</m:t>
                        </m:r>
                      </m:e>
                    </m:acc>
                    <m:r>
                      <a:rPr lang="es-PE" sz="1900" b="0" i="0" smtClean="0">
                        <a:latin typeface="Cambria Math" panose="02040503050406030204" pitchFamily="18" charset="0"/>
                        <a:cs typeface="Arial" panose="020B0604020202020204" pitchFamily="34" charset="0"/>
                      </a:rPr>
                      <m:t>+</m:t>
                    </m:r>
                    <m:r>
                      <a:rPr lang="es-PE" sz="1900">
                        <a:latin typeface="Cambria Math" panose="02040503050406030204" pitchFamily="18" charset="0"/>
                        <a:cs typeface="Arial" panose="020B0604020202020204" pitchFamily="34" charset="0"/>
                      </a:rPr>
                      <m:t> </m:t>
                    </m:r>
                  </m:oMath>
                </a14:m>
                <a:r>
                  <a:rPr lang="es-PE" sz="1900" dirty="0">
                    <a:latin typeface="Arial" panose="020B0604020202020204" pitchFamily="34" charset="0"/>
                    <a:cs typeface="Arial" panose="020B0604020202020204" pitchFamily="34" charset="0"/>
                  </a:rPr>
                  <a:t>Z</a:t>
                </a:r>
                <a:r>
                  <a:rPr lang="es-PE" sz="1900" baseline="-25000" dirty="0">
                    <a:latin typeface="Arial" panose="020B0604020202020204" pitchFamily="34" charset="0"/>
                    <a:cs typeface="Arial" panose="020B0604020202020204" pitchFamily="34" charset="0"/>
                  </a:rPr>
                  <a:t>1-</a:t>
                </a:r>
                <a:r>
                  <a:rPr lang="el-GR" sz="1900" baseline="-25000" dirty="0">
                    <a:latin typeface="Arial" panose="020B0604020202020204" pitchFamily="34" charset="0"/>
                    <a:cs typeface="Arial" panose="020B0604020202020204" pitchFamily="34" charset="0"/>
                  </a:rPr>
                  <a:t>α</a:t>
                </a:r>
                <a:r>
                  <a:rPr lang="es-PE" sz="1900" baseline="-25000" dirty="0">
                    <a:latin typeface="Arial" panose="020B0604020202020204" pitchFamily="34" charset="0"/>
                    <a:cs typeface="Arial" panose="020B0604020202020204" pitchFamily="34" charset="0"/>
                  </a:rPr>
                  <a:t>/2 *  </a:t>
                </a:r>
                <a:r>
                  <a:rPr lang="el-GR" sz="1900" dirty="0">
                    <a:latin typeface="Arial" panose="020B0604020202020204" pitchFamily="34" charset="0"/>
                    <a:cs typeface="Arial" panose="020B0604020202020204" pitchFamily="34" charset="0"/>
                  </a:rPr>
                  <a:t>σ</a:t>
                </a:r>
                <a:r>
                  <a:rPr lang="es-PE" sz="1900" dirty="0">
                    <a:latin typeface="Arial" panose="020B0604020202020204" pitchFamily="34" charset="0"/>
                    <a:cs typeface="Arial" panose="020B0604020202020204" pitchFamily="34" charset="0"/>
                  </a:rPr>
                  <a:t>   *</a:t>
                </a:r>
                <a14:m>
                  <m:oMath xmlns:m="http://schemas.openxmlformats.org/officeDocument/2006/math">
                    <m:rad>
                      <m:radPr>
                        <m:degHide m:val="on"/>
                        <m:ctrlPr>
                          <a:rPr lang="es-PE" sz="1900" i="1">
                            <a:latin typeface="Cambria Math" panose="02040503050406030204" pitchFamily="18" charset="0"/>
                            <a:cs typeface="Arial" panose="020B0604020202020204" pitchFamily="34" charset="0"/>
                          </a:rPr>
                        </m:ctrlPr>
                      </m:radPr>
                      <m:deg/>
                      <m:e>
                        <m:eqArr>
                          <m:eqArrPr>
                            <m:ctrlPr>
                              <a:rPr lang="es-PE" sz="1900" i="1">
                                <a:latin typeface="Cambria Math" panose="02040503050406030204" pitchFamily="18" charset="0"/>
                                <a:cs typeface="Arial" panose="020B0604020202020204" pitchFamily="34" charset="0"/>
                              </a:rPr>
                            </m:ctrlPr>
                          </m:eqArrPr>
                          <m:e>
                            <m:r>
                              <a:rPr lang="es-PE" sz="1900" i="1">
                                <a:latin typeface="Cambria Math" panose="02040503050406030204" pitchFamily="18" charset="0"/>
                                <a:cs typeface="Arial" panose="020B0604020202020204" pitchFamily="34" charset="0"/>
                              </a:rPr>
                              <m:t>𝑁</m:t>
                            </m:r>
                            <m:r>
                              <a:rPr lang="es-PE" sz="1900" i="1">
                                <a:latin typeface="Cambria Math" panose="02040503050406030204" pitchFamily="18" charset="0"/>
                                <a:cs typeface="Arial" panose="020B0604020202020204" pitchFamily="34" charset="0"/>
                              </a:rPr>
                              <m:t>−</m:t>
                            </m:r>
                            <m:r>
                              <a:rPr lang="es-PE" sz="1900" i="1">
                                <a:latin typeface="Cambria Math" panose="02040503050406030204" pitchFamily="18" charset="0"/>
                                <a:cs typeface="Arial" panose="020B0604020202020204" pitchFamily="34" charset="0"/>
                              </a:rPr>
                              <m:t>𝑛</m:t>
                            </m:r>
                          </m:e>
                          <m:e>
                            <m:r>
                              <a:rPr lang="es-PE" sz="1900" i="1">
                                <a:latin typeface="Cambria Math" panose="02040503050406030204" pitchFamily="18" charset="0"/>
                                <a:cs typeface="Arial" panose="020B0604020202020204" pitchFamily="34" charset="0"/>
                              </a:rPr>
                              <m:t>𝑁</m:t>
                            </m:r>
                            <m:r>
                              <a:rPr lang="es-PE" sz="1900" i="1">
                                <a:latin typeface="Cambria Math" panose="02040503050406030204" pitchFamily="18" charset="0"/>
                                <a:cs typeface="Arial" panose="020B0604020202020204" pitchFamily="34" charset="0"/>
                              </a:rPr>
                              <m:t>−1</m:t>
                            </m:r>
                          </m:e>
                        </m:eqArr>
                      </m:e>
                    </m:rad>
                  </m:oMath>
                </a14:m>
                <a:r>
                  <a:rPr lang="es-PE" sz="1900" dirty="0">
                    <a:latin typeface="Arial" panose="020B0604020202020204" pitchFamily="34" charset="0"/>
                    <a:cs typeface="Arial" panose="020B0604020202020204" pitchFamily="34" charset="0"/>
                  </a:rPr>
                  <a:t>  ] = 1- </a:t>
                </a:r>
                <a:r>
                  <a:rPr lang="el-GR" sz="1900" dirty="0">
                    <a:latin typeface="Arial" panose="020B0604020202020204" pitchFamily="34" charset="0"/>
                    <a:cs typeface="Arial" panose="020B0604020202020204" pitchFamily="34" charset="0"/>
                  </a:rPr>
                  <a:t>α</a:t>
                </a:r>
                <a:endParaRPr lang="es-PE" sz="1900" dirty="0">
                  <a:latin typeface="Arial" panose="020B0604020202020204" pitchFamily="34" charset="0"/>
                  <a:cs typeface="Arial" panose="020B0604020202020204" pitchFamily="34" charset="0"/>
                </a:endParaRPr>
              </a:p>
              <a:p>
                <a:pPr marL="0" indent="0" algn="just">
                  <a:buNone/>
                </a:pPr>
                <a:r>
                  <a:rPr lang="es-PE" sz="1900" dirty="0">
                    <a:latin typeface="Arial" panose="020B0604020202020204" pitchFamily="34" charset="0"/>
                    <a:cs typeface="Arial" panose="020B0604020202020204" pitchFamily="34" charset="0"/>
                  </a:rPr>
                  <a:t>                  </a:t>
                </a:r>
                <a14:m>
                  <m:oMath xmlns:m="http://schemas.openxmlformats.org/officeDocument/2006/math">
                    <m:rad>
                      <m:radPr>
                        <m:degHide m:val="on"/>
                        <m:ctrlPr>
                          <a:rPr lang="es-PE" sz="1900" i="1">
                            <a:latin typeface="Cambria Math" panose="02040503050406030204" pitchFamily="18" charset="0"/>
                            <a:cs typeface="Arial" panose="020B0604020202020204" pitchFamily="34" charset="0"/>
                          </a:rPr>
                        </m:ctrlPr>
                      </m:radPr>
                      <m:deg/>
                      <m:e>
                        <m:r>
                          <a:rPr lang="es-PE" sz="1900" i="1">
                            <a:latin typeface="Cambria Math" panose="02040503050406030204" pitchFamily="18" charset="0"/>
                            <a:cs typeface="Arial" panose="020B0604020202020204" pitchFamily="34" charset="0"/>
                          </a:rPr>
                          <m:t>𝑛</m:t>
                        </m:r>
                      </m:e>
                    </m:rad>
                  </m:oMath>
                </a14:m>
                <a:r>
                  <a:rPr lang="es-PE" sz="1900" dirty="0">
                    <a:latin typeface="Arial" panose="020B0604020202020204" pitchFamily="34" charset="0"/>
                    <a:cs typeface="Arial" panose="020B0604020202020204" pitchFamily="34" charset="0"/>
                  </a:rPr>
                  <a:t>                                             </a:t>
                </a:r>
                <a14:m>
                  <m:oMath xmlns:m="http://schemas.openxmlformats.org/officeDocument/2006/math">
                    <m:rad>
                      <m:radPr>
                        <m:degHide m:val="on"/>
                        <m:ctrlPr>
                          <a:rPr lang="es-PE" sz="1900" i="1">
                            <a:latin typeface="Cambria Math" panose="02040503050406030204" pitchFamily="18" charset="0"/>
                            <a:cs typeface="Arial" panose="020B0604020202020204" pitchFamily="34" charset="0"/>
                          </a:rPr>
                        </m:ctrlPr>
                      </m:radPr>
                      <m:deg/>
                      <m:e>
                        <m:r>
                          <a:rPr lang="es-PE" sz="1900" i="1">
                            <a:latin typeface="Cambria Math" panose="02040503050406030204" pitchFamily="18" charset="0"/>
                            <a:cs typeface="Arial" panose="020B0604020202020204" pitchFamily="34" charset="0"/>
                          </a:rPr>
                          <m:t>𝑛</m:t>
                        </m:r>
                      </m:e>
                    </m:rad>
                  </m:oMath>
                </a14:m>
                <a:endParaRPr lang="es-PE" sz="1900" dirty="0">
                  <a:latin typeface="Arial" panose="020B0604020202020204" pitchFamily="34" charset="0"/>
                  <a:cs typeface="Arial" panose="020B0604020202020204" pitchFamily="34" charset="0"/>
                </a:endParaRPr>
              </a:p>
              <a:p>
                <a:pPr marL="0" indent="0">
                  <a:buNone/>
                </a:pPr>
                <a:endParaRPr lang="es-PE" sz="1900" dirty="0">
                  <a:latin typeface="Arial" panose="020B0604020202020204" pitchFamily="34" charset="0"/>
                  <a:cs typeface="Arial" panose="020B0604020202020204" pitchFamily="34" charset="0"/>
                </a:endParaRPr>
              </a:p>
            </p:txBody>
          </p:sp>
        </mc:Choice>
        <mc:Fallback>
          <p:sp>
            <p:nvSpPr>
              <p:cNvPr id="3" name="Marcador de contenido 2"/>
              <p:cNvSpPr>
                <a:spLocks noGrp="1" noRot="1" noChangeAspect="1" noMove="1" noResize="1" noEditPoints="1" noAdjustHandles="1" noChangeArrowheads="1" noChangeShapeType="1" noTextEdit="1"/>
              </p:cNvSpPr>
              <p:nvPr>
                <p:ph idx="1"/>
              </p:nvPr>
            </p:nvSpPr>
            <p:spPr>
              <a:xfrm>
                <a:off x="42648" y="58513"/>
                <a:ext cx="8750832" cy="2362200"/>
              </a:xfrm>
              <a:blipFill>
                <a:blip r:embed="rId2"/>
                <a:stretch>
                  <a:fillRect l="-696" t="-1292" r="-905"/>
                </a:stretch>
              </a:blipFill>
            </p:spPr>
            <p:txBody>
              <a:bodyPr/>
              <a:lstStyle/>
              <a:p>
                <a:r>
                  <a:rPr lang="es-PE">
                    <a:noFill/>
                  </a:rPr>
                  <a:t> </a:t>
                </a:r>
              </a:p>
            </p:txBody>
          </p:sp>
        </mc:Fallback>
      </mc:AlternateContent>
      <p:cxnSp>
        <p:nvCxnSpPr>
          <p:cNvPr id="5" name="Conector recto 4"/>
          <p:cNvCxnSpPr/>
          <p:nvPr/>
        </p:nvCxnSpPr>
        <p:spPr>
          <a:xfrm>
            <a:off x="1371600" y="1691640"/>
            <a:ext cx="381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Conector recto 7"/>
          <p:cNvCxnSpPr/>
          <p:nvPr/>
        </p:nvCxnSpPr>
        <p:spPr>
          <a:xfrm>
            <a:off x="1981200" y="1600200"/>
            <a:ext cx="685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Conector recto 8"/>
          <p:cNvCxnSpPr/>
          <p:nvPr/>
        </p:nvCxnSpPr>
        <p:spPr>
          <a:xfrm>
            <a:off x="4495800" y="1752600"/>
            <a:ext cx="381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Conector recto 9"/>
          <p:cNvCxnSpPr/>
          <p:nvPr/>
        </p:nvCxnSpPr>
        <p:spPr>
          <a:xfrm>
            <a:off x="5257800" y="1600200"/>
            <a:ext cx="685800" cy="0"/>
          </a:xfrm>
          <a:prstGeom prst="line">
            <a:avLst/>
          </a:prstGeom>
        </p:spPr>
        <p:style>
          <a:lnRef idx="1">
            <a:schemeClr val="accent1"/>
          </a:lnRef>
          <a:fillRef idx="0">
            <a:schemeClr val="accent1"/>
          </a:fillRef>
          <a:effectRef idx="0">
            <a:schemeClr val="accent1"/>
          </a:effectRef>
          <a:fontRef idx="minor">
            <a:schemeClr val="tx1"/>
          </a:fontRef>
        </p:style>
      </p:cxnSp>
      <p:pic>
        <p:nvPicPr>
          <p:cNvPr id="4" name="Imagen 3">
            <a:extLst>
              <a:ext uri="{FF2B5EF4-FFF2-40B4-BE49-F238E27FC236}">
                <a16:creationId xmlns:a16="http://schemas.microsoft.com/office/drawing/2014/main" id="{EA3CFF22-7A3C-493E-B2D1-B8347C9EEA48}"/>
              </a:ext>
            </a:extLst>
          </p:cNvPr>
          <p:cNvPicPr>
            <a:picLocks noChangeAspect="1"/>
          </p:cNvPicPr>
          <p:nvPr/>
        </p:nvPicPr>
        <p:blipFill>
          <a:blip r:embed="rId3">
            <a:duotone>
              <a:prstClr val="black"/>
              <a:schemeClr val="accent1">
                <a:tint val="45000"/>
                <a:satMod val="400000"/>
              </a:schemeClr>
            </a:duotone>
          </a:blip>
          <a:stretch>
            <a:fillRect/>
          </a:stretch>
        </p:blipFill>
        <p:spPr>
          <a:xfrm>
            <a:off x="42648" y="2217661"/>
            <a:ext cx="9058704" cy="2061203"/>
          </a:xfrm>
          <a:prstGeom prst="rect">
            <a:avLst/>
          </a:prstGeom>
        </p:spPr>
      </p:pic>
      <p:pic>
        <p:nvPicPr>
          <p:cNvPr id="7" name="Imagen 6">
            <a:extLst>
              <a:ext uri="{FF2B5EF4-FFF2-40B4-BE49-F238E27FC236}">
                <a16:creationId xmlns:a16="http://schemas.microsoft.com/office/drawing/2014/main" id="{E4475070-E2E5-4504-A2EA-2153EF293C77}"/>
              </a:ext>
            </a:extLst>
          </p:cNvPr>
          <p:cNvPicPr>
            <a:picLocks noChangeAspect="1"/>
          </p:cNvPicPr>
          <p:nvPr/>
        </p:nvPicPr>
        <p:blipFill>
          <a:blip r:embed="rId4"/>
          <a:stretch>
            <a:fillRect/>
          </a:stretch>
        </p:blipFill>
        <p:spPr>
          <a:xfrm>
            <a:off x="0" y="4638132"/>
            <a:ext cx="9144000" cy="2219868"/>
          </a:xfrm>
          <a:prstGeom prst="rect">
            <a:avLst/>
          </a:prstGeom>
        </p:spPr>
      </p:pic>
      <p:sp>
        <p:nvSpPr>
          <p:cNvPr id="11" name="CuadroTexto 10">
            <a:extLst>
              <a:ext uri="{FF2B5EF4-FFF2-40B4-BE49-F238E27FC236}">
                <a16:creationId xmlns:a16="http://schemas.microsoft.com/office/drawing/2014/main" id="{AA9D1AD6-9C72-4B2E-9E1D-DA4C4D607D9F}"/>
              </a:ext>
            </a:extLst>
          </p:cNvPr>
          <p:cNvSpPr txBox="1"/>
          <p:nvPr/>
        </p:nvSpPr>
        <p:spPr>
          <a:xfrm>
            <a:off x="685800" y="4278868"/>
            <a:ext cx="7543800" cy="369332"/>
          </a:xfrm>
          <a:prstGeom prst="rect">
            <a:avLst/>
          </a:prstGeom>
          <a:noFill/>
        </p:spPr>
        <p:txBody>
          <a:bodyPr wrap="square" rtlCol="0">
            <a:spAutoFit/>
          </a:bodyPr>
          <a:lstStyle/>
          <a:p>
            <a:r>
              <a:rPr lang="es-PE" dirty="0">
                <a:highlight>
                  <a:srgbClr val="FFFF00"/>
                </a:highlight>
              </a:rPr>
              <a:t>INTERPRETACION DE UN INTERVALO DE CONFIANZA</a:t>
            </a:r>
          </a:p>
        </p:txBody>
      </p:sp>
    </p:spTree>
    <p:extLst>
      <p:ext uri="{BB962C8B-B14F-4D97-AF65-F5344CB8AC3E}">
        <p14:creationId xmlns:p14="http://schemas.microsoft.com/office/powerpoint/2010/main" val="40485114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33400" y="228600"/>
            <a:ext cx="8229600" cy="6248400"/>
          </a:xfrm>
        </p:spPr>
        <p:txBody>
          <a:bodyPr>
            <a:normAutofit/>
          </a:bodyPr>
          <a:lstStyle/>
          <a:p>
            <a:pPr marL="0" indent="0" algn="just">
              <a:buNone/>
            </a:pPr>
            <a:r>
              <a:rPr lang="es-PE" sz="1900" dirty="0" err="1">
                <a:latin typeface="Arial" panose="020B0604020202020204" pitchFamily="34" charset="0"/>
                <a:cs typeface="Arial" panose="020B0604020202020204" pitchFamily="34" charset="0"/>
              </a:rPr>
              <a:t>Ej</a:t>
            </a:r>
            <a:r>
              <a:rPr lang="es-PE" sz="1900" dirty="0">
                <a:latin typeface="Arial" panose="020B0604020202020204" pitchFamily="34" charset="0"/>
                <a:cs typeface="Arial" panose="020B0604020202020204" pitchFamily="34" charset="0"/>
              </a:rPr>
              <a:t> 1: Una </a:t>
            </a:r>
            <a:r>
              <a:rPr lang="es-PE" sz="1900" dirty="0" err="1">
                <a:latin typeface="Arial" panose="020B0604020202020204" pitchFamily="34" charset="0"/>
                <a:cs typeface="Arial" panose="020B0604020202020204" pitchFamily="34" charset="0"/>
              </a:rPr>
              <a:t>m.a</a:t>
            </a:r>
            <a:r>
              <a:rPr lang="es-PE" sz="1900" dirty="0">
                <a:latin typeface="Arial" panose="020B0604020202020204" pitchFamily="34" charset="0"/>
                <a:cs typeface="Arial" panose="020B0604020202020204" pitchFamily="34" charset="0"/>
              </a:rPr>
              <a:t>. de 100 hogares de una ciudad indica que el promedio de los ingresos mensuales es de 500 soles. Encuentre un intervalo de confianza del 95% para la media poblacional de los ingresos de todos los hogares de esa ciudad. Suponga </a:t>
            </a:r>
            <a:r>
              <a:rPr lang="el-GR" sz="1900" dirty="0">
                <a:latin typeface="Arial" panose="020B0604020202020204" pitchFamily="34" charset="0"/>
                <a:cs typeface="Arial" panose="020B0604020202020204" pitchFamily="34" charset="0"/>
              </a:rPr>
              <a:t>σ</a:t>
            </a:r>
            <a:r>
              <a:rPr lang="es-PE" sz="1900" dirty="0">
                <a:latin typeface="Arial" panose="020B0604020202020204" pitchFamily="34" charset="0"/>
                <a:cs typeface="Arial" panose="020B0604020202020204" pitchFamily="34" charset="0"/>
              </a:rPr>
              <a:t>=100</a:t>
            </a:r>
          </a:p>
          <a:p>
            <a:pPr marL="0" indent="0">
              <a:buNone/>
            </a:pPr>
            <a:r>
              <a:rPr lang="es-PE" sz="1900" dirty="0">
                <a:solidFill>
                  <a:srgbClr val="FF0000"/>
                </a:solidFill>
                <a:latin typeface="Arial" panose="020B0604020202020204" pitchFamily="34" charset="0"/>
                <a:cs typeface="Arial" panose="020B0604020202020204" pitchFamily="34" charset="0"/>
              </a:rPr>
              <a:t>Sol :</a:t>
            </a:r>
          </a:p>
          <a:p>
            <a:pPr marL="0" indent="0" algn="just">
              <a:buNone/>
            </a:pPr>
            <a:r>
              <a:rPr lang="es-PE" sz="1900" dirty="0" err="1">
                <a:latin typeface="Arial" panose="020B0604020202020204" pitchFamily="34" charset="0"/>
                <a:cs typeface="Arial" panose="020B0604020202020204" pitchFamily="34" charset="0"/>
              </a:rPr>
              <a:t>Ej</a:t>
            </a:r>
            <a:r>
              <a:rPr lang="es-PE" sz="1900" dirty="0">
                <a:latin typeface="Arial" panose="020B0604020202020204" pitchFamily="34" charset="0"/>
                <a:cs typeface="Arial" panose="020B0604020202020204" pitchFamily="34" charset="0"/>
              </a:rPr>
              <a:t> 2: Un analista de investigación de mercados escoge una </a:t>
            </a:r>
            <a:r>
              <a:rPr lang="es-PE" sz="1900" dirty="0" err="1">
                <a:latin typeface="Arial" panose="020B0604020202020204" pitchFamily="34" charset="0"/>
                <a:cs typeface="Arial" panose="020B0604020202020204" pitchFamily="34" charset="0"/>
              </a:rPr>
              <a:t>m.a</a:t>
            </a:r>
            <a:r>
              <a:rPr lang="es-PE" sz="1900" dirty="0">
                <a:latin typeface="Arial" panose="020B0604020202020204" pitchFamily="34" charset="0"/>
                <a:cs typeface="Arial" panose="020B0604020202020204" pitchFamily="34" charset="0"/>
              </a:rPr>
              <a:t>. de 100 clientes de un conjunto de 500 clientes de una gran tienda que declaran ingresos mayores de 1500 soles. El encuentra que los clientes de la muestra gastaron en la tienda un promedio de 800 soles. Si con este valor de la muestra se estima que el gasto promedio de la población finita varia de 1450 a 1560. ¿Qué nivel confianza se utilizo?. Suponga que </a:t>
            </a:r>
            <a:r>
              <a:rPr lang="el-GR" sz="1900" dirty="0">
                <a:latin typeface="Arial" panose="020B0604020202020204" pitchFamily="34" charset="0"/>
                <a:cs typeface="Arial" panose="020B0604020202020204" pitchFamily="34" charset="0"/>
              </a:rPr>
              <a:t>σ</a:t>
            </a:r>
            <a:r>
              <a:rPr lang="es-PE" sz="1900" dirty="0">
                <a:latin typeface="Arial" panose="020B0604020202020204" pitchFamily="34" charset="0"/>
                <a:cs typeface="Arial" panose="020B0604020202020204" pitchFamily="34" charset="0"/>
              </a:rPr>
              <a:t>= 80.</a:t>
            </a:r>
          </a:p>
          <a:p>
            <a:pPr marL="0" indent="0">
              <a:buNone/>
            </a:pPr>
            <a:r>
              <a:rPr lang="es-PE" sz="1900" dirty="0">
                <a:solidFill>
                  <a:srgbClr val="FF0000"/>
                </a:solidFill>
                <a:latin typeface="Arial" panose="020B0604020202020204" pitchFamily="34" charset="0"/>
                <a:cs typeface="Arial" panose="020B0604020202020204" pitchFamily="34" charset="0"/>
              </a:rPr>
              <a:t>Sol :</a:t>
            </a:r>
          </a:p>
        </p:txBody>
      </p:sp>
      <p:cxnSp>
        <p:nvCxnSpPr>
          <p:cNvPr id="8" name="Conector recto 7"/>
          <p:cNvCxnSpPr/>
          <p:nvPr/>
        </p:nvCxnSpPr>
        <p:spPr>
          <a:xfrm>
            <a:off x="2438400" y="1524000"/>
            <a:ext cx="6858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181382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contenido 2">
            <a:extLst>
              <a:ext uri="{FF2B5EF4-FFF2-40B4-BE49-F238E27FC236}">
                <a16:creationId xmlns:a16="http://schemas.microsoft.com/office/drawing/2014/main" id="{E17B9446-FE66-45BE-A84A-6F610FAF588D}"/>
              </a:ext>
            </a:extLst>
          </p:cNvPr>
          <p:cNvSpPr>
            <a:spLocks noGrp="1"/>
          </p:cNvSpPr>
          <p:nvPr>
            <p:ph idx="1"/>
          </p:nvPr>
        </p:nvSpPr>
        <p:spPr>
          <a:xfrm>
            <a:off x="200491" y="2691064"/>
            <a:ext cx="6571343" cy="457200"/>
          </a:xfrm>
        </p:spPr>
        <p:txBody>
          <a:bodyPr/>
          <a:lstStyle/>
          <a:p>
            <a:pPr marL="0" indent="0">
              <a:buNone/>
            </a:pPr>
            <a:r>
              <a:rPr lang="es-ES" dirty="0">
                <a:solidFill>
                  <a:srgbClr val="FF0000"/>
                </a:solidFill>
              </a:rPr>
              <a:t>SOL</a:t>
            </a:r>
            <a:endParaRPr lang="es-PE" dirty="0">
              <a:solidFill>
                <a:srgbClr val="FF0000"/>
              </a:solidFill>
            </a:endParaRPr>
          </a:p>
        </p:txBody>
      </p:sp>
      <p:pic>
        <p:nvPicPr>
          <p:cNvPr id="8" name="Imagen 7">
            <a:extLst>
              <a:ext uri="{FF2B5EF4-FFF2-40B4-BE49-F238E27FC236}">
                <a16:creationId xmlns:a16="http://schemas.microsoft.com/office/drawing/2014/main" id="{4C119867-AC46-4094-B81A-CC58A11AA769}"/>
              </a:ext>
            </a:extLst>
          </p:cNvPr>
          <p:cNvPicPr>
            <a:picLocks noChangeAspect="1"/>
          </p:cNvPicPr>
          <p:nvPr/>
        </p:nvPicPr>
        <p:blipFill>
          <a:blip r:embed="rId2"/>
          <a:stretch>
            <a:fillRect/>
          </a:stretch>
        </p:blipFill>
        <p:spPr>
          <a:xfrm>
            <a:off x="200493" y="3276600"/>
            <a:ext cx="8353425" cy="1371600"/>
          </a:xfrm>
          <a:prstGeom prst="rect">
            <a:avLst/>
          </a:prstGeom>
        </p:spPr>
      </p:pic>
      <p:sp>
        <p:nvSpPr>
          <p:cNvPr id="9" name="Marcador de contenido 2">
            <a:extLst>
              <a:ext uri="{FF2B5EF4-FFF2-40B4-BE49-F238E27FC236}">
                <a16:creationId xmlns:a16="http://schemas.microsoft.com/office/drawing/2014/main" id="{850518AC-7709-46EE-8376-482649D68D03}"/>
              </a:ext>
            </a:extLst>
          </p:cNvPr>
          <p:cNvSpPr txBox="1">
            <a:spLocks/>
          </p:cNvSpPr>
          <p:nvPr/>
        </p:nvSpPr>
        <p:spPr>
          <a:xfrm>
            <a:off x="200492" y="4876799"/>
            <a:ext cx="6571343" cy="457200"/>
          </a:xfrm>
          <a:prstGeom prst="rect">
            <a:avLst/>
          </a:prstGeom>
        </p:spPr>
        <p:txBody>
          <a:bodyPr vert="horz" lIns="91440" tIns="45720" rIns="91440" bIns="45720" rtlCol="0" anchor="t">
            <a:normAutofit/>
          </a:bodyPr>
          <a:lstStyle>
            <a:lvl1pPr marL="228600" indent="-228600" algn="l" defTabSz="685800" rtl="0" eaLnBrk="1" latinLnBrk="0" hangingPunct="1">
              <a:lnSpc>
                <a:spcPct val="120000"/>
              </a:lnSpc>
              <a:spcBef>
                <a:spcPts val="1000"/>
              </a:spcBef>
              <a:buClr>
                <a:schemeClr val="accent1"/>
              </a:buClr>
              <a:buSzPct val="100000"/>
              <a:buFont typeface="Arial" panose="020B0604020202020204" pitchFamily="34" charset="0"/>
              <a:buChar char="•"/>
              <a:defRPr sz="2000" kern="1200" cap="none">
                <a:solidFill>
                  <a:schemeClr val="tx1"/>
                </a:solidFill>
                <a:effectLst/>
                <a:latin typeface="+mn-lt"/>
                <a:ea typeface="+mn-ea"/>
                <a:cs typeface="+mn-cs"/>
              </a:defRPr>
            </a:lvl1pPr>
            <a:lvl2pPr marL="6858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baseline="0">
                <a:solidFill>
                  <a:schemeClr val="tx1"/>
                </a:solidFill>
                <a:effectLst/>
                <a:latin typeface="+mn-lt"/>
                <a:ea typeface="+mn-ea"/>
                <a:cs typeface="+mn-cs"/>
              </a:defRPr>
            </a:lvl2pPr>
            <a:lvl3pPr marL="11430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a:solidFill>
                  <a:schemeClr val="tx1"/>
                </a:solidFill>
                <a:effectLst/>
                <a:latin typeface="+mn-lt"/>
                <a:ea typeface="+mn-ea"/>
                <a:cs typeface="+mn-cs"/>
              </a:defRPr>
            </a:lvl3pPr>
            <a:lvl4pPr marL="16002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200" kern="1200" cap="none">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marL="0" indent="0">
              <a:buFont typeface="Arial" panose="020B0604020202020204" pitchFamily="34" charset="0"/>
              <a:buNone/>
            </a:pPr>
            <a:r>
              <a:rPr lang="es-ES">
                <a:solidFill>
                  <a:srgbClr val="FF0000"/>
                </a:solidFill>
              </a:rPr>
              <a:t>SOL</a:t>
            </a:r>
            <a:endParaRPr lang="es-PE" dirty="0">
              <a:solidFill>
                <a:srgbClr val="FF0000"/>
              </a:solidFill>
            </a:endParaRPr>
          </a:p>
        </p:txBody>
      </p:sp>
      <p:pic>
        <p:nvPicPr>
          <p:cNvPr id="3" name="Imagen 2">
            <a:extLst>
              <a:ext uri="{FF2B5EF4-FFF2-40B4-BE49-F238E27FC236}">
                <a16:creationId xmlns:a16="http://schemas.microsoft.com/office/drawing/2014/main" id="{AA54F278-F184-46B3-9F94-3F826EBCA428}"/>
              </a:ext>
            </a:extLst>
          </p:cNvPr>
          <p:cNvPicPr>
            <a:picLocks noChangeAspect="1"/>
          </p:cNvPicPr>
          <p:nvPr/>
        </p:nvPicPr>
        <p:blipFill>
          <a:blip r:embed="rId3"/>
          <a:stretch>
            <a:fillRect/>
          </a:stretch>
        </p:blipFill>
        <p:spPr>
          <a:xfrm>
            <a:off x="180438" y="85416"/>
            <a:ext cx="7896762" cy="2733984"/>
          </a:xfrm>
          <a:prstGeom prst="rect">
            <a:avLst/>
          </a:prstGeom>
        </p:spPr>
      </p:pic>
    </p:spTree>
    <p:extLst>
      <p:ext uri="{BB962C8B-B14F-4D97-AF65-F5344CB8AC3E}">
        <p14:creationId xmlns:p14="http://schemas.microsoft.com/office/powerpoint/2010/main" val="38635691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a:blip r:embed="rId2"/>
          <a:stretch>
            <a:fillRect/>
          </a:stretch>
        </p:blipFill>
        <p:spPr>
          <a:xfrm>
            <a:off x="0" y="428625"/>
            <a:ext cx="7924800" cy="1809750"/>
          </a:xfrm>
          <a:prstGeom prst="rect">
            <a:avLst/>
          </a:prstGeom>
        </p:spPr>
      </p:pic>
      <p:sp>
        <p:nvSpPr>
          <p:cNvPr id="5" name="Marcador de contenido 2">
            <a:extLst>
              <a:ext uri="{FF2B5EF4-FFF2-40B4-BE49-F238E27FC236}">
                <a16:creationId xmlns:a16="http://schemas.microsoft.com/office/drawing/2014/main" id="{E17B9446-FE66-45BE-A84A-6F610FAF588D}"/>
              </a:ext>
            </a:extLst>
          </p:cNvPr>
          <p:cNvSpPr txBox="1">
            <a:spLocks/>
          </p:cNvSpPr>
          <p:nvPr/>
        </p:nvSpPr>
        <p:spPr>
          <a:xfrm>
            <a:off x="94343" y="2362200"/>
            <a:ext cx="6571343" cy="457200"/>
          </a:xfrm>
          <a:prstGeom prst="rect">
            <a:avLst/>
          </a:prstGeom>
        </p:spPr>
        <p:txBody>
          <a:bodyPr vert="horz" lIns="91440" tIns="45720" rIns="91440" bIns="45720" rtlCol="0" anchor="t">
            <a:normAutofit/>
          </a:bodyPr>
          <a:lstStyle>
            <a:lvl1pPr marL="228600" indent="-228600" algn="l" defTabSz="685800" rtl="0" eaLnBrk="1" latinLnBrk="0" hangingPunct="1">
              <a:lnSpc>
                <a:spcPct val="120000"/>
              </a:lnSpc>
              <a:spcBef>
                <a:spcPts val="1000"/>
              </a:spcBef>
              <a:buClr>
                <a:schemeClr val="accent1"/>
              </a:buClr>
              <a:buSzPct val="100000"/>
              <a:buFont typeface="Arial" panose="020B0604020202020204" pitchFamily="34" charset="0"/>
              <a:buChar char="•"/>
              <a:defRPr sz="2000" kern="1200" cap="none">
                <a:solidFill>
                  <a:schemeClr val="tx1"/>
                </a:solidFill>
                <a:effectLst/>
                <a:latin typeface="+mn-lt"/>
                <a:ea typeface="+mn-ea"/>
                <a:cs typeface="+mn-cs"/>
              </a:defRPr>
            </a:lvl1pPr>
            <a:lvl2pPr marL="6858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baseline="0">
                <a:solidFill>
                  <a:schemeClr val="tx1"/>
                </a:solidFill>
                <a:effectLst/>
                <a:latin typeface="+mn-lt"/>
                <a:ea typeface="+mn-ea"/>
                <a:cs typeface="+mn-cs"/>
              </a:defRPr>
            </a:lvl2pPr>
            <a:lvl3pPr marL="11430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a:solidFill>
                  <a:schemeClr val="tx1"/>
                </a:solidFill>
                <a:effectLst/>
                <a:latin typeface="+mn-lt"/>
                <a:ea typeface="+mn-ea"/>
                <a:cs typeface="+mn-cs"/>
              </a:defRPr>
            </a:lvl3pPr>
            <a:lvl4pPr marL="16002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200" kern="1200" cap="none">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marL="0" indent="0">
              <a:buFont typeface="Arial" panose="020B0604020202020204" pitchFamily="34" charset="0"/>
              <a:buNone/>
            </a:pPr>
            <a:r>
              <a:rPr lang="es-ES" dirty="0">
                <a:solidFill>
                  <a:srgbClr val="FF0000"/>
                </a:solidFill>
              </a:rPr>
              <a:t>SOL</a:t>
            </a:r>
            <a:endParaRPr lang="es-PE" dirty="0">
              <a:solidFill>
                <a:srgbClr val="FF0000"/>
              </a:solidFill>
            </a:endParaRPr>
          </a:p>
        </p:txBody>
      </p:sp>
    </p:spTree>
    <p:extLst>
      <p:ext uri="{BB962C8B-B14F-4D97-AF65-F5344CB8AC3E}">
        <p14:creationId xmlns:p14="http://schemas.microsoft.com/office/powerpoint/2010/main" val="4475342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p:cNvSpPr>
                <a:spLocks noGrp="1"/>
              </p:cNvSpPr>
              <p:nvPr>
                <p:ph idx="1"/>
              </p:nvPr>
            </p:nvSpPr>
            <p:spPr>
              <a:xfrm>
                <a:off x="381000" y="381000"/>
                <a:ext cx="8382000" cy="6477000"/>
              </a:xfrm>
            </p:spPr>
            <p:txBody>
              <a:bodyPr/>
              <a:lstStyle/>
              <a:p>
                <a:pPr marL="0" indent="0">
                  <a:buNone/>
                </a:pPr>
                <a:r>
                  <a:rPr lang="es-PE" sz="1900" b="1" dirty="0">
                    <a:solidFill>
                      <a:srgbClr val="0070C0"/>
                    </a:solidFill>
                    <a:latin typeface="Arial" panose="020B0604020202020204" pitchFamily="34" charset="0"/>
                    <a:cs typeface="Arial" panose="020B0604020202020204" pitchFamily="34" charset="0"/>
                  </a:rPr>
                  <a:t>2. Cuando la </a:t>
                </a:r>
                <a:r>
                  <a:rPr lang="el-GR" sz="1900" b="1" dirty="0">
                    <a:solidFill>
                      <a:srgbClr val="0070C0"/>
                    </a:solidFill>
                    <a:latin typeface="Arial" panose="020B0604020202020204" pitchFamily="34" charset="0"/>
                    <a:cs typeface="Arial" panose="020B0604020202020204" pitchFamily="34" charset="0"/>
                  </a:rPr>
                  <a:t>σ</a:t>
                </a:r>
                <a:r>
                  <a:rPr lang="es-PE" sz="1900" b="1" baseline="30000" dirty="0">
                    <a:solidFill>
                      <a:srgbClr val="0070C0"/>
                    </a:solidFill>
                    <a:latin typeface="Arial" panose="020B0604020202020204" pitchFamily="34" charset="0"/>
                    <a:cs typeface="Arial" panose="020B0604020202020204" pitchFamily="34" charset="0"/>
                  </a:rPr>
                  <a:t>2</a:t>
                </a:r>
                <a:r>
                  <a:rPr lang="es-PE" sz="1900" b="1" dirty="0">
                    <a:solidFill>
                      <a:srgbClr val="0070C0"/>
                    </a:solidFill>
                    <a:latin typeface="Arial" panose="020B0604020202020204" pitchFamily="34" charset="0"/>
                    <a:cs typeface="Arial" panose="020B0604020202020204" pitchFamily="34" charset="0"/>
                  </a:rPr>
                  <a:t> no se conoce:</a:t>
                </a:r>
              </a:p>
              <a:p>
                <a:pPr marL="0" indent="0">
                  <a:buNone/>
                </a:pPr>
                <a:r>
                  <a:rPr lang="es-PE" sz="1900" b="1" dirty="0">
                    <a:latin typeface="Arial" panose="020B0604020202020204" pitchFamily="34" charset="0"/>
                    <a:cs typeface="Arial" panose="020B0604020202020204" pitchFamily="34" charset="0"/>
                  </a:rPr>
                  <a:t>2.1. Si la población no es normal: </a:t>
                </a:r>
                <a:r>
                  <a:rPr lang="es-PE" sz="1900" dirty="0">
                    <a:latin typeface="Arial" panose="020B0604020202020204" pitchFamily="34" charset="0"/>
                    <a:cs typeface="Arial" panose="020B0604020202020204" pitchFamily="34" charset="0"/>
                  </a:rPr>
                  <a:t>Y el tamaño de muestra es suficientemente grande ( n≥ 30), se utiliza la desviación estándar muestral “S”, entonces el intervalo de confianza para la media </a:t>
                </a:r>
                <a:r>
                  <a:rPr lang="el-GR" sz="1900" dirty="0">
                    <a:latin typeface="Arial" panose="020B0604020202020204" pitchFamily="34" charset="0"/>
                    <a:cs typeface="Arial" panose="020B0604020202020204" pitchFamily="34" charset="0"/>
                  </a:rPr>
                  <a:t>μ</a:t>
                </a:r>
                <a:r>
                  <a:rPr lang="es-PE" sz="1900" dirty="0">
                    <a:latin typeface="Arial" panose="020B0604020202020204" pitchFamily="34" charset="0"/>
                    <a:cs typeface="Arial" panose="020B0604020202020204" pitchFamily="34" charset="0"/>
                  </a:rPr>
                  <a:t> es:</a:t>
                </a:r>
              </a:p>
              <a:p>
                <a:pPr marL="0" indent="0">
                  <a:buNone/>
                </a:pPr>
                <a:endParaRPr lang="es-PE" sz="1900" dirty="0">
                  <a:latin typeface="Arial" panose="020B0604020202020204" pitchFamily="34" charset="0"/>
                  <a:cs typeface="Arial" panose="020B0604020202020204" pitchFamily="34" charset="0"/>
                </a:endParaRPr>
              </a:p>
              <a:p>
                <a:pPr marL="0" indent="0" algn="just">
                  <a:buNone/>
                </a:pPr>
                <a:r>
                  <a:rPr lang="es-PE" sz="1900" dirty="0">
                    <a:latin typeface="Arial" panose="020B0604020202020204" pitchFamily="34" charset="0"/>
                    <a:cs typeface="Arial" panose="020B0604020202020204" pitchFamily="34" charset="0"/>
                  </a:rPr>
                  <a:t>[</a:t>
                </a:r>
                <a14:m>
                  <m:oMath xmlns:m="http://schemas.openxmlformats.org/officeDocument/2006/math">
                    <m:acc>
                      <m:accPr>
                        <m:chr m:val="̅"/>
                        <m:ctrlPr>
                          <a:rPr lang="es-PE" sz="1900" i="1">
                            <a:latin typeface="Cambria Math" panose="02040503050406030204" pitchFamily="18" charset="0"/>
                            <a:cs typeface="Arial" panose="020B0604020202020204" pitchFamily="34" charset="0"/>
                          </a:rPr>
                        </m:ctrlPr>
                      </m:accPr>
                      <m:e>
                        <m:r>
                          <a:rPr lang="es-PE" sz="1900" i="1">
                            <a:latin typeface="Cambria Math" panose="02040503050406030204" pitchFamily="18" charset="0"/>
                            <a:cs typeface="Arial" panose="020B0604020202020204" pitchFamily="34" charset="0"/>
                          </a:rPr>
                          <m:t> </m:t>
                        </m:r>
                        <m:r>
                          <a:rPr lang="es-PE" sz="1900" i="1">
                            <a:latin typeface="Cambria Math" panose="02040503050406030204" pitchFamily="18" charset="0"/>
                            <a:cs typeface="Arial" panose="020B0604020202020204" pitchFamily="34" charset="0"/>
                          </a:rPr>
                          <m:t>𝑋</m:t>
                        </m:r>
                      </m:e>
                    </m:acc>
                  </m:oMath>
                </a14:m>
                <a:r>
                  <a:rPr lang="es-PE" sz="1900" baseline="-25000" dirty="0">
                    <a:latin typeface="Arial" panose="020B0604020202020204" pitchFamily="34" charset="0"/>
                    <a:cs typeface="Arial" panose="020B0604020202020204" pitchFamily="34" charset="0"/>
                  </a:rPr>
                  <a:t> </a:t>
                </a:r>
                <a:r>
                  <a:rPr lang="es-PE" sz="1900" dirty="0">
                    <a:latin typeface="Arial" panose="020B0604020202020204" pitchFamily="34" charset="0"/>
                    <a:cs typeface="Arial" panose="020B0604020202020204" pitchFamily="34" charset="0"/>
                  </a:rPr>
                  <a:t> - z</a:t>
                </a:r>
                <a:r>
                  <a:rPr lang="es-PE" sz="1900" baseline="-25000" dirty="0">
                    <a:latin typeface="Arial" panose="020B0604020202020204" pitchFamily="34" charset="0"/>
                    <a:cs typeface="Arial" panose="020B0604020202020204" pitchFamily="34" charset="0"/>
                  </a:rPr>
                  <a:t>1-</a:t>
                </a:r>
                <a:r>
                  <a:rPr lang="el-GR" sz="1900" baseline="-25000" dirty="0">
                    <a:latin typeface="Arial" panose="020B0604020202020204" pitchFamily="34" charset="0"/>
                    <a:cs typeface="Arial" panose="020B0604020202020204" pitchFamily="34" charset="0"/>
                  </a:rPr>
                  <a:t>α</a:t>
                </a:r>
                <a:r>
                  <a:rPr lang="es-PE" sz="1900" baseline="-25000" dirty="0">
                    <a:latin typeface="Arial" panose="020B0604020202020204" pitchFamily="34" charset="0"/>
                    <a:cs typeface="Arial" panose="020B0604020202020204" pitchFamily="34" charset="0"/>
                  </a:rPr>
                  <a:t>/2 *  </a:t>
                </a:r>
                <a:r>
                  <a:rPr lang="es-PE" sz="1900" dirty="0">
                    <a:latin typeface="Arial" panose="020B0604020202020204" pitchFamily="34" charset="0"/>
                    <a:cs typeface="Arial" panose="020B0604020202020204" pitchFamily="34" charset="0"/>
                  </a:rPr>
                  <a:t>S    ≤ </a:t>
                </a:r>
                <a:r>
                  <a:rPr lang="el-GR" sz="1900" dirty="0">
                    <a:latin typeface="Arial" panose="020B0604020202020204" pitchFamily="34" charset="0"/>
                    <a:cs typeface="Arial" panose="020B0604020202020204" pitchFamily="34" charset="0"/>
                  </a:rPr>
                  <a:t>μ</a:t>
                </a:r>
                <a:r>
                  <a:rPr lang="es-PE" sz="1900" dirty="0">
                    <a:latin typeface="Arial" panose="020B0604020202020204" pitchFamily="34" charset="0"/>
                    <a:cs typeface="Arial" panose="020B0604020202020204" pitchFamily="34" charset="0"/>
                  </a:rPr>
                  <a:t>  ≤ </a:t>
                </a:r>
                <a14:m>
                  <m:oMath xmlns:m="http://schemas.openxmlformats.org/officeDocument/2006/math">
                    <m:acc>
                      <m:accPr>
                        <m:chr m:val="̅"/>
                        <m:ctrlPr>
                          <a:rPr lang="es-PE" sz="1900" i="1">
                            <a:latin typeface="Cambria Math" panose="02040503050406030204" pitchFamily="18" charset="0"/>
                            <a:cs typeface="Arial" panose="020B0604020202020204" pitchFamily="34" charset="0"/>
                          </a:rPr>
                        </m:ctrlPr>
                      </m:accPr>
                      <m:e>
                        <m:r>
                          <a:rPr lang="es-PE" sz="1900" i="1">
                            <a:latin typeface="Cambria Math" panose="02040503050406030204" pitchFamily="18" charset="0"/>
                            <a:cs typeface="Arial" panose="020B0604020202020204" pitchFamily="34" charset="0"/>
                          </a:rPr>
                          <m:t> </m:t>
                        </m:r>
                        <m:r>
                          <a:rPr lang="es-PE" sz="1900" i="1">
                            <a:latin typeface="Cambria Math" panose="02040503050406030204" pitchFamily="18" charset="0"/>
                            <a:cs typeface="Arial" panose="020B0604020202020204" pitchFamily="34" charset="0"/>
                          </a:rPr>
                          <m:t>𝑋</m:t>
                        </m:r>
                      </m:e>
                    </m:acc>
                  </m:oMath>
                </a14:m>
                <a:r>
                  <a:rPr lang="es-PE" sz="1900" dirty="0">
                    <a:latin typeface="Arial" panose="020B0604020202020204" pitchFamily="34" charset="0"/>
                    <a:cs typeface="Arial" panose="020B0604020202020204" pitchFamily="34" charset="0"/>
                  </a:rPr>
                  <a:t> + z</a:t>
                </a:r>
                <a:r>
                  <a:rPr lang="es-PE" sz="1900" baseline="-25000" dirty="0">
                    <a:latin typeface="Arial" panose="020B0604020202020204" pitchFamily="34" charset="0"/>
                    <a:cs typeface="Arial" panose="020B0604020202020204" pitchFamily="34" charset="0"/>
                  </a:rPr>
                  <a:t> 1-</a:t>
                </a:r>
                <a:r>
                  <a:rPr lang="el-GR" sz="1900" baseline="-25000" dirty="0">
                    <a:latin typeface="Arial" panose="020B0604020202020204" pitchFamily="34" charset="0"/>
                    <a:cs typeface="Arial" panose="020B0604020202020204" pitchFamily="34" charset="0"/>
                  </a:rPr>
                  <a:t>α</a:t>
                </a:r>
                <a:r>
                  <a:rPr lang="es-PE" sz="1900" baseline="-25000" dirty="0">
                    <a:latin typeface="Arial" panose="020B0604020202020204" pitchFamily="34" charset="0"/>
                    <a:cs typeface="Arial" panose="020B0604020202020204" pitchFamily="34" charset="0"/>
                  </a:rPr>
                  <a:t>/2 *   </a:t>
                </a:r>
                <a:r>
                  <a:rPr lang="es-PE" sz="1900" dirty="0">
                    <a:latin typeface="Arial" panose="020B0604020202020204" pitchFamily="34" charset="0"/>
                    <a:cs typeface="Arial" panose="020B0604020202020204" pitchFamily="34" charset="0"/>
                  </a:rPr>
                  <a:t>S    ] = 1- </a:t>
                </a:r>
                <a:r>
                  <a:rPr lang="el-GR" sz="1900" dirty="0">
                    <a:latin typeface="Arial" panose="020B0604020202020204" pitchFamily="34" charset="0"/>
                    <a:cs typeface="Arial" panose="020B0604020202020204" pitchFamily="34" charset="0"/>
                  </a:rPr>
                  <a:t>α</a:t>
                </a:r>
                <a:endParaRPr lang="es-PE" sz="1900" dirty="0">
                  <a:latin typeface="Arial" panose="020B0604020202020204" pitchFamily="34" charset="0"/>
                  <a:cs typeface="Arial" panose="020B0604020202020204" pitchFamily="34" charset="0"/>
                </a:endParaRPr>
              </a:p>
              <a:p>
                <a:pPr marL="0" indent="0" algn="just">
                  <a:buNone/>
                </a:pPr>
                <a:r>
                  <a:rPr lang="es-PE" sz="1900" dirty="0">
                    <a:latin typeface="Arial" panose="020B0604020202020204" pitchFamily="34" charset="0"/>
                    <a:cs typeface="Arial" panose="020B0604020202020204" pitchFamily="34" charset="0"/>
                  </a:rPr>
                  <a:t>                 </a:t>
                </a:r>
                <a14:m>
                  <m:oMath xmlns:m="http://schemas.openxmlformats.org/officeDocument/2006/math">
                    <m:rad>
                      <m:radPr>
                        <m:degHide m:val="on"/>
                        <m:ctrlPr>
                          <a:rPr lang="es-PE" sz="1900" i="1">
                            <a:latin typeface="Cambria Math" panose="02040503050406030204" pitchFamily="18" charset="0"/>
                            <a:cs typeface="Arial" panose="020B0604020202020204" pitchFamily="34" charset="0"/>
                          </a:rPr>
                        </m:ctrlPr>
                      </m:radPr>
                      <m:deg/>
                      <m:e>
                        <m:r>
                          <a:rPr lang="es-PE" sz="1900" i="1">
                            <a:latin typeface="Cambria Math" panose="02040503050406030204" pitchFamily="18" charset="0"/>
                            <a:cs typeface="Arial" panose="020B0604020202020204" pitchFamily="34" charset="0"/>
                          </a:rPr>
                          <m:t>𝑛</m:t>
                        </m:r>
                      </m:e>
                    </m:rad>
                  </m:oMath>
                </a14:m>
                <a:r>
                  <a:rPr lang="es-PE" sz="1900" dirty="0">
                    <a:latin typeface="Arial" panose="020B0604020202020204" pitchFamily="34" charset="0"/>
                    <a:cs typeface="Arial" panose="020B0604020202020204" pitchFamily="34" charset="0"/>
                  </a:rPr>
                  <a:t>                               </a:t>
                </a:r>
                <a14:m>
                  <m:oMath xmlns:m="http://schemas.openxmlformats.org/officeDocument/2006/math">
                    <m:rad>
                      <m:radPr>
                        <m:degHide m:val="on"/>
                        <m:ctrlPr>
                          <a:rPr lang="es-PE" sz="1900" i="1">
                            <a:latin typeface="Cambria Math" panose="02040503050406030204" pitchFamily="18" charset="0"/>
                            <a:cs typeface="Arial" panose="020B0604020202020204" pitchFamily="34" charset="0"/>
                          </a:rPr>
                        </m:ctrlPr>
                      </m:radPr>
                      <m:deg/>
                      <m:e>
                        <m:r>
                          <a:rPr lang="es-PE" sz="1900" i="1">
                            <a:latin typeface="Cambria Math" panose="02040503050406030204" pitchFamily="18" charset="0"/>
                            <a:cs typeface="Arial" panose="020B0604020202020204" pitchFamily="34" charset="0"/>
                          </a:rPr>
                          <m:t>𝑛</m:t>
                        </m:r>
                      </m:e>
                    </m:rad>
                  </m:oMath>
                </a14:m>
                <a:endParaRPr lang="es-PE" sz="1900" dirty="0"/>
              </a:p>
              <a:p>
                <a:pPr marL="0" indent="0" algn="just">
                  <a:buNone/>
                </a:pPr>
                <a:r>
                  <a:rPr lang="es-PE" sz="1900" b="1" dirty="0">
                    <a:latin typeface="Arial" panose="020B0604020202020204" pitchFamily="34" charset="0"/>
                    <a:cs typeface="Arial" panose="020B0604020202020204" pitchFamily="34" charset="0"/>
                  </a:rPr>
                  <a:t>Nota: </a:t>
                </a:r>
                <a:r>
                  <a:rPr lang="es-PE" sz="1900" dirty="0">
                    <a:latin typeface="Arial" panose="020B0604020202020204" pitchFamily="34" charset="0"/>
                    <a:cs typeface="Arial" panose="020B0604020202020204" pitchFamily="34" charset="0"/>
                  </a:rPr>
                  <a:t>Si el muestreo es sin reemplazo y la población es finita de tamaño N, con una </a:t>
                </a:r>
                <a:r>
                  <a:rPr lang="el-GR" sz="1900" b="1" dirty="0">
                    <a:latin typeface="Arial" panose="020B0604020202020204" pitchFamily="34" charset="0"/>
                    <a:cs typeface="Arial" panose="020B0604020202020204" pitchFamily="34" charset="0"/>
                  </a:rPr>
                  <a:t>σ</a:t>
                </a:r>
                <a:r>
                  <a:rPr lang="es-PE" sz="1900" b="1" baseline="30000" dirty="0">
                    <a:latin typeface="Arial" panose="020B0604020202020204" pitchFamily="34" charset="0"/>
                    <a:cs typeface="Arial" panose="020B0604020202020204" pitchFamily="34" charset="0"/>
                  </a:rPr>
                  <a:t>2</a:t>
                </a:r>
                <a:r>
                  <a:rPr lang="es-PE" sz="1900" b="1" dirty="0">
                    <a:latin typeface="Arial" panose="020B0604020202020204" pitchFamily="34" charset="0"/>
                    <a:cs typeface="Arial" panose="020B0604020202020204" pitchFamily="34" charset="0"/>
                  </a:rPr>
                  <a:t> </a:t>
                </a:r>
                <a:r>
                  <a:rPr lang="es-PE" sz="1900" dirty="0">
                    <a:latin typeface="Arial" panose="020B0604020202020204" pitchFamily="34" charset="0"/>
                    <a:cs typeface="Arial" panose="020B0604020202020204" pitchFamily="34" charset="0"/>
                  </a:rPr>
                  <a:t>no conocida, para una muestra aleatoria de tamaño “n”, entonces el intervalo de confianza para la media </a:t>
                </a:r>
                <a:r>
                  <a:rPr lang="el-GR" sz="1900" dirty="0">
                    <a:latin typeface="Arial" panose="020B0604020202020204" pitchFamily="34" charset="0"/>
                    <a:cs typeface="Arial" panose="020B0604020202020204" pitchFamily="34" charset="0"/>
                  </a:rPr>
                  <a:t>μ</a:t>
                </a:r>
                <a:r>
                  <a:rPr lang="es-PE" sz="1900" dirty="0">
                    <a:latin typeface="Arial" panose="020B0604020202020204" pitchFamily="34" charset="0"/>
                    <a:cs typeface="Arial" panose="020B0604020202020204" pitchFamily="34" charset="0"/>
                  </a:rPr>
                  <a:t> es:</a:t>
                </a:r>
              </a:p>
              <a:p>
                <a:pPr marL="0" indent="0" algn="just">
                  <a:buNone/>
                </a:pPr>
                <a:r>
                  <a:rPr lang="es-PE" sz="1900" dirty="0">
                    <a:latin typeface="Arial" panose="020B0604020202020204" pitchFamily="34" charset="0"/>
                    <a:cs typeface="Arial" panose="020B0604020202020204" pitchFamily="34" charset="0"/>
                  </a:rPr>
                  <a:t>[</a:t>
                </a:r>
                <a14:m>
                  <m:oMath xmlns:m="http://schemas.openxmlformats.org/officeDocument/2006/math">
                    <m:acc>
                      <m:accPr>
                        <m:chr m:val="̅"/>
                        <m:ctrlPr>
                          <a:rPr lang="es-PE" sz="1900" i="1">
                            <a:latin typeface="Cambria Math" panose="02040503050406030204" pitchFamily="18" charset="0"/>
                            <a:cs typeface="Arial" panose="020B0604020202020204" pitchFamily="34" charset="0"/>
                          </a:rPr>
                        </m:ctrlPr>
                      </m:accPr>
                      <m:e>
                        <m:r>
                          <a:rPr lang="es-PE" sz="1900" i="1">
                            <a:latin typeface="Cambria Math" panose="02040503050406030204" pitchFamily="18" charset="0"/>
                            <a:cs typeface="Arial" panose="020B0604020202020204" pitchFamily="34" charset="0"/>
                          </a:rPr>
                          <m:t> </m:t>
                        </m:r>
                        <m:r>
                          <a:rPr lang="es-PE" sz="1900" i="1">
                            <a:latin typeface="Cambria Math" panose="02040503050406030204" pitchFamily="18" charset="0"/>
                            <a:cs typeface="Arial" panose="020B0604020202020204" pitchFamily="34" charset="0"/>
                          </a:rPr>
                          <m:t>𝑋</m:t>
                        </m:r>
                      </m:e>
                    </m:acc>
                  </m:oMath>
                </a14:m>
                <a:r>
                  <a:rPr lang="es-PE" sz="1900" baseline="-25000" dirty="0">
                    <a:latin typeface="Arial" panose="020B0604020202020204" pitchFamily="34" charset="0"/>
                    <a:cs typeface="Arial" panose="020B0604020202020204" pitchFamily="34" charset="0"/>
                  </a:rPr>
                  <a:t> </a:t>
                </a:r>
                <a:r>
                  <a:rPr lang="es-PE" sz="1900" dirty="0">
                    <a:latin typeface="Arial" panose="020B0604020202020204" pitchFamily="34" charset="0"/>
                    <a:cs typeface="Arial" panose="020B0604020202020204" pitchFamily="34" charset="0"/>
                  </a:rPr>
                  <a:t> - z</a:t>
                </a:r>
                <a:r>
                  <a:rPr lang="es-PE" sz="1900" baseline="-25000" dirty="0">
                    <a:latin typeface="Arial" panose="020B0604020202020204" pitchFamily="34" charset="0"/>
                    <a:cs typeface="Arial" panose="020B0604020202020204" pitchFamily="34" charset="0"/>
                  </a:rPr>
                  <a:t>1-</a:t>
                </a:r>
                <a:r>
                  <a:rPr lang="el-GR" sz="1900" baseline="-25000" dirty="0">
                    <a:latin typeface="Arial" panose="020B0604020202020204" pitchFamily="34" charset="0"/>
                    <a:cs typeface="Arial" panose="020B0604020202020204" pitchFamily="34" charset="0"/>
                  </a:rPr>
                  <a:t>α</a:t>
                </a:r>
                <a:r>
                  <a:rPr lang="es-PE" sz="1900" baseline="-25000" dirty="0">
                    <a:latin typeface="Arial" panose="020B0604020202020204" pitchFamily="34" charset="0"/>
                    <a:cs typeface="Arial" panose="020B0604020202020204" pitchFamily="34" charset="0"/>
                  </a:rPr>
                  <a:t>/2 *  </a:t>
                </a:r>
                <a:r>
                  <a:rPr lang="es-PE" sz="1900" dirty="0">
                    <a:latin typeface="Arial" panose="020B0604020202020204" pitchFamily="34" charset="0"/>
                    <a:cs typeface="Arial" panose="020B0604020202020204" pitchFamily="34" charset="0"/>
                  </a:rPr>
                  <a:t>S   * </a:t>
                </a:r>
                <a14:m>
                  <m:oMath xmlns:m="http://schemas.openxmlformats.org/officeDocument/2006/math">
                    <m:rad>
                      <m:radPr>
                        <m:degHide m:val="on"/>
                        <m:ctrlPr>
                          <a:rPr lang="es-PE" sz="1900" i="1">
                            <a:latin typeface="Cambria Math" panose="02040503050406030204" pitchFamily="18" charset="0"/>
                            <a:cs typeface="Arial" panose="020B0604020202020204" pitchFamily="34" charset="0"/>
                          </a:rPr>
                        </m:ctrlPr>
                      </m:radPr>
                      <m:deg/>
                      <m:e>
                        <m:eqArr>
                          <m:eqArrPr>
                            <m:ctrlPr>
                              <a:rPr lang="es-PE" sz="1900" i="1">
                                <a:latin typeface="Cambria Math" panose="02040503050406030204" pitchFamily="18" charset="0"/>
                                <a:cs typeface="Arial" panose="020B0604020202020204" pitchFamily="34" charset="0"/>
                              </a:rPr>
                            </m:ctrlPr>
                          </m:eqArrPr>
                          <m:e>
                            <m:r>
                              <a:rPr lang="es-PE" sz="1900" i="1">
                                <a:latin typeface="Cambria Math" panose="02040503050406030204" pitchFamily="18" charset="0"/>
                                <a:cs typeface="Arial" panose="020B0604020202020204" pitchFamily="34" charset="0"/>
                              </a:rPr>
                              <m:t>𝑁</m:t>
                            </m:r>
                            <m:r>
                              <a:rPr lang="es-PE" sz="1900" i="1">
                                <a:latin typeface="Cambria Math" panose="02040503050406030204" pitchFamily="18" charset="0"/>
                                <a:cs typeface="Arial" panose="020B0604020202020204" pitchFamily="34" charset="0"/>
                              </a:rPr>
                              <m:t>−</m:t>
                            </m:r>
                            <m:r>
                              <a:rPr lang="es-PE" sz="1900" i="1">
                                <a:latin typeface="Cambria Math" panose="02040503050406030204" pitchFamily="18" charset="0"/>
                                <a:cs typeface="Arial" panose="020B0604020202020204" pitchFamily="34" charset="0"/>
                              </a:rPr>
                              <m:t>𝑛</m:t>
                            </m:r>
                          </m:e>
                          <m:e>
                            <m:r>
                              <a:rPr lang="es-PE" sz="1900" i="1">
                                <a:latin typeface="Cambria Math" panose="02040503050406030204" pitchFamily="18" charset="0"/>
                                <a:cs typeface="Arial" panose="020B0604020202020204" pitchFamily="34" charset="0"/>
                              </a:rPr>
                              <m:t>𝑁</m:t>
                            </m:r>
                            <m:r>
                              <a:rPr lang="es-PE" sz="1900" i="1">
                                <a:latin typeface="Cambria Math" panose="02040503050406030204" pitchFamily="18" charset="0"/>
                                <a:cs typeface="Arial" panose="020B0604020202020204" pitchFamily="34" charset="0"/>
                              </a:rPr>
                              <m:t>−1</m:t>
                            </m:r>
                          </m:e>
                        </m:eqArr>
                      </m:e>
                    </m:rad>
                  </m:oMath>
                </a14:m>
                <a:r>
                  <a:rPr lang="es-PE" sz="1900" dirty="0">
                    <a:latin typeface="Arial" panose="020B0604020202020204" pitchFamily="34" charset="0"/>
                    <a:cs typeface="Arial" panose="020B0604020202020204" pitchFamily="34" charset="0"/>
                  </a:rPr>
                  <a:t> ≤ </a:t>
                </a:r>
                <a:r>
                  <a:rPr lang="el-GR" sz="1900" dirty="0">
                    <a:latin typeface="Arial" panose="020B0604020202020204" pitchFamily="34" charset="0"/>
                    <a:cs typeface="Arial" panose="020B0604020202020204" pitchFamily="34" charset="0"/>
                  </a:rPr>
                  <a:t>μ</a:t>
                </a:r>
                <a:r>
                  <a:rPr lang="es-PE" sz="1900" dirty="0">
                    <a:latin typeface="Arial" panose="020B0604020202020204" pitchFamily="34" charset="0"/>
                    <a:cs typeface="Arial" panose="020B0604020202020204" pitchFamily="34" charset="0"/>
                  </a:rPr>
                  <a:t>  ≤ </a:t>
                </a:r>
                <a14:m>
                  <m:oMath xmlns:m="http://schemas.openxmlformats.org/officeDocument/2006/math">
                    <m:acc>
                      <m:accPr>
                        <m:chr m:val="̅"/>
                        <m:ctrlPr>
                          <a:rPr lang="es-PE" sz="1900" i="1">
                            <a:latin typeface="Cambria Math" panose="02040503050406030204" pitchFamily="18" charset="0"/>
                            <a:cs typeface="Arial" panose="020B0604020202020204" pitchFamily="34" charset="0"/>
                          </a:rPr>
                        </m:ctrlPr>
                      </m:accPr>
                      <m:e>
                        <m:r>
                          <a:rPr lang="es-PE" sz="1900" i="1">
                            <a:latin typeface="Cambria Math" panose="02040503050406030204" pitchFamily="18" charset="0"/>
                            <a:cs typeface="Arial" panose="020B0604020202020204" pitchFamily="34" charset="0"/>
                          </a:rPr>
                          <m:t> </m:t>
                        </m:r>
                        <m:r>
                          <a:rPr lang="es-PE" sz="1900" i="1">
                            <a:latin typeface="Cambria Math" panose="02040503050406030204" pitchFamily="18" charset="0"/>
                            <a:cs typeface="Arial" panose="020B0604020202020204" pitchFamily="34" charset="0"/>
                          </a:rPr>
                          <m:t>𝑋</m:t>
                        </m:r>
                      </m:e>
                    </m:acc>
                  </m:oMath>
                </a14:m>
                <a:r>
                  <a:rPr lang="es-PE" sz="1900" dirty="0">
                    <a:latin typeface="Arial" panose="020B0604020202020204" pitchFamily="34" charset="0"/>
                    <a:cs typeface="Arial" panose="020B0604020202020204" pitchFamily="34" charset="0"/>
                  </a:rPr>
                  <a:t> + z</a:t>
                </a:r>
                <a:r>
                  <a:rPr lang="es-PE" sz="1900" baseline="-25000" dirty="0">
                    <a:latin typeface="Arial" panose="020B0604020202020204" pitchFamily="34" charset="0"/>
                    <a:cs typeface="Arial" panose="020B0604020202020204" pitchFamily="34" charset="0"/>
                  </a:rPr>
                  <a:t> 1-</a:t>
                </a:r>
                <a:r>
                  <a:rPr lang="el-GR" sz="1900" baseline="-25000" dirty="0">
                    <a:latin typeface="Arial" panose="020B0604020202020204" pitchFamily="34" charset="0"/>
                    <a:cs typeface="Arial" panose="020B0604020202020204" pitchFamily="34" charset="0"/>
                  </a:rPr>
                  <a:t>α</a:t>
                </a:r>
                <a:r>
                  <a:rPr lang="es-PE" sz="1900" baseline="-25000" dirty="0">
                    <a:latin typeface="Arial" panose="020B0604020202020204" pitchFamily="34" charset="0"/>
                    <a:cs typeface="Arial" panose="020B0604020202020204" pitchFamily="34" charset="0"/>
                  </a:rPr>
                  <a:t>/2 *   </a:t>
                </a:r>
                <a:r>
                  <a:rPr lang="es-PE" sz="1900" dirty="0">
                    <a:latin typeface="Arial" panose="020B0604020202020204" pitchFamily="34" charset="0"/>
                    <a:cs typeface="Arial" panose="020B0604020202020204" pitchFamily="34" charset="0"/>
                  </a:rPr>
                  <a:t>S * </a:t>
                </a:r>
                <a14:m>
                  <m:oMath xmlns:m="http://schemas.openxmlformats.org/officeDocument/2006/math">
                    <m:rad>
                      <m:radPr>
                        <m:degHide m:val="on"/>
                        <m:ctrlPr>
                          <a:rPr lang="es-PE" sz="1900" i="1">
                            <a:latin typeface="Cambria Math" panose="02040503050406030204" pitchFamily="18" charset="0"/>
                            <a:cs typeface="Arial" panose="020B0604020202020204" pitchFamily="34" charset="0"/>
                          </a:rPr>
                        </m:ctrlPr>
                      </m:radPr>
                      <m:deg/>
                      <m:e>
                        <m:eqArr>
                          <m:eqArrPr>
                            <m:ctrlPr>
                              <a:rPr lang="es-PE" sz="1900" i="1">
                                <a:latin typeface="Cambria Math" panose="02040503050406030204" pitchFamily="18" charset="0"/>
                                <a:cs typeface="Arial" panose="020B0604020202020204" pitchFamily="34" charset="0"/>
                              </a:rPr>
                            </m:ctrlPr>
                          </m:eqArrPr>
                          <m:e>
                            <m:r>
                              <a:rPr lang="es-PE" sz="1900" i="1">
                                <a:latin typeface="Cambria Math" panose="02040503050406030204" pitchFamily="18" charset="0"/>
                                <a:cs typeface="Arial" panose="020B0604020202020204" pitchFamily="34" charset="0"/>
                              </a:rPr>
                              <m:t>𝑁</m:t>
                            </m:r>
                            <m:r>
                              <a:rPr lang="es-PE" sz="1900" i="1">
                                <a:latin typeface="Cambria Math" panose="02040503050406030204" pitchFamily="18" charset="0"/>
                                <a:cs typeface="Arial" panose="020B0604020202020204" pitchFamily="34" charset="0"/>
                              </a:rPr>
                              <m:t>−</m:t>
                            </m:r>
                            <m:r>
                              <a:rPr lang="es-PE" sz="1900" i="1">
                                <a:latin typeface="Cambria Math" panose="02040503050406030204" pitchFamily="18" charset="0"/>
                                <a:cs typeface="Arial" panose="020B0604020202020204" pitchFamily="34" charset="0"/>
                              </a:rPr>
                              <m:t>𝑛</m:t>
                            </m:r>
                          </m:e>
                          <m:e>
                            <m:r>
                              <a:rPr lang="es-PE" sz="1900" i="1">
                                <a:latin typeface="Cambria Math" panose="02040503050406030204" pitchFamily="18" charset="0"/>
                                <a:cs typeface="Arial" panose="020B0604020202020204" pitchFamily="34" charset="0"/>
                              </a:rPr>
                              <m:t>𝑁</m:t>
                            </m:r>
                            <m:r>
                              <a:rPr lang="es-PE" sz="1900" i="1">
                                <a:latin typeface="Cambria Math" panose="02040503050406030204" pitchFamily="18" charset="0"/>
                                <a:cs typeface="Arial" panose="020B0604020202020204" pitchFamily="34" charset="0"/>
                              </a:rPr>
                              <m:t>−1</m:t>
                            </m:r>
                          </m:e>
                        </m:eqArr>
                      </m:e>
                    </m:rad>
                  </m:oMath>
                </a14:m>
                <a:r>
                  <a:rPr lang="es-PE" sz="1900" dirty="0">
                    <a:latin typeface="Arial" panose="020B0604020202020204" pitchFamily="34" charset="0"/>
                    <a:cs typeface="Arial" panose="020B0604020202020204" pitchFamily="34" charset="0"/>
                  </a:rPr>
                  <a:t>  ] = 1- </a:t>
                </a:r>
                <a:r>
                  <a:rPr lang="el-GR" sz="1900" dirty="0">
                    <a:latin typeface="Arial" panose="020B0604020202020204" pitchFamily="34" charset="0"/>
                    <a:cs typeface="Arial" panose="020B0604020202020204" pitchFamily="34" charset="0"/>
                  </a:rPr>
                  <a:t>α</a:t>
                </a:r>
                <a:endParaRPr lang="es-PE" sz="1900" dirty="0">
                  <a:latin typeface="Arial" panose="020B0604020202020204" pitchFamily="34" charset="0"/>
                  <a:cs typeface="Arial" panose="020B0604020202020204" pitchFamily="34" charset="0"/>
                </a:endParaRPr>
              </a:p>
              <a:p>
                <a:pPr marL="0" indent="0" algn="just">
                  <a:buNone/>
                </a:pPr>
                <a:r>
                  <a:rPr lang="es-PE" sz="1900" dirty="0">
                    <a:latin typeface="Arial" panose="020B0604020202020204" pitchFamily="34" charset="0"/>
                    <a:cs typeface="Arial" panose="020B0604020202020204" pitchFamily="34" charset="0"/>
                  </a:rPr>
                  <a:t>                 </a:t>
                </a:r>
                <a14:m>
                  <m:oMath xmlns:m="http://schemas.openxmlformats.org/officeDocument/2006/math">
                    <m:rad>
                      <m:radPr>
                        <m:degHide m:val="on"/>
                        <m:ctrlPr>
                          <a:rPr lang="es-PE" sz="1900" i="1">
                            <a:latin typeface="Cambria Math" panose="02040503050406030204" pitchFamily="18" charset="0"/>
                            <a:cs typeface="Arial" panose="020B0604020202020204" pitchFamily="34" charset="0"/>
                          </a:rPr>
                        </m:ctrlPr>
                      </m:radPr>
                      <m:deg/>
                      <m:e>
                        <m:r>
                          <a:rPr lang="es-PE" sz="1900" i="1">
                            <a:latin typeface="Cambria Math" panose="02040503050406030204" pitchFamily="18" charset="0"/>
                            <a:cs typeface="Arial" panose="020B0604020202020204" pitchFamily="34" charset="0"/>
                          </a:rPr>
                          <m:t>𝑛</m:t>
                        </m:r>
                      </m:e>
                    </m:rad>
                  </m:oMath>
                </a14:m>
                <a:r>
                  <a:rPr lang="es-PE" sz="1900" dirty="0">
                    <a:latin typeface="Arial" panose="020B0604020202020204" pitchFamily="34" charset="0"/>
                    <a:cs typeface="Arial" panose="020B0604020202020204" pitchFamily="34" charset="0"/>
                  </a:rPr>
                  <a:t>                                             </a:t>
                </a:r>
                <a14:m>
                  <m:oMath xmlns:m="http://schemas.openxmlformats.org/officeDocument/2006/math">
                    <m:rad>
                      <m:radPr>
                        <m:degHide m:val="on"/>
                        <m:ctrlPr>
                          <a:rPr lang="es-PE" sz="1900" i="1">
                            <a:latin typeface="Cambria Math" panose="02040503050406030204" pitchFamily="18" charset="0"/>
                            <a:cs typeface="Arial" panose="020B0604020202020204" pitchFamily="34" charset="0"/>
                          </a:rPr>
                        </m:ctrlPr>
                      </m:radPr>
                      <m:deg/>
                      <m:e>
                        <m:r>
                          <a:rPr lang="es-PE" sz="1900" i="1">
                            <a:latin typeface="Cambria Math" panose="02040503050406030204" pitchFamily="18" charset="0"/>
                            <a:cs typeface="Arial" panose="020B0604020202020204" pitchFamily="34" charset="0"/>
                          </a:rPr>
                          <m:t>𝑛</m:t>
                        </m:r>
                      </m:e>
                    </m:rad>
                  </m:oMath>
                </a14:m>
                <a:endParaRPr lang="es-PE" sz="1900" dirty="0">
                  <a:latin typeface="Arial" panose="020B0604020202020204" pitchFamily="34" charset="0"/>
                  <a:cs typeface="Arial" panose="020B0604020202020204" pitchFamily="34" charset="0"/>
                </a:endParaRPr>
              </a:p>
              <a:p>
                <a:pPr marL="0" indent="0" algn="just">
                  <a:buNone/>
                </a:pPr>
                <a:endParaRPr lang="es-PE" sz="1900" dirty="0"/>
              </a:p>
              <a:p>
                <a:pPr marL="0" indent="0" algn="just">
                  <a:buNone/>
                </a:pPr>
                <a:endParaRPr lang="es-PE" sz="1900" dirty="0">
                  <a:latin typeface="Arial" panose="020B0604020202020204" pitchFamily="34" charset="0"/>
                  <a:cs typeface="Arial" panose="020B0604020202020204" pitchFamily="34" charset="0"/>
                </a:endParaRPr>
              </a:p>
              <a:p>
                <a:pPr marL="0" indent="0" algn="just">
                  <a:buNone/>
                </a:pPr>
                <a:endParaRPr lang="es-PE" sz="1900" dirty="0">
                  <a:latin typeface="Arial" panose="020B0604020202020204" pitchFamily="34" charset="0"/>
                  <a:cs typeface="Arial" panose="020B0604020202020204" pitchFamily="34" charset="0"/>
                </a:endParaRPr>
              </a:p>
            </p:txBody>
          </p:sp>
        </mc:Choice>
        <mc:Fallback xmlns="">
          <p:sp>
            <p:nvSpPr>
              <p:cNvPr id="3" name="Marcador de contenido 2"/>
              <p:cNvSpPr>
                <a:spLocks noGrp="1" noRot="1" noChangeAspect="1" noMove="1" noResize="1" noEditPoints="1" noAdjustHandles="1" noChangeArrowheads="1" noChangeShapeType="1" noTextEdit="1"/>
              </p:cNvSpPr>
              <p:nvPr>
                <p:ph idx="1"/>
              </p:nvPr>
            </p:nvSpPr>
            <p:spPr>
              <a:xfrm>
                <a:off x="381000" y="381000"/>
                <a:ext cx="8382000" cy="6477000"/>
              </a:xfrm>
              <a:blipFill>
                <a:blip r:embed="rId2"/>
                <a:stretch>
                  <a:fillRect l="-727" t="-94" r="-655"/>
                </a:stretch>
              </a:blipFill>
            </p:spPr>
            <p:txBody>
              <a:bodyPr/>
              <a:lstStyle/>
              <a:p>
                <a:r>
                  <a:rPr lang="es-PE">
                    <a:noFill/>
                  </a:rPr>
                  <a:t> </a:t>
                </a:r>
              </a:p>
            </p:txBody>
          </p:sp>
        </mc:Fallback>
      </mc:AlternateContent>
      <p:cxnSp>
        <p:nvCxnSpPr>
          <p:cNvPr id="5" name="Conector recto 4"/>
          <p:cNvCxnSpPr/>
          <p:nvPr/>
        </p:nvCxnSpPr>
        <p:spPr>
          <a:xfrm>
            <a:off x="1614487" y="2948709"/>
            <a:ext cx="381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Conector recto 5"/>
          <p:cNvCxnSpPr/>
          <p:nvPr/>
        </p:nvCxnSpPr>
        <p:spPr>
          <a:xfrm>
            <a:off x="3962400" y="2971800"/>
            <a:ext cx="381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Conector recto 6"/>
          <p:cNvCxnSpPr/>
          <p:nvPr/>
        </p:nvCxnSpPr>
        <p:spPr>
          <a:xfrm>
            <a:off x="1524000" y="5410200"/>
            <a:ext cx="381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Conector recto 7"/>
          <p:cNvCxnSpPr/>
          <p:nvPr/>
        </p:nvCxnSpPr>
        <p:spPr>
          <a:xfrm>
            <a:off x="4876800" y="5387109"/>
            <a:ext cx="381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Conector recto 9"/>
          <p:cNvCxnSpPr/>
          <p:nvPr/>
        </p:nvCxnSpPr>
        <p:spPr>
          <a:xfrm>
            <a:off x="2438400" y="5105400"/>
            <a:ext cx="6096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Conector recto 10"/>
          <p:cNvCxnSpPr/>
          <p:nvPr/>
        </p:nvCxnSpPr>
        <p:spPr>
          <a:xfrm>
            <a:off x="5638800" y="5093855"/>
            <a:ext cx="609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843920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Marcador de contenido 5">
            <a:extLst>
              <a:ext uri="{FF2B5EF4-FFF2-40B4-BE49-F238E27FC236}">
                <a16:creationId xmlns:a16="http://schemas.microsoft.com/office/drawing/2014/main" id="{552BFEC4-1063-4CD6-AD5A-4586AA24FAEE}"/>
              </a:ext>
            </a:extLst>
          </p:cNvPr>
          <p:cNvPicPr>
            <a:picLocks noGrp="1" noChangeAspect="1"/>
          </p:cNvPicPr>
          <p:nvPr>
            <p:ph idx="1"/>
          </p:nvPr>
        </p:nvPicPr>
        <p:blipFill>
          <a:blip r:embed="rId2"/>
          <a:stretch>
            <a:fillRect/>
          </a:stretch>
        </p:blipFill>
        <p:spPr>
          <a:xfrm>
            <a:off x="200492" y="3276600"/>
            <a:ext cx="7888740" cy="2133600"/>
          </a:xfrm>
        </p:spPr>
      </p:pic>
      <p:pic>
        <p:nvPicPr>
          <p:cNvPr id="4" name="Imagen 3">
            <a:extLst>
              <a:ext uri="{FF2B5EF4-FFF2-40B4-BE49-F238E27FC236}">
                <a16:creationId xmlns:a16="http://schemas.microsoft.com/office/drawing/2014/main" id="{DFF6E3CC-F7BB-4F50-8BB8-2B2FBEBD209C}"/>
              </a:ext>
            </a:extLst>
          </p:cNvPr>
          <p:cNvPicPr>
            <a:picLocks noChangeAspect="1"/>
          </p:cNvPicPr>
          <p:nvPr/>
        </p:nvPicPr>
        <p:blipFill>
          <a:blip r:embed="rId3">
            <a:lum bright="-20000" contrast="40000"/>
          </a:blip>
          <a:stretch>
            <a:fillRect/>
          </a:stretch>
        </p:blipFill>
        <p:spPr>
          <a:xfrm>
            <a:off x="200492" y="217992"/>
            <a:ext cx="8743013" cy="2133600"/>
          </a:xfrm>
          <a:prstGeom prst="rect">
            <a:avLst/>
          </a:prstGeom>
        </p:spPr>
      </p:pic>
      <p:sp>
        <p:nvSpPr>
          <p:cNvPr id="7" name="Marcador de contenido 2">
            <a:extLst>
              <a:ext uri="{FF2B5EF4-FFF2-40B4-BE49-F238E27FC236}">
                <a16:creationId xmlns:a16="http://schemas.microsoft.com/office/drawing/2014/main" id="{8E074338-843B-4AE1-BC21-8F7EFA78E372}"/>
              </a:ext>
            </a:extLst>
          </p:cNvPr>
          <p:cNvSpPr txBox="1">
            <a:spLocks/>
          </p:cNvSpPr>
          <p:nvPr/>
        </p:nvSpPr>
        <p:spPr>
          <a:xfrm>
            <a:off x="94343" y="2362200"/>
            <a:ext cx="6571343" cy="457200"/>
          </a:xfrm>
          <a:prstGeom prst="rect">
            <a:avLst/>
          </a:prstGeom>
        </p:spPr>
        <p:txBody>
          <a:bodyPr vert="horz" lIns="91440" tIns="45720" rIns="91440" bIns="45720" rtlCol="0" anchor="t">
            <a:normAutofit/>
          </a:bodyPr>
          <a:lstStyle>
            <a:lvl1pPr marL="228600" indent="-228600" algn="l" defTabSz="685800" rtl="0" eaLnBrk="1" latinLnBrk="0" hangingPunct="1">
              <a:lnSpc>
                <a:spcPct val="120000"/>
              </a:lnSpc>
              <a:spcBef>
                <a:spcPts val="1000"/>
              </a:spcBef>
              <a:buClr>
                <a:schemeClr val="accent1"/>
              </a:buClr>
              <a:buSzPct val="100000"/>
              <a:buFont typeface="Arial" panose="020B0604020202020204" pitchFamily="34" charset="0"/>
              <a:buChar char="•"/>
              <a:defRPr sz="2000" kern="1200" cap="none">
                <a:solidFill>
                  <a:schemeClr val="tx1"/>
                </a:solidFill>
                <a:effectLst/>
                <a:latin typeface="+mn-lt"/>
                <a:ea typeface="+mn-ea"/>
                <a:cs typeface="+mn-cs"/>
              </a:defRPr>
            </a:lvl1pPr>
            <a:lvl2pPr marL="6858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baseline="0">
                <a:solidFill>
                  <a:schemeClr val="tx1"/>
                </a:solidFill>
                <a:effectLst/>
                <a:latin typeface="+mn-lt"/>
                <a:ea typeface="+mn-ea"/>
                <a:cs typeface="+mn-cs"/>
              </a:defRPr>
            </a:lvl2pPr>
            <a:lvl3pPr marL="11430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a:solidFill>
                  <a:schemeClr val="tx1"/>
                </a:solidFill>
                <a:effectLst/>
                <a:latin typeface="+mn-lt"/>
                <a:ea typeface="+mn-ea"/>
                <a:cs typeface="+mn-cs"/>
              </a:defRPr>
            </a:lvl3pPr>
            <a:lvl4pPr marL="16002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200" kern="1200" cap="none">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marL="0" indent="0">
              <a:buFont typeface="Arial" panose="020B0604020202020204" pitchFamily="34" charset="0"/>
              <a:buNone/>
            </a:pPr>
            <a:r>
              <a:rPr lang="es-ES" dirty="0">
                <a:solidFill>
                  <a:srgbClr val="FF0000"/>
                </a:solidFill>
              </a:rPr>
              <a:t>SOL</a:t>
            </a:r>
            <a:endParaRPr lang="es-PE" dirty="0">
              <a:solidFill>
                <a:srgbClr val="FF0000"/>
              </a:solidFill>
            </a:endParaRPr>
          </a:p>
        </p:txBody>
      </p:sp>
      <p:pic>
        <p:nvPicPr>
          <p:cNvPr id="9" name="Imagen 8">
            <a:extLst>
              <a:ext uri="{FF2B5EF4-FFF2-40B4-BE49-F238E27FC236}">
                <a16:creationId xmlns:a16="http://schemas.microsoft.com/office/drawing/2014/main" id="{6889FB0E-B70D-4AA5-9706-4CD4C470BFEE}"/>
              </a:ext>
            </a:extLst>
          </p:cNvPr>
          <p:cNvPicPr>
            <a:picLocks noChangeAspect="1"/>
          </p:cNvPicPr>
          <p:nvPr/>
        </p:nvPicPr>
        <p:blipFill>
          <a:blip r:embed="rId4"/>
          <a:stretch>
            <a:fillRect/>
          </a:stretch>
        </p:blipFill>
        <p:spPr>
          <a:xfrm>
            <a:off x="4572000" y="2819336"/>
            <a:ext cx="2810214" cy="457264"/>
          </a:xfrm>
          <a:prstGeom prst="rect">
            <a:avLst/>
          </a:prstGeom>
        </p:spPr>
      </p:pic>
    </p:spTree>
    <p:extLst>
      <p:ext uri="{BB962C8B-B14F-4D97-AF65-F5344CB8AC3E}">
        <p14:creationId xmlns:p14="http://schemas.microsoft.com/office/powerpoint/2010/main" val="24790212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p:cNvSpPr>
                <a:spLocks noGrp="1"/>
              </p:cNvSpPr>
              <p:nvPr>
                <p:ph idx="1"/>
              </p:nvPr>
            </p:nvSpPr>
            <p:spPr>
              <a:xfrm>
                <a:off x="381000" y="304800"/>
                <a:ext cx="8382000" cy="6096000"/>
              </a:xfrm>
            </p:spPr>
            <p:txBody>
              <a:bodyPr>
                <a:normAutofit/>
              </a:bodyPr>
              <a:lstStyle/>
              <a:p>
                <a:pPr marL="0" indent="0" algn="just">
                  <a:buNone/>
                </a:pPr>
                <a:r>
                  <a:rPr lang="es-PE" b="1" dirty="0">
                    <a:latin typeface="Arial" panose="020B0604020202020204" pitchFamily="34" charset="0"/>
                    <a:cs typeface="Arial" panose="020B0604020202020204" pitchFamily="34" charset="0"/>
                  </a:rPr>
                  <a:t>2.2. Si la población es normal: </a:t>
                </a:r>
                <a:r>
                  <a:rPr lang="es-PE" dirty="0">
                    <a:latin typeface="Arial" panose="020B0604020202020204" pitchFamily="34" charset="0"/>
                    <a:cs typeface="Arial" panose="020B0604020202020204" pitchFamily="34" charset="0"/>
                  </a:rPr>
                  <a:t>Y el tamaño de muestra es pequeña se utiliza la desviación estándar muestral “S”, y la distribución “t” </a:t>
                </a:r>
                <a:r>
                  <a:rPr lang="es-PE" dirty="0" err="1">
                    <a:latin typeface="Arial" panose="020B0604020202020204" pitchFamily="34" charset="0"/>
                    <a:cs typeface="Arial" panose="020B0604020202020204" pitchFamily="34" charset="0"/>
                  </a:rPr>
                  <a:t>Student</a:t>
                </a:r>
                <a:r>
                  <a:rPr lang="es-PE" dirty="0">
                    <a:latin typeface="Arial" panose="020B0604020202020204" pitchFamily="34" charset="0"/>
                    <a:cs typeface="Arial" panose="020B0604020202020204" pitchFamily="34" charset="0"/>
                  </a:rPr>
                  <a:t> con “n-1” grados de libertad; entonces el intervalo de confianza para la media </a:t>
                </a:r>
                <a:r>
                  <a:rPr lang="el-GR" dirty="0">
                    <a:latin typeface="Arial" panose="020B0604020202020204" pitchFamily="34" charset="0"/>
                    <a:cs typeface="Arial" panose="020B0604020202020204" pitchFamily="34" charset="0"/>
                  </a:rPr>
                  <a:t>μ</a:t>
                </a:r>
                <a:r>
                  <a:rPr lang="es-PE" dirty="0">
                    <a:latin typeface="Arial" panose="020B0604020202020204" pitchFamily="34" charset="0"/>
                    <a:cs typeface="Arial" panose="020B0604020202020204" pitchFamily="34" charset="0"/>
                  </a:rPr>
                  <a:t> es:</a:t>
                </a:r>
              </a:p>
              <a:p>
                <a:pPr marL="0" indent="0" algn="just">
                  <a:buNone/>
                </a:pPr>
                <a:r>
                  <a:rPr lang="es-PE" dirty="0">
                    <a:latin typeface="Arial" panose="020B0604020202020204" pitchFamily="34" charset="0"/>
                    <a:cs typeface="Arial" panose="020B0604020202020204" pitchFamily="34" charset="0"/>
                  </a:rPr>
                  <a:t>[</a:t>
                </a:r>
                <a14:m>
                  <m:oMath xmlns:m="http://schemas.openxmlformats.org/officeDocument/2006/math">
                    <m:acc>
                      <m:accPr>
                        <m:chr m:val="̅"/>
                        <m:ctrlPr>
                          <a:rPr lang="es-PE" i="1">
                            <a:latin typeface="Cambria Math" panose="02040503050406030204" pitchFamily="18" charset="0"/>
                            <a:cs typeface="Arial" panose="020B0604020202020204" pitchFamily="34" charset="0"/>
                          </a:rPr>
                        </m:ctrlPr>
                      </m:accPr>
                      <m:e>
                        <m:r>
                          <a:rPr lang="es-PE" i="1">
                            <a:latin typeface="Cambria Math" panose="02040503050406030204" pitchFamily="18" charset="0"/>
                            <a:cs typeface="Arial" panose="020B0604020202020204" pitchFamily="34" charset="0"/>
                          </a:rPr>
                          <m:t> </m:t>
                        </m:r>
                        <m:r>
                          <a:rPr lang="es-PE" i="1">
                            <a:latin typeface="Cambria Math" panose="02040503050406030204" pitchFamily="18" charset="0"/>
                            <a:cs typeface="Arial" panose="020B0604020202020204" pitchFamily="34" charset="0"/>
                          </a:rPr>
                          <m:t>𝑋</m:t>
                        </m:r>
                      </m:e>
                    </m:acc>
                  </m:oMath>
                </a14:m>
                <a:r>
                  <a:rPr lang="es-PE" baseline="-25000" dirty="0">
                    <a:latin typeface="Arial" panose="020B0604020202020204" pitchFamily="34" charset="0"/>
                    <a:cs typeface="Arial" panose="020B0604020202020204" pitchFamily="34" charset="0"/>
                  </a:rPr>
                  <a:t> </a:t>
                </a:r>
                <a:r>
                  <a:rPr lang="es-PE" dirty="0">
                    <a:latin typeface="Arial" panose="020B0604020202020204" pitchFamily="34" charset="0"/>
                    <a:cs typeface="Arial" panose="020B0604020202020204" pitchFamily="34" charset="0"/>
                  </a:rPr>
                  <a:t>- t</a:t>
                </a:r>
                <a:r>
                  <a:rPr lang="es-PE" baseline="-25000" dirty="0">
                    <a:latin typeface="Arial" panose="020B0604020202020204" pitchFamily="34" charset="0"/>
                    <a:cs typeface="Arial" panose="020B0604020202020204" pitchFamily="34" charset="0"/>
                  </a:rPr>
                  <a:t>1-</a:t>
                </a:r>
                <a:r>
                  <a:rPr lang="el-GR" baseline="-25000" dirty="0">
                    <a:latin typeface="Arial" panose="020B0604020202020204" pitchFamily="34" charset="0"/>
                    <a:cs typeface="Arial" panose="020B0604020202020204" pitchFamily="34" charset="0"/>
                  </a:rPr>
                  <a:t>α</a:t>
                </a:r>
                <a:r>
                  <a:rPr lang="es-PE" baseline="-25000" dirty="0">
                    <a:latin typeface="Arial" panose="020B0604020202020204" pitchFamily="34" charset="0"/>
                    <a:cs typeface="Arial" panose="020B0604020202020204" pitchFamily="34" charset="0"/>
                  </a:rPr>
                  <a:t>/2; n-1 </a:t>
                </a:r>
                <a:r>
                  <a:rPr lang="es-PE" dirty="0">
                    <a:latin typeface="Arial" panose="020B0604020202020204" pitchFamily="34" charset="0"/>
                    <a:cs typeface="Arial" panose="020B0604020202020204" pitchFamily="34" charset="0"/>
                  </a:rPr>
                  <a:t> * </a:t>
                </a:r>
                <a:r>
                  <a:rPr lang="es-PE" baseline="-25000" dirty="0">
                    <a:latin typeface="Arial" panose="020B0604020202020204" pitchFamily="34" charset="0"/>
                    <a:cs typeface="Arial" panose="020B0604020202020204" pitchFamily="34" charset="0"/>
                  </a:rPr>
                  <a:t> </a:t>
                </a:r>
                <a:r>
                  <a:rPr lang="es-PE" dirty="0">
                    <a:latin typeface="Arial" panose="020B0604020202020204" pitchFamily="34" charset="0"/>
                    <a:cs typeface="Arial" panose="020B0604020202020204" pitchFamily="34" charset="0"/>
                  </a:rPr>
                  <a:t>S   ≤ </a:t>
                </a:r>
                <a:r>
                  <a:rPr lang="el-GR" dirty="0">
                    <a:latin typeface="Arial" panose="020B0604020202020204" pitchFamily="34" charset="0"/>
                    <a:cs typeface="Arial" panose="020B0604020202020204" pitchFamily="34" charset="0"/>
                  </a:rPr>
                  <a:t>μ</a:t>
                </a:r>
                <a:r>
                  <a:rPr lang="es-PE" dirty="0">
                    <a:latin typeface="Arial" panose="020B0604020202020204" pitchFamily="34" charset="0"/>
                    <a:cs typeface="Arial" panose="020B0604020202020204" pitchFamily="34" charset="0"/>
                  </a:rPr>
                  <a:t> ≤ </a:t>
                </a:r>
                <a14:m>
                  <m:oMath xmlns:m="http://schemas.openxmlformats.org/officeDocument/2006/math">
                    <m:acc>
                      <m:accPr>
                        <m:chr m:val="̅"/>
                        <m:ctrlPr>
                          <a:rPr lang="es-PE" i="1">
                            <a:latin typeface="Cambria Math" panose="02040503050406030204" pitchFamily="18" charset="0"/>
                            <a:cs typeface="Arial" panose="020B0604020202020204" pitchFamily="34" charset="0"/>
                          </a:rPr>
                        </m:ctrlPr>
                      </m:accPr>
                      <m:e>
                        <m:r>
                          <a:rPr lang="es-PE" i="1">
                            <a:latin typeface="Cambria Math" panose="02040503050406030204" pitchFamily="18" charset="0"/>
                            <a:cs typeface="Arial" panose="020B0604020202020204" pitchFamily="34" charset="0"/>
                          </a:rPr>
                          <m:t> </m:t>
                        </m:r>
                        <m:r>
                          <a:rPr lang="es-PE" i="1">
                            <a:latin typeface="Cambria Math" panose="02040503050406030204" pitchFamily="18" charset="0"/>
                            <a:cs typeface="Arial" panose="020B0604020202020204" pitchFamily="34" charset="0"/>
                          </a:rPr>
                          <m:t>𝑋</m:t>
                        </m:r>
                      </m:e>
                    </m:acc>
                  </m:oMath>
                </a14:m>
                <a:r>
                  <a:rPr lang="es-PE" baseline="-25000" dirty="0">
                    <a:latin typeface="Arial" panose="020B0604020202020204" pitchFamily="34" charset="0"/>
                    <a:cs typeface="Arial" panose="020B0604020202020204" pitchFamily="34" charset="0"/>
                  </a:rPr>
                  <a:t> </a:t>
                </a:r>
                <a:r>
                  <a:rPr lang="es-PE" dirty="0">
                    <a:latin typeface="Arial" panose="020B0604020202020204" pitchFamily="34" charset="0"/>
                    <a:cs typeface="Arial" panose="020B0604020202020204" pitchFamily="34" charset="0"/>
                  </a:rPr>
                  <a:t> + t</a:t>
                </a:r>
                <a:r>
                  <a:rPr lang="es-PE" baseline="-25000" dirty="0">
                    <a:latin typeface="Arial" panose="020B0604020202020204" pitchFamily="34" charset="0"/>
                    <a:cs typeface="Arial" panose="020B0604020202020204" pitchFamily="34" charset="0"/>
                  </a:rPr>
                  <a:t>1-</a:t>
                </a:r>
                <a:r>
                  <a:rPr lang="el-GR" baseline="-25000" dirty="0">
                    <a:latin typeface="Arial" panose="020B0604020202020204" pitchFamily="34" charset="0"/>
                    <a:cs typeface="Arial" panose="020B0604020202020204" pitchFamily="34" charset="0"/>
                  </a:rPr>
                  <a:t>α</a:t>
                </a:r>
                <a:r>
                  <a:rPr lang="es-PE" baseline="-25000" dirty="0">
                    <a:latin typeface="Arial" panose="020B0604020202020204" pitchFamily="34" charset="0"/>
                    <a:cs typeface="Arial" panose="020B0604020202020204" pitchFamily="34" charset="0"/>
                  </a:rPr>
                  <a:t>/2; n-1 </a:t>
                </a:r>
                <a:r>
                  <a:rPr lang="es-PE" dirty="0">
                    <a:latin typeface="Arial" panose="020B0604020202020204" pitchFamily="34" charset="0"/>
                    <a:cs typeface="Arial" panose="020B0604020202020204" pitchFamily="34" charset="0"/>
                  </a:rPr>
                  <a:t> * </a:t>
                </a:r>
                <a:r>
                  <a:rPr lang="es-PE" baseline="-25000" dirty="0">
                    <a:latin typeface="Arial" panose="020B0604020202020204" pitchFamily="34" charset="0"/>
                    <a:cs typeface="Arial" panose="020B0604020202020204" pitchFamily="34" charset="0"/>
                  </a:rPr>
                  <a:t> </a:t>
                </a:r>
                <a:r>
                  <a:rPr lang="es-PE" dirty="0">
                    <a:latin typeface="Arial" panose="020B0604020202020204" pitchFamily="34" charset="0"/>
                    <a:cs typeface="Arial" panose="020B0604020202020204" pitchFamily="34" charset="0"/>
                  </a:rPr>
                  <a:t>S     ] = 1- </a:t>
                </a:r>
                <a:r>
                  <a:rPr lang="el-GR" dirty="0">
                    <a:latin typeface="Arial" panose="020B0604020202020204" pitchFamily="34" charset="0"/>
                    <a:cs typeface="Arial" panose="020B0604020202020204" pitchFamily="34" charset="0"/>
                  </a:rPr>
                  <a:t>α</a:t>
                </a:r>
                <a:r>
                  <a:rPr lang="es-PE" dirty="0">
                    <a:latin typeface="Arial" panose="020B0604020202020204" pitchFamily="34" charset="0"/>
                    <a:cs typeface="Arial" panose="020B0604020202020204" pitchFamily="34" charset="0"/>
                  </a:rPr>
                  <a:t> </a:t>
                </a:r>
              </a:p>
              <a:p>
                <a:pPr marL="0" indent="0" algn="just">
                  <a:buNone/>
                </a:pPr>
                <a:r>
                  <a:rPr lang="es-PE" dirty="0">
                    <a:latin typeface="Arial" panose="020B0604020202020204" pitchFamily="34" charset="0"/>
                    <a:cs typeface="Arial" panose="020B0604020202020204" pitchFamily="34" charset="0"/>
                  </a:rPr>
                  <a:t>                     </a:t>
                </a:r>
                <a14:m>
                  <m:oMath xmlns:m="http://schemas.openxmlformats.org/officeDocument/2006/math">
                    <m:rad>
                      <m:radPr>
                        <m:degHide m:val="on"/>
                        <m:ctrlPr>
                          <a:rPr lang="es-PE" i="1">
                            <a:latin typeface="Cambria Math" panose="02040503050406030204" pitchFamily="18" charset="0"/>
                            <a:cs typeface="Arial" panose="020B0604020202020204" pitchFamily="34" charset="0"/>
                          </a:rPr>
                        </m:ctrlPr>
                      </m:radPr>
                      <m:deg/>
                      <m:e>
                        <m:r>
                          <a:rPr lang="es-PE" i="1">
                            <a:latin typeface="Cambria Math" panose="02040503050406030204" pitchFamily="18" charset="0"/>
                            <a:cs typeface="Arial" panose="020B0604020202020204" pitchFamily="34" charset="0"/>
                          </a:rPr>
                          <m:t>𝑛</m:t>
                        </m:r>
                      </m:e>
                    </m:rad>
                  </m:oMath>
                </a14:m>
                <a:r>
                  <a:rPr lang="es-PE" dirty="0">
                    <a:latin typeface="Arial" panose="020B0604020202020204" pitchFamily="34" charset="0"/>
                    <a:cs typeface="Arial" panose="020B0604020202020204" pitchFamily="34" charset="0"/>
                  </a:rPr>
                  <a:t>                                  </a:t>
                </a:r>
                <a14:m>
                  <m:oMath xmlns:m="http://schemas.openxmlformats.org/officeDocument/2006/math">
                    <m:rad>
                      <m:radPr>
                        <m:degHide m:val="on"/>
                        <m:ctrlPr>
                          <a:rPr lang="es-PE" i="1">
                            <a:latin typeface="Cambria Math" panose="02040503050406030204" pitchFamily="18" charset="0"/>
                            <a:cs typeface="Arial" panose="020B0604020202020204" pitchFamily="34" charset="0"/>
                          </a:rPr>
                        </m:ctrlPr>
                      </m:radPr>
                      <m:deg/>
                      <m:e>
                        <m:r>
                          <a:rPr lang="es-PE" i="1">
                            <a:latin typeface="Cambria Math" panose="02040503050406030204" pitchFamily="18" charset="0"/>
                            <a:cs typeface="Arial" panose="020B0604020202020204" pitchFamily="34" charset="0"/>
                          </a:rPr>
                          <m:t>𝑛</m:t>
                        </m:r>
                      </m:e>
                    </m:rad>
                  </m:oMath>
                </a14:m>
                <a:endParaRPr lang="es-PE" dirty="0"/>
              </a:p>
              <a:p>
                <a:pPr marL="0" indent="0">
                  <a:buNone/>
                </a:pPr>
                <a:r>
                  <a:rPr lang="es-PE" b="1" dirty="0" err="1">
                    <a:latin typeface="Arial Narrow" panose="020B0606020202030204" pitchFamily="34" charset="0"/>
                  </a:rPr>
                  <a:t>Ej</a:t>
                </a:r>
                <a:r>
                  <a:rPr lang="es-PE" b="1" dirty="0">
                    <a:latin typeface="Arial Narrow" panose="020B0606020202030204" pitchFamily="34" charset="0"/>
                  </a:rPr>
                  <a:t> 1</a:t>
                </a:r>
              </a:p>
            </p:txBody>
          </p:sp>
        </mc:Choice>
        <mc:Fallback xmlns="">
          <p:sp>
            <p:nvSpPr>
              <p:cNvPr id="3" name="Marcador de contenido 2"/>
              <p:cNvSpPr>
                <a:spLocks noGrp="1" noRot="1" noChangeAspect="1" noMove="1" noResize="1" noEditPoints="1" noAdjustHandles="1" noChangeArrowheads="1" noChangeShapeType="1" noTextEdit="1"/>
              </p:cNvSpPr>
              <p:nvPr>
                <p:ph idx="1"/>
              </p:nvPr>
            </p:nvSpPr>
            <p:spPr>
              <a:xfrm>
                <a:off x="381000" y="304800"/>
                <a:ext cx="8382000" cy="6096000"/>
              </a:xfrm>
              <a:blipFill>
                <a:blip r:embed="rId2"/>
                <a:stretch>
                  <a:fillRect l="-800" r="-727"/>
                </a:stretch>
              </a:blipFill>
            </p:spPr>
            <p:txBody>
              <a:bodyPr/>
              <a:lstStyle/>
              <a:p>
                <a:r>
                  <a:rPr lang="es-PE">
                    <a:noFill/>
                  </a:rPr>
                  <a:t> </a:t>
                </a:r>
              </a:p>
            </p:txBody>
          </p:sp>
        </mc:Fallback>
      </mc:AlternateContent>
      <p:cxnSp>
        <p:nvCxnSpPr>
          <p:cNvPr id="6" name="Conector recto 5"/>
          <p:cNvCxnSpPr/>
          <p:nvPr/>
        </p:nvCxnSpPr>
        <p:spPr>
          <a:xfrm>
            <a:off x="1905000" y="2362200"/>
            <a:ext cx="381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Conector recto 6"/>
          <p:cNvCxnSpPr/>
          <p:nvPr/>
        </p:nvCxnSpPr>
        <p:spPr>
          <a:xfrm>
            <a:off x="4724400" y="2362200"/>
            <a:ext cx="381000" cy="0"/>
          </a:xfrm>
          <a:prstGeom prst="line">
            <a:avLst/>
          </a:prstGeom>
        </p:spPr>
        <p:style>
          <a:lnRef idx="1">
            <a:schemeClr val="accent1"/>
          </a:lnRef>
          <a:fillRef idx="0">
            <a:schemeClr val="accent1"/>
          </a:fillRef>
          <a:effectRef idx="0">
            <a:schemeClr val="accent1"/>
          </a:effectRef>
          <a:fontRef idx="minor">
            <a:schemeClr val="tx1"/>
          </a:fontRef>
        </p:style>
      </p:cxnSp>
      <p:pic>
        <p:nvPicPr>
          <p:cNvPr id="2" name="Imagen 1"/>
          <p:cNvPicPr>
            <a:picLocks noChangeAspect="1"/>
          </p:cNvPicPr>
          <p:nvPr/>
        </p:nvPicPr>
        <p:blipFill>
          <a:blip r:embed="rId3"/>
          <a:stretch>
            <a:fillRect/>
          </a:stretch>
        </p:blipFill>
        <p:spPr>
          <a:xfrm>
            <a:off x="6229350" y="1447800"/>
            <a:ext cx="2914650" cy="2859272"/>
          </a:xfrm>
          <a:prstGeom prst="rect">
            <a:avLst/>
          </a:prstGeom>
        </p:spPr>
      </p:pic>
      <p:pic>
        <p:nvPicPr>
          <p:cNvPr id="5" name="Imagen 4">
            <a:extLst>
              <a:ext uri="{FF2B5EF4-FFF2-40B4-BE49-F238E27FC236}">
                <a16:creationId xmlns:a16="http://schemas.microsoft.com/office/drawing/2014/main" id="{8EC1AAED-88B8-4E06-AA46-0B705BBF0E1B}"/>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tretch>
            <a:fillRect/>
          </a:stretch>
        </p:blipFill>
        <p:spPr>
          <a:xfrm>
            <a:off x="9524" y="3351550"/>
            <a:ext cx="6219825" cy="3506449"/>
          </a:xfrm>
          <a:prstGeom prst="rect">
            <a:avLst/>
          </a:prstGeom>
        </p:spPr>
      </p:pic>
    </p:spTree>
    <p:extLst>
      <p:ext uri="{BB962C8B-B14F-4D97-AF65-F5344CB8AC3E}">
        <p14:creationId xmlns:p14="http://schemas.microsoft.com/office/powerpoint/2010/main" val="8947927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152400" y="304800"/>
            <a:ext cx="8610600" cy="6096000"/>
          </a:xfrm>
        </p:spPr>
        <p:txBody>
          <a:bodyPr>
            <a:normAutofit/>
          </a:bodyPr>
          <a:lstStyle/>
          <a:p>
            <a:pPr marL="0" indent="0" algn="just">
              <a:buNone/>
            </a:pPr>
            <a:endParaRPr lang="es-PE" b="1" dirty="0">
              <a:latin typeface="Arial" panose="020B0604020202020204" pitchFamily="34" charset="0"/>
              <a:cs typeface="Arial" panose="020B0604020202020204" pitchFamily="34" charset="0"/>
            </a:endParaRPr>
          </a:p>
          <a:p>
            <a:pPr marL="0" indent="0">
              <a:buNone/>
            </a:pPr>
            <a:endParaRPr lang="es-PE" dirty="0"/>
          </a:p>
          <a:p>
            <a:pPr marL="0" indent="0">
              <a:buNone/>
            </a:pPr>
            <a:endParaRPr lang="es-PE" dirty="0"/>
          </a:p>
          <a:p>
            <a:pPr marL="0" indent="0">
              <a:buNone/>
            </a:pPr>
            <a:endParaRPr lang="es-PE" dirty="0"/>
          </a:p>
          <a:p>
            <a:pPr marL="0" indent="0">
              <a:buNone/>
            </a:pPr>
            <a:endParaRPr lang="es-PE" dirty="0"/>
          </a:p>
          <a:p>
            <a:pPr marL="0" indent="0">
              <a:buNone/>
            </a:pPr>
            <a:endParaRPr lang="es-PE" dirty="0"/>
          </a:p>
          <a:p>
            <a:pPr marL="0" indent="0">
              <a:buNone/>
            </a:pPr>
            <a:endParaRPr lang="es-PE" dirty="0"/>
          </a:p>
          <a:p>
            <a:pPr marL="0" indent="0" algn="just">
              <a:buNone/>
            </a:pPr>
            <a:r>
              <a:rPr lang="es-PE" sz="2200" b="1" dirty="0" err="1">
                <a:latin typeface="Arial Narrow" panose="020B0606020202030204" pitchFamily="34" charset="0"/>
              </a:rPr>
              <a:t>Ej</a:t>
            </a:r>
            <a:r>
              <a:rPr lang="es-PE" sz="2200" b="1" dirty="0">
                <a:latin typeface="Arial Narrow" panose="020B0606020202030204" pitchFamily="34" charset="0"/>
              </a:rPr>
              <a:t> 3 : </a:t>
            </a:r>
            <a:r>
              <a:rPr lang="es-PE" sz="2200" dirty="0">
                <a:latin typeface="Arial Narrow" panose="020B0606020202030204" pitchFamily="34" charset="0"/>
              </a:rPr>
              <a:t>Un negocio se dedica a la venta de vasos de cerveza de 16 onzas. Diez estudiantes compran un Total de 22 vasos, y utilizando su propia vaso de medida, estiman los contenidos promedios. La media muestral es de 15.2 onzas, con S=0.86.¿Con un Nivel de confianza del 95% los estudiantes creen que su dinero lo vale? Interprete el resultado</a:t>
            </a:r>
            <a:r>
              <a:rPr lang="es-PE" dirty="0"/>
              <a:t>.</a:t>
            </a:r>
          </a:p>
        </p:txBody>
      </p:sp>
      <p:cxnSp>
        <p:nvCxnSpPr>
          <p:cNvPr id="6" name="Conector recto 5"/>
          <p:cNvCxnSpPr/>
          <p:nvPr/>
        </p:nvCxnSpPr>
        <p:spPr>
          <a:xfrm>
            <a:off x="1905000" y="2362200"/>
            <a:ext cx="381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Conector recto 6"/>
          <p:cNvCxnSpPr/>
          <p:nvPr/>
        </p:nvCxnSpPr>
        <p:spPr>
          <a:xfrm>
            <a:off x="4381500" y="2438400"/>
            <a:ext cx="381000" cy="0"/>
          </a:xfrm>
          <a:prstGeom prst="line">
            <a:avLst/>
          </a:prstGeom>
        </p:spPr>
        <p:style>
          <a:lnRef idx="1">
            <a:schemeClr val="accent1"/>
          </a:lnRef>
          <a:fillRef idx="0">
            <a:schemeClr val="accent1"/>
          </a:fillRef>
          <a:effectRef idx="0">
            <a:schemeClr val="accent1"/>
          </a:effectRef>
          <a:fontRef idx="minor">
            <a:schemeClr val="tx1"/>
          </a:fontRef>
        </p:style>
      </p:cxnSp>
      <p:pic>
        <p:nvPicPr>
          <p:cNvPr id="5" name="Imagen 4">
            <a:extLst>
              <a:ext uri="{FF2B5EF4-FFF2-40B4-BE49-F238E27FC236}">
                <a16:creationId xmlns:a16="http://schemas.microsoft.com/office/drawing/2014/main" id="{E6D2F20D-C847-4A8D-AE24-3419A63A33C3}"/>
              </a:ext>
            </a:extLst>
          </p:cNvPr>
          <p:cNvPicPr>
            <a:picLocks noChangeAspect="1"/>
          </p:cNvPicPr>
          <p:nvPr/>
        </p:nvPicPr>
        <p:blipFill>
          <a:blip r:embed="rId2"/>
          <a:stretch>
            <a:fillRect/>
          </a:stretch>
        </p:blipFill>
        <p:spPr>
          <a:xfrm>
            <a:off x="13741" y="308235"/>
            <a:ext cx="8991600" cy="3186659"/>
          </a:xfrm>
          <a:prstGeom prst="rect">
            <a:avLst/>
          </a:prstGeom>
        </p:spPr>
      </p:pic>
      <p:sp>
        <p:nvSpPr>
          <p:cNvPr id="8" name="Marcador de contenido 2">
            <a:extLst>
              <a:ext uri="{FF2B5EF4-FFF2-40B4-BE49-F238E27FC236}">
                <a16:creationId xmlns:a16="http://schemas.microsoft.com/office/drawing/2014/main" id="{E4060085-FEE8-40D3-ADB6-8D074D4882BB}"/>
              </a:ext>
            </a:extLst>
          </p:cNvPr>
          <p:cNvSpPr txBox="1">
            <a:spLocks/>
          </p:cNvSpPr>
          <p:nvPr/>
        </p:nvSpPr>
        <p:spPr>
          <a:xfrm>
            <a:off x="51216" y="3359672"/>
            <a:ext cx="6571343" cy="457200"/>
          </a:xfrm>
          <a:prstGeom prst="rect">
            <a:avLst/>
          </a:prstGeom>
        </p:spPr>
        <p:txBody>
          <a:bodyPr vert="horz" lIns="91440" tIns="45720" rIns="91440" bIns="45720" rtlCol="0" anchor="t">
            <a:normAutofit/>
          </a:bodyPr>
          <a:lstStyle>
            <a:lvl1pPr marL="228600" indent="-228600" algn="l" defTabSz="685800" rtl="0" eaLnBrk="1" latinLnBrk="0" hangingPunct="1">
              <a:lnSpc>
                <a:spcPct val="120000"/>
              </a:lnSpc>
              <a:spcBef>
                <a:spcPts val="1000"/>
              </a:spcBef>
              <a:buClr>
                <a:schemeClr val="accent1"/>
              </a:buClr>
              <a:buSzPct val="100000"/>
              <a:buFont typeface="Arial" panose="020B0604020202020204" pitchFamily="34" charset="0"/>
              <a:buChar char="•"/>
              <a:defRPr sz="2000" kern="1200" cap="none">
                <a:solidFill>
                  <a:schemeClr val="tx1"/>
                </a:solidFill>
                <a:effectLst/>
                <a:latin typeface="+mn-lt"/>
                <a:ea typeface="+mn-ea"/>
                <a:cs typeface="+mn-cs"/>
              </a:defRPr>
            </a:lvl1pPr>
            <a:lvl2pPr marL="6858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baseline="0">
                <a:solidFill>
                  <a:schemeClr val="tx1"/>
                </a:solidFill>
                <a:effectLst/>
                <a:latin typeface="+mn-lt"/>
                <a:ea typeface="+mn-ea"/>
                <a:cs typeface="+mn-cs"/>
              </a:defRPr>
            </a:lvl2pPr>
            <a:lvl3pPr marL="11430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a:solidFill>
                  <a:schemeClr val="tx1"/>
                </a:solidFill>
                <a:effectLst/>
                <a:latin typeface="+mn-lt"/>
                <a:ea typeface="+mn-ea"/>
                <a:cs typeface="+mn-cs"/>
              </a:defRPr>
            </a:lvl3pPr>
            <a:lvl4pPr marL="16002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200" kern="1200" cap="none">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marL="0" indent="0">
              <a:buFont typeface="Arial" panose="020B0604020202020204" pitchFamily="34" charset="0"/>
              <a:buNone/>
            </a:pPr>
            <a:r>
              <a:rPr lang="es-ES" dirty="0">
                <a:solidFill>
                  <a:srgbClr val="FF0000"/>
                </a:solidFill>
              </a:rPr>
              <a:t>SOL</a:t>
            </a:r>
            <a:endParaRPr lang="es-PE" dirty="0">
              <a:solidFill>
                <a:srgbClr val="FF0000"/>
              </a:solidFill>
            </a:endParaRPr>
          </a:p>
        </p:txBody>
      </p:sp>
      <p:sp>
        <p:nvSpPr>
          <p:cNvPr id="9" name="Marcador de contenido 2">
            <a:extLst>
              <a:ext uri="{FF2B5EF4-FFF2-40B4-BE49-F238E27FC236}">
                <a16:creationId xmlns:a16="http://schemas.microsoft.com/office/drawing/2014/main" id="{4E852B2D-66C4-45FA-9806-E09F358F634A}"/>
              </a:ext>
            </a:extLst>
          </p:cNvPr>
          <p:cNvSpPr txBox="1">
            <a:spLocks/>
          </p:cNvSpPr>
          <p:nvPr/>
        </p:nvSpPr>
        <p:spPr>
          <a:xfrm>
            <a:off x="118672" y="5715000"/>
            <a:ext cx="6571343" cy="457200"/>
          </a:xfrm>
          <a:prstGeom prst="rect">
            <a:avLst/>
          </a:prstGeom>
        </p:spPr>
        <p:txBody>
          <a:bodyPr vert="horz" lIns="91440" tIns="45720" rIns="91440" bIns="45720" rtlCol="0" anchor="t">
            <a:normAutofit/>
          </a:bodyPr>
          <a:lstStyle>
            <a:lvl1pPr marL="228600" indent="-228600" algn="l" defTabSz="685800" rtl="0" eaLnBrk="1" latinLnBrk="0" hangingPunct="1">
              <a:lnSpc>
                <a:spcPct val="120000"/>
              </a:lnSpc>
              <a:spcBef>
                <a:spcPts val="1000"/>
              </a:spcBef>
              <a:buClr>
                <a:schemeClr val="accent1"/>
              </a:buClr>
              <a:buSzPct val="100000"/>
              <a:buFont typeface="Arial" panose="020B0604020202020204" pitchFamily="34" charset="0"/>
              <a:buChar char="•"/>
              <a:defRPr sz="2000" kern="1200" cap="none">
                <a:solidFill>
                  <a:schemeClr val="tx1"/>
                </a:solidFill>
                <a:effectLst/>
                <a:latin typeface="+mn-lt"/>
                <a:ea typeface="+mn-ea"/>
                <a:cs typeface="+mn-cs"/>
              </a:defRPr>
            </a:lvl1pPr>
            <a:lvl2pPr marL="6858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baseline="0">
                <a:solidFill>
                  <a:schemeClr val="tx1"/>
                </a:solidFill>
                <a:effectLst/>
                <a:latin typeface="+mn-lt"/>
                <a:ea typeface="+mn-ea"/>
                <a:cs typeface="+mn-cs"/>
              </a:defRPr>
            </a:lvl2pPr>
            <a:lvl3pPr marL="11430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a:solidFill>
                  <a:schemeClr val="tx1"/>
                </a:solidFill>
                <a:effectLst/>
                <a:latin typeface="+mn-lt"/>
                <a:ea typeface="+mn-ea"/>
                <a:cs typeface="+mn-cs"/>
              </a:defRPr>
            </a:lvl3pPr>
            <a:lvl4pPr marL="16002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200" kern="1200" cap="none">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marL="0" indent="0">
              <a:buFont typeface="Arial" panose="020B0604020202020204" pitchFamily="34" charset="0"/>
              <a:buNone/>
            </a:pPr>
            <a:r>
              <a:rPr lang="es-ES" dirty="0">
                <a:solidFill>
                  <a:srgbClr val="FF0000"/>
                </a:solidFill>
              </a:rPr>
              <a:t>SOL</a:t>
            </a:r>
            <a:endParaRPr lang="es-PE" dirty="0">
              <a:solidFill>
                <a:srgbClr val="FF0000"/>
              </a:solidFill>
            </a:endParaRPr>
          </a:p>
        </p:txBody>
      </p:sp>
      <p:sp>
        <p:nvSpPr>
          <p:cNvPr id="10" name="Marcador de contenido 2">
            <a:extLst>
              <a:ext uri="{FF2B5EF4-FFF2-40B4-BE49-F238E27FC236}">
                <a16:creationId xmlns:a16="http://schemas.microsoft.com/office/drawing/2014/main" id="{2AE99F89-9F85-48A4-864A-C8FCD316CFDF}"/>
              </a:ext>
            </a:extLst>
          </p:cNvPr>
          <p:cNvSpPr txBox="1">
            <a:spLocks/>
          </p:cNvSpPr>
          <p:nvPr/>
        </p:nvSpPr>
        <p:spPr>
          <a:xfrm>
            <a:off x="98685" y="23422"/>
            <a:ext cx="6571343" cy="281378"/>
          </a:xfrm>
          <a:prstGeom prst="rect">
            <a:avLst/>
          </a:prstGeom>
        </p:spPr>
        <p:txBody>
          <a:bodyPr vert="horz" lIns="91440" tIns="45720" rIns="91440" bIns="45720" rtlCol="0" anchor="t">
            <a:normAutofit fontScale="55000" lnSpcReduction="20000"/>
          </a:bodyPr>
          <a:lstStyle>
            <a:lvl1pPr marL="228600" indent="-228600" algn="l" defTabSz="685800" rtl="0" eaLnBrk="1" latinLnBrk="0" hangingPunct="1">
              <a:lnSpc>
                <a:spcPct val="120000"/>
              </a:lnSpc>
              <a:spcBef>
                <a:spcPts val="1000"/>
              </a:spcBef>
              <a:buClr>
                <a:schemeClr val="accent1"/>
              </a:buClr>
              <a:buSzPct val="100000"/>
              <a:buFont typeface="Arial" panose="020B0604020202020204" pitchFamily="34" charset="0"/>
              <a:buChar char="•"/>
              <a:defRPr sz="2000" kern="1200" cap="none">
                <a:solidFill>
                  <a:schemeClr val="tx1"/>
                </a:solidFill>
                <a:effectLst/>
                <a:latin typeface="+mn-lt"/>
                <a:ea typeface="+mn-ea"/>
                <a:cs typeface="+mn-cs"/>
              </a:defRPr>
            </a:lvl1pPr>
            <a:lvl2pPr marL="6858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baseline="0">
                <a:solidFill>
                  <a:schemeClr val="tx1"/>
                </a:solidFill>
                <a:effectLst/>
                <a:latin typeface="+mn-lt"/>
                <a:ea typeface="+mn-ea"/>
                <a:cs typeface="+mn-cs"/>
              </a:defRPr>
            </a:lvl2pPr>
            <a:lvl3pPr marL="11430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a:solidFill>
                  <a:schemeClr val="tx1"/>
                </a:solidFill>
                <a:effectLst/>
                <a:latin typeface="+mn-lt"/>
                <a:ea typeface="+mn-ea"/>
                <a:cs typeface="+mn-cs"/>
              </a:defRPr>
            </a:lvl3pPr>
            <a:lvl4pPr marL="16002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200" kern="1200" cap="none">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marL="0" indent="0">
              <a:buFont typeface="Arial" panose="020B0604020202020204" pitchFamily="34" charset="0"/>
              <a:buNone/>
            </a:pPr>
            <a:r>
              <a:rPr lang="es-ES" dirty="0" err="1"/>
              <a:t>Ej</a:t>
            </a:r>
            <a:r>
              <a:rPr lang="es-ES" dirty="0"/>
              <a:t> 2</a:t>
            </a:r>
            <a:endParaRPr lang="es-PE" dirty="0"/>
          </a:p>
        </p:txBody>
      </p:sp>
    </p:spTree>
    <p:extLst>
      <p:ext uri="{BB962C8B-B14F-4D97-AF65-F5344CB8AC3E}">
        <p14:creationId xmlns:p14="http://schemas.microsoft.com/office/powerpoint/2010/main" val="29305775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381000" y="457200"/>
            <a:ext cx="8382000" cy="6096000"/>
          </a:xfrm>
        </p:spPr>
        <p:txBody>
          <a:bodyPr>
            <a:normAutofit fontScale="92500" lnSpcReduction="10000"/>
          </a:bodyPr>
          <a:lstStyle/>
          <a:p>
            <a:pPr marL="0" indent="0">
              <a:buNone/>
            </a:pPr>
            <a:r>
              <a:rPr lang="es-PE" dirty="0">
                <a:latin typeface="Arial" panose="020B0604020202020204" pitchFamily="34" charset="0"/>
                <a:cs typeface="Arial" panose="020B0604020202020204" pitchFamily="34" charset="0"/>
              </a:rPr>
              <a:t>Ej4: Para estimar el gasto promedio de los clientes en un negocio local, los estudiantes de una clase de estadística toman una muestra de 200 clientes y encuentran un gasto promedio de 20 soles, con una desviación estándar de 5 soles. ¿Cual es el intervalo de confianza del 95% para los gastos promedios de todos los clientes .</a:t>
            </a:r>
          </a:p>
          <a:p>
            <a:pPr marL="0" indent="0">
              <a:buNone/>
            </a:pPr>
            <a:r>
              <a:rPr lang="es-PE" dirty="0">
                <a:latin typeface="Arial" panose="020B0604020202020204" pitchFamily="34" charset="0"/>
                <a:cs typeface="Arial" panose="020B0604020202020204" pitchFamily="34" charset="0"/>
              </a:rPr>
              <a:t>Sol :</a:t>
            </a:r>
          </a:p>
          <a:p>
            <a:pPr marL="0" indent="0">
              <a:buNone/>
            </a:pPr>
            <a:endParaRPr lang="es-PE" dirty="0">
              <a:latin typeface="Arial" panose="020B0604020202020204" pitchFamily="34" charset="0"/>
              <a:cs typeface="Arial" panose="020B0604020202020204" pitchFamily="34" charset="0"/>
            </a:endParaRPr>
          </a:p>
          <a:p>
            <a:pPr marL="0" indent="0">
              <a:buNone/>
            </a:pPr>
            <a:r>
              <a:rPr lang="es-PE" dirty="0" err="1">
                <a:latin typeface="Arial" panose="020B0604020202020204" pitchFamily="34" charset="0"/>
                <a:cs typeface="Arial" panose="020B0604020202020204" pitchFamily="34" charset="0"/>
              </a:rPr>
              <a:t>Ej</a:t>
            </a:r>
            <a:r>
              <a:rPr lang="es-PE" dirty="0">
                <a:latin typeface="Arial" panose="020B0604020202020204" pitchFamily="34" charset="0"/>
                <a:cs typeface="Arial" panose="020B0604020202020204" pitchFamily="34" charset="0"/>
              </a:rPr>
              <a:t> 5 :Los contenidos de una </a:t>
            </a:r>
            <a:r>
              <a:rPr lang="es-PE" dirty="0" err="1">
                <a:latin typeface="Arial" panose="020B0604020202020204" pitchFamily="34" charset="0"/>
                <a:cs typeface="Arial" panose="020B0604020202020204" pitchFamily="34" charset="0"/>
              </a:rPr>
              <a:t>m.a</a:t>
            </a:r>
            <a:r>
              <a:rPr lang="es-PE" dirty="0">
                <a:latin typeface="Arial" panose="020B0604020202020204" pitchFamily="34" charset="0"/>
                <a:cs typeface="Arial" panose="020B0604020202020204" pitchFamily="34" charset="0"/>
              </a:rPr>
              <a:t>. de 5 latas de café instantáneo de un productor han dado los siguientes pesos netos en gramos: 280, 290, 285, 275, 284</a:t>
            </a:r>
          </a:p>
          <a:p>
            <a:pPr marL="0" indent="0">
              <a:buNone/>
            </a:pPr>
            <a:r>
              <a:rPr lang="es-PE" dirty="0">
                <a:latin typeface="Arial" panose="020B0604020202020204" pitchFamily="34" charset="0"/>
                <a:cs typeface="Arial" panose="020B0604020202020204" pitchFamily="34" charset="0"/>
              </a:rPr>
              <a:t>a) Encuentre un intervalo de confianza del 95% para la media de los contenidos de todas las latas de café del productor.</a:t>
            </a:r>
          </a:p>
          <a:p>
            <a:pPr marL="0" indent="0">
              <a:buNone/>
            </a:pPr>
            <a:r>
              <a:rPr lang="es-PE" dirty="0">
                <a:latin typeface="Arial" panose="020B0604020202020204" pitchFamily="34" charset="0"/>
                <a:cs typeface="Arial" panose="020B0604020202020204" pitchFamily="34" charset="0"/>
              </a:rPr>
              <a:t>b) ¿Con que grado de confianza se estima que el contenido promedio de café tenga los limites de confianza 277.44 y 288.17? Suponga una distribución normal.</a:t>
            </a:r>
          </a:p>
          <a:p>
            <a:pPr marL="0" indent="0">
              <a:buNone/>
            </a:pPr>
            <a:r>
              <a:rPr lang="es-PE" dirty="0">
                <a:latin typeface="Arial" panose="020B0604020202020204" pitchFamily="34" charset="0"/>
                <a:cs typeface="Arial" panose="020B0604020202020204" pitchFamily="34" charset="0"/>
              </a:rPr>
              <a:t>Sol :</a:t>
            </a:r>
          </a:p>
        </p:txBody>
      </p:sp>
    </p:spTree>
    <p:extLst>
      <p:ext uri="{BB962C8B-B14F-4D97-AF65-F5344CB8AC3E}">
        <p14:creationId xmlns:p14="http://schemas.microsoft.com/office/powerpoint/2010/main" val="26113645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a:blip r:embed="rId2"/>
          <a:stretch>
            <a:fillRect/>
          </a:stretch>
        </p:blipFill>
        <p:spPr>
          <a:xfrm>
            <a:off x="4011" y="16042"/>
            <a:ext cx="8839200" cy="1752600"/>
          </a:xfrm>
          <a:prstGeom prst="rect">
            <a:avLst/>
          </a:prstGeom>
        </p:spPr>
      </p:pic>
    </p:spTree>
    <p:extLst>
      <p:ext uri="{BB962C8B-B14F-4D97-AF65-F5344CB8AC3E}">
        <p14:creationId xmlns:p14="http://schemas.microsoft.com/office/powerpoint/2010/main" val="14379065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Marcador de contenido 2"/>
              <p:cNvSpPr>
                <a:spLocks noGrp="1"/>
              </p:cNvSpPr>
              <p:nvPr>
                <p:ph idx="1"/>
              </p:nvPr>
            </p:nvSpPr>
            <p:spPr>
              <a:xfrm>
                <a:off x="228600" y="304800"/>
                <a:ext cx="8763000" cy="6400800"/>
              </a:xfrm>
            </p:spPr>
            <p:txBody>
              <a:bodyPr>
                <a:normAutofit/>
              </a:bodyPr>
              <a:lstStyle/>
              <a:p>
                <a:pPr marL="0" indent="0" algn="just">
                  <a:buNone/>
                </a:pPr>
                <a:r>
                  <a:rPr lang="es-PE" sz="2000" b="1" dirty="0">
                    <a:solidFill>
                      <a:srgbClr val="0070C0"/>
                    </a:solidFill>
                    <a:latin typeface="Arial" panose="020B0604020202020204" pitchFamily="34" charset="0"/>
                    <a:cs typeface="Arial" panose="020B0604020202020204" pitchFamily="34" charset="0"/>
                  </a:rPr>
                  <a:t>INTERVALO DE CONFIANZA PARA UNA PROPORCION</a:t>
                </a:r>
              </a:p>
              <a:p>
                <a:pPr marL="0" indent="0" algn="just">
                  <a:buNone/>
                </a:pPr>
                <a:r>
                  <a:rPr lang="es-PE" sz="1800" dirty="0">
                    <a:latin typeface="Arial" panose="020B0604020202020204" pitchFamily="34" charset="0"/>
                    <a:cs typeface="Arial" panose="020B0604020202020204" pitchFamily="34" charset="0"/>
                  </a:rPr>
                  <a:t>Sea x1,x2,..xn; una muestra aleatoria de tamaño “n” suficientemente grande (n≥ 30) escogida de una prueba de Bernoulli, cuyo parámetro es la proporción de éxitos en la población. </a:t>
                </a:r>
              </a:p>
              <a:p>
                <a:pPr marL="0" indent="0" algn="just">
                  <a:lnSpc>
                    <a:spcPct val="100000"/>
                  </a:lnSpc>
                  <a:spcBef>
                    <a:spcPts val="0"/>
                  </a:spcBef>
                  <a:buNone/>
                </a:pPr>
                <a:r>
                  <a:rPr lang="es-PE" sz="1800" dirty="0">
                    <a:latin typeface="Arial" panose="020B0604020202020204" pitchFamily="34" charset="0"/>
                    <a:cs typeface="Arial" panose="020B0604020202020204" pitchFamily="34" charset="0"/>
                  </a:rPr>
                  <a:t>Sea </a:t>
                </a:r>
                <a14:m>
                  <m:oMath xmlns:m="http://schemas.openxmlformats.org/officeDocument/2006/math">
                    <m:acc>
                      <m:accPr>
                        <m:chr m:val="̅"/>
                        <m:ctrlPr>
                          <a:rPr lang="es-PE" sz="1800" i="1" smtClean="0">
                            <a:latin typeface="Cambria Math" panose="02040503050406030204" pitchFamily="18" charset="0"/>
                            <a:cs typeface="Arial" panose="020B0604020202020204" pitchFamily="34" charset="0"/>
                          </a:rPr>
                        </m:ctrlPr>
                      </m:accPr>
                      <m:e>
                        <m:r>
                          <a:rPr lang="es-PE" sz="1800" b="0" i="1" smtClean="0">
                            <a:latin typeface="Cambria Math" panose="02040503050406030204" pitchFamily="18" charset="0"/>
                            <a:cs typeface="Arial" panose="020B0604020202020204" pitchFamily="34" charset="0"/>
                          </a:rPr>
                          <m:t>𝑝</m:t>
                        </m:r>
                      </m:e>
                    </m:acc>
                  </m:oMath>
                </a14:m>
                <a:r>
                  <a:rPr lang="es-PE" sz="1800" dirty="0">
                    <a:latin typeface="Arial" panose="020B0604020202020204" pitchFamily="34" charset="0"/>
                    <a:cs typeface="Arial" panose="020B0604020202020204" pitchFamily="34" charset="0"/>
                  </a:rPr>
                  <a:t> = </a:t>
                </a:r>
                <a14:m>
                  <m:oMath xmlns:m="http://schemas.openxmlformats.org/officeDocument/2006/math">
                    <m:nary>
                      <m:naryPr>
                        <m:chr m:val="∑"/>
                        <m:ctrlPr>
                          <a:rPr lang="es-PE" sz="1800" i="1" smtClean="0">
                            <a:latin typeface="Cambria Math" panose="02040503050406030204" pitchFamily="18" charset="0"/>
                            <a:cs typeface="Arial" panose="020B0604020202020204" pitchFamily="34" charset="0"/>
                          </a:rPr>
                        </m:ctrlPr>
                      </m:naryPr>
                      <m:sub>
                        <m:r>
                          <m:rPr>
                            <m:brk m:alnAt="23"/>
                          </m:rPr>
                          <a:rPr lang="es-PE" sz="1800" b="0" i="1" smtClean="0">
                            <a:latin typeface="Cambria Math" panose="02040503050406030204" pitchFamily="18" charset="0"/>
                            <a:cs typeface="Arial" panose="020B0604020202020204" pitchFamily="34" charset="0"/>
                          </a:rPr>
                          <m:t>𝑖</m:t>
                        </m:r>
                        <m:r>
                          <a:rPr lang="es-PE" sz="1800" b="0" i="1" smtClean="0">
                            <a:latin typeface="Cambria Math" panose="02040503050406030204" pitchFamily="18" charset="0"/>
                            <a:cs typeface="Arial" panose="020B0604020202020204" pitchFamily="34" charset="0"/>
                          </a:rPr>
                          <m:t>=1</m:t>
                        </m:r>
                      </m:sub>
                      <m:sup>
                        <m:r>
                          <a:rPr lang="es-PE" sz="1800" b="0" i="1" smtClean="0">
                            <a:latin typeface="Cambria Math" panose="02040503050406030204" pitchFamily="18" charset="0"/>
                            <a:cs typeface="Arial" panose="020B0604020202020204" pitchFamily="34" charset="0"/>
                          </a:rPr>
                          <m:t>𝑛</m:t>
                        </m:r>
                      </m:sup>
                      <m:e>
                        <m:r>
                          <a:rPr lang="es-PE" sz="1800" b="0" i="1" smtClean="0">
                            <a:latin typeface="Cambria Math" panose="02040503050406030204" pitchFamily="18" charset="0"/>
                            <a:cs typeface="Arial" panose="020B0604020202020204" pitchFamily="34" charset="0"/>
                          </a:rPr>
                          <m:t>𝑋𝑖</m:t>
                        </m:r>
                      </m:e>
                    </m:nary>
                  </m:oMath>
                </a14:m>
                <a:r>
                  <a:rPr lang="es-PE" sz="1800" dirty="0">
                    <a:latin typeface="Arial" panose="020B0604020202020204" pitchFamily="34" charset="0"/>
                    <a:cs typeface="Arial" panose="020B0604020202020204" pitchFamily="34" charset="0"/>
                  </a:rPr>
                  <a:t>      : Proporción de éxitos en la muestra</a:t>
                </a:r>
              </a:p>
              <a:p>
                <a:pPr marL="0" indent="0" algn="just">
                  <a:lnSpc>
                    <a:spcPct val="100000"/>
                  </a:lnSpc>
                  <a:spcBef>
                    <a:spcPts val="0"/>
                  </a:spcBef>
                  <a:buNone/>
                </a:pPr>
                <a:r>
                  <a:rPr lang="es-PE" sz="1800" dirty="0">
                    <a:latin typeface="Arial" panose="020B0604020202020204" pitchFamily="34" charset="0"/>
                    <a:cs typeface="Arial" panose="020B0604020202020204" pitchFamily="34" charset="0"/>
                  </a:rPr>
                  <a:t>                    n</a:t>
                </a:r>
              </a:p>
              <a:p>
                <a:pPr marL="0" indent="0" algn="just">
                  <a:lnSpc>
                    <a:spcPct val="100000"/>
                  </a:lnSpc>
                  <a:spcBef>
                    <a:spcPts val="0"/>
                  </a:spcBef>
                  <a:buNone/>
                </a:pPr>
                <a:r>
                  <a:rPr lang="es-PE" sz="1800" dirty="0">
                    <a:latin typeface="Arial" panose="020B0604020202020204" pitchFamily="34" charset="0"/>
                    <a:cs typeface="Arial" panose="020B0604020202020204" pitchFamily="34" charset="0"/>
                  </a:rPr>
                  <a:t>Entonces el intervalo de confianza para la proporción es : </a:t>
                </a:r>
              </a:p>
              <a:p>
                <a:pPr marL="0" indent="0" algn="just">
                  <a:lnSpc>
                    <a:spcPct val="100000"/>
                  </a:lnSpc>
                  <a:spcBef>
                    <a:spcPts val="0"/>
                  </a:spcBef>
                  <a:buNone/>
                </a:pPr>
                <a:r>
                  <a:rPr lang="es-PE" sz="1800" dirty="0">
                    <a:cs typeface="Arial" panose="020B0604020202020204" pitchFamily="34" charset="0"/>
                  </a:rPr>
                  <a:t>[</a:t>
                </a:r>
                <a14:m>
                  <m:oMath xmlns:m="http://schemas.openxmlformats.org/officeDocument/2006/math">
                    <m:acc>
                      <m:accPr>
                        <m:chr m:val="̅"/>
                        <m:ctrlPr>
                          <a:rPr lang="es-PE" sz="1800" i="1">
                            <a:latin typeface="Cambria Math" panose="02040503050406030204" pitchFamily="18" charset="0"/>
                            <a:cs typeface="Arial" panose="020B0604020202020204" pitchFamily="34" charset="0"/>
                          </a:rPr>
                        </m:ctrlPr>
                      </m:accPr>
                      <m:e>
                        <m:r>
                          <a:rPr lang="es-PE" sz="1800" i="1">
                            <a:latin typeface="Cambria Math" panose="02040503050406030204" pitchFamily="18" charset="0"/>
                            <a:cs typeface="Arial" panose="020B0604020202020204" pitchFamily="34" charset="0"/>
                          </a:rPr>
                          <m:t> </m:t>
                        </m:r>
                        <m:r>
                          <a:rPr lang="es-PE" sz="1800" b="0" i="1" smtClean="0">
                            <a:latin typeface="Cambria Math" panose="02040503050406030204" pitchFamily="18" charset="0"/>
                            <a:cs typeface="Arial" panose="020B0604020202020204" pitchFamily="34" charset="0"/>
                          </a:rPr>
                          <m:t>𝑝</m:t>
                        </m:r>
                      </m:e>
                    </m:acc>
                    <m:r>
                      <a:rPr lang="es-PE" sz="1800">
                        <a:latin typeface="Cambria Math" panose="02040503050406030204" pitchFamily="18" charset="0"/>
                        <a:cs typeface="Arial" panose="020B0604020202020204" pitchFamily="34" charset="0"/>
                      </a:rPr>
                      <m:t>− </m:t>
                    </m:r>
                  </m:oMath>
                </a14:m>
                <a:r>
                  <a:rPr lang="es-PE" sz="1800" dirty="0">
                    <a:latin typeface="Arial" panose="020B0604020202020204" pitchFamily="34" charset="0"/>
                    <a:cs typeface="Arial" panose="020B0604020202020204" pitchFamily="34" charset="0"/>
                  </a:rPr>
                  <a:t>Z</a:t>
                </a:r>
                <a:r>
                  <a:rPr lang="es-PE" sz="1800" baseline="-25000" dirty="0">
                    <a:latin typeface="Arial" panose="020B0604020202020204" pitchFamily="34" charset="0"/>
                    <a:cs typeface="Arial" panose="020B0604020202020204" pitchFamily="34" charset="0"/>
                  </a:rPr>
                  <a:t>1-</a:t>
                </a:r>
                <a:r>
                  <a:rPr lang="el-GR" sz="1800" baseline="-25000" dirty="0">
                    <a:latin typeface="Arial" panose="020B0604020202020204" pitchFamily="34" charset="0"/>
                    <a:cs typeface="Arial" panose="020B0604020202020204" pitchFamily="34" charset="0"/>
                  </a:rPr>
                  <a:t>α</a:t>
                </a:r>
                <a:r>
                  <a:rPr lang="es-PE" sz="1800" baseline="-25000" dirty="0">
                    <a:latin typeface="Arial" panose="020B0604020202020204" pitchFamily="34" charset="0"/>
                    <a:cs typeface="Arial" panose="020B0604020202020204" pitchFamily="34" charset="0"/>
                  </a:rPr>
                  <a:t>/2 *  </a:t>
                </a:r>
                <a14:m>
                  <m:oMath xmlns:m="http://schemas.openxmlformats.org/officeDocument/2006/math">
                    <m:rad>
                      <m:radPr>
                        <m:degHide m:val="on"/>
                        <m:ctrlPr>
                          <a:rPr lang="es-PE" sz="1800" i="1">
                            <a:latin typeface="Cambria Math" panose="02040503050406030204" pitchFamily="18" charset="0"/>
                            <a:cs typeface="Arial" panose="020B0604020202020204" pitchFamily="34" charset="0"/>
                          </a:rPr>
                        </m:ctrlPr>
                      </m:radPr>
                      <m:deg/>
                      <m:e>
                        <m:eqArr>
                          <m:eqArrPr>
                            <m:ctrlPr>
                              <a:rPr lang="es-PE" sz="1800" i="1">
                                <a:latin typeface="Cambria Math" panose="02040503050406030204" pitchFamily="18" charset="0"/>
                                <a:cs typeface="Arial" panose="020B0604020202020204" pitchFamily="34" charset="0"/>
                              </a:rPr>
                            </m:ctrlPr>
                          </m:eqArrPr>
                          <m:e>
                            <m:acc>
                              <m:accPr>
                                <m:chr m:val="̅"/>
                                <m:ctrlPr>
                                  <a:rPr lang="es-PE" sz="1800" i="1">
                                    <a:latin typeface="Cambria Math" panose="02040503050406030204" pitchFamily="18" charset="0"/>
                                    <a:cs typeface="Arial" panose="020B0604020202020204" pitchFamily="34" charset="0"/>
                                  </a:rPr>
                                </m:ctrlPr>
                              </m:accPr>
                              <m:e>
                                <m:r>
                                  <a:rPr lang="es-PE" sz="1800" i="1">
                                    <a:latin typeface="Cambria Math" panose="02040503050406030204" pitchFamily="18" charset="0"/>
                                    <a:cs typeface="Arial" panose="020B0604020202020204" pitchFamily="34" charset="0"/>
                                  </a:rPr>
                                  <m:t>𝑝</m:t>
                                </m:r>
                              </m:e>
                            </m:acc>
                            <m:r>
                              <a:rPr lang="es-PE" sz="1800" b="0" i="1" smtClean="0">
                                <a:latin typeface="Cambria Math" panose="02040503050406030204" pitchFamily="18" charset="0"/>
                                <a:cs typeface="Arial" panose="020B0604020202020204" pitchFamily="34" charset="0"/>
                              </a:rPr>
                              <m:t>(1</m:t>
                            </m:r>
                            <m:r>
                              <a:rPr lang="es-PE" sz="1800" i="1">
                                <a:latin typeface="Cambria Math" panose="02040503050406030204" pitchFamily="18" charset="0"/>
                                <a:cs typeface="Arial" panose="020B0604020202020204" pitchFamily="34" charset="0"/>
                              </a:rPr>
                              <m:t>−</m:t>
                            </m:r>
                            <m:acc>
                              <m:accPr>
                                <m:chr m:val="̅"/>
                                <m:ctrlPr>
                                  <a:rPr lang="es-PE" sz="1800" i="1">
                                    <a:latin typeface="Cambria Math" panose="02040503050406030204" pitchFamily="18" charset="0"/>
                                    <a:cs typeface="Arial" panose="020B0604020202020204" pitchFamily="34" charset="0"/>
                                  </a:rPr>
                                </m:ctrlPr>
                              </m:accPr>
                              <m:e>
                                <m:r>
                                  <a:rPr lang="es-PE" sz="1800" i="1">
                                    <a:latin typeface="Cambria Math" panose="02040503050406030204" pitchFamily="18" charset="0"/>
                                    <a:cs typeface="Arial" panose="020B0604020202020204" pitchFamily="34" charset="0"/>
                                  </a:rPr>
                                  <m:t>𝑝</m:t>
                                </m:r>
                              </m:e>
                            </m:acc>
                            <m:r>
                              <a:rPr lang="es-PE" sz="1800" b="0" i="1" smtClean="0">
                                <a:latin typeface="Cambria Math" panose="02040503050406030204" pitchFamily="18" charset="0"/>
                                <a:cs typeface="Arial" panose="020B0604020202020204" pitchFamily="34" charset="0"/>
                              </a:rPr>
                              <m:t>)</m:t>
                            </m:r>
                          </m:e>
                          <m:e>
                            <m:r>
                              <a:rPr lang="es-PE" sz="1800" b="0" i="1" smtClean="0">
                                <a:latin typeface="Cambria Math" panose="02040503050406030204" pitchFamily="18" charset="0"/>
                                <a:cs typeface="Arial" panose="020B0604020202020204" pitchFamily="34" charset="0"/>
                              </a:rPr>
                              <m:t>𝑛</m:t>
                            </m:r>
                          </m:e>
                        </m:eqArr>
                      </m:e>
                    </m:rad>
                  </m:oMath>
                </a14:m>
                <a:r>
                  <a:rPr lang="es-PE" sz="1800" dirty="0">
                    <a:latin typeface="Arial" panose="020B0604020202020204" pitchFamily="34" charset="0"/>
                    <a:cs typeface="Arial" panose="020B0604020202020204" pitchFamily="34" charset="0"/>
                  </a:rPr>
                  <a:t>   ≤ P ≤ </a:t>
                </a:r>
                <a14:m>
                  <m:oMath xmlns:m="http://schemas.openxmlformats.org/officeDocument/2006/math">
                    <m:acc>
                      <m:accPr>
                        <m:chr m:val="̅"/>
                        <m:ctrlPr>
                          <a:rPr lang="es-PE" sz="1800" i="1">
                            <a:latin typeface="Cambria Math" panose="02040503050406030204" pitchFamily="18" charset="0"/>
                            <a:cs typeface="Arial" panose="020B0604020202020204" pitchFamily="34" charset="0"/>
                          </a:rPr>
                        </m:ctrlPr>
                      </m:accPr>
                      <m:e>
                        <m:r>
                          <a:rPr lang="es-PE" sz="1800" i="1">
                            <a:latin typeface="Cambria Math" panose="02040503050406030204" pitchFamily="18" charset="0"/>
                            <a:cs typeface="Arial" panose="020B0604020202020204" pitchFamily="34" charset="0"/>
                          </a:rPr>
                          <m:t> </m:t>
                        </m:r>
                        <m:r>
                          <a:rPr lang="es-PE" sz="1800" i="1">
                            <a:latin typeface="Cambria Math" panose="02040503050406030204" pitchFamily="18" charset="0"/>
                            <a:cs typeface="Arial" panose="020B0604020202020204" pitchFamily="34" charset="0"/>
                          </a:rPr>
                          <m:t>𝑝</m:t>
                        </m:r>
                      </m:e>
                    </m:acc>
                    <m:r>
                      <a:rPr lang="es-PE" sz="1800" b="0" i="0" smtClean="0">
                        <a:latin typeface="Cambria Math" panose="02040503050406030204" pitchFamily="18" charset="0"/>
                        <a:cs typeface="Arial" panose="020B0604020202020204" pitchFamily="34" charset="0"/>
                      </a:rPr>
                      <m:t>+</m:t>
                    </m:r>
                    <m:r>
                      <a:rPr lang="es-PE" sz="1800">
                        <a:latin typeface="Cambria Math" panose="02040503050406030204" pitchFamily="18" charset="0"/>
                        <a:cs typeface="Arial" panose="020B0604020202020204" pitchFamily="34" charset="0"/>
                      </a:rPr>
                      <m:t> </m:t>
                    </m:r>
                  </m:oMath>
                </a14:m>
                <a:r>
                  <a:rPr lang="es-PE" sz="1800" dirty="0">
                    <a:latin typeface="Arial" panose="020B0604020202020204" pitchFamily="34" charset="0"/>
                    <a:cs typeface="Arial" panose="020B0604020202020204" pitchFamily="34" charset="0"/>
                  </a:rPr>
                  <a:t>Z</a:t>
                </a:r>
                <a:r>
                  <a:rPr lang="es-PE" sz="1800" baseline="-25000" dirty="0">
                    <a:latin typeface="Arial" panose="020B0604020202020204" pitchFamily="34" charset="0"/>
                    <a:cs typeface="Arial" panose="020B0604020202020204" pitchFamily="34" charset="0"/>
                  </a:rPr>
                  <a:t>1-</a:t>
                </a:r>
                <a:r>
                  <a:rPr lang="el-GR" sz="1800" baseline="-25000" dirty="0">
                    <a:latin typeface="Arial" panose="020B0604020202020204" pitchFamily="34" charset="0"/>
                    <a:cs typeface="Arial" panose="020B0604020202020204" pitchFamily="34" charset="0"/>
                  </a:rPr>
                  <a:t>α</a:t>
                </a:r>
                <a:r>
                  <a:rPr lang="es-PE" sz="1800" baseline="-25000" dirty="0">
                    <a:latin typeface="Arial" panose="020B0604020202020204" pitchFamily="34" charset="0"/>
                    <a:cs typeface="Arial" panose="020B0604020202020204" pitchFamily="34" charset="0"/>
                  </a:rPr>
                  <a:t>/2 *  </a:t>
                </a:r>
                <a14:m>
                  <m:oMath xmlns:m="http://schemas.openxmlformats.org/officeDocument/2006/math">
                    <m:rad>
                      <m:radPr>
                        <m:degHide m:val="on"/>
                        <m:ctrlPr>
                          <a:rPr lang="es-PE" sz="1800" i="1">
                            <a:latin typeface="Cambria Math" panose="02040503050406030204" pitchFamily="18" charset="0"/>
                            <a:cs typeface="Arial" panose="020B0604020202020204" pitchFamily="34" charset="0"/>
                          </a:rPr>
                        </m:ctrlPr>
                      </m:radPr>
                      <m:deg/>
                      <m:e>
                        <m:eqArr>
                          <m:eqArrPr>
                            <m:ctrlPr>
                              <a:rPr lang="es-PE" sz="1800" i="1">
                                <a:latin typeface="Cambria Math" panose="02040503050406030204" pitchFamily="18" charset="0"/>
                                <a:cs typeface="Arial" panose="020B0604020202020204" pitchFamily="34" charset="0"/>
                              </a:rPr>
                            </m:ctrlPr>
                          </m:eqArrPr>
                          <m:e>
                            <m:acc>
                              <m:accPr>
                                <m:chr m:val="̅"/>
                                <m:ctrlPr>
                                  <a:rPr lang="es-PE" sz="1800" i="1">
                                    <a:latin typeface="Cambria Math" panose="02040503050406030204" pitchFamily="18" charset="0"/>
                                    <a:cs typeface="Arial" panose="020B0604020202020204" pitchFamily="34" charset="0"/>
                                  </a:rPr>
                                </m:ctrlPr>
                              </m:accPr>
                              <m:e>
                                <m:r>
                                  <a:rPr lang="es-PE" sz="1800" i="1">
                                    <a:latin typeface="Cambria Math" panose="02040503050406030204" pitchFamily="18" charset="0"/>
                                    <a:cs typeface="Arial" panose="020B0604020202020204" pitchFamily="34" charset="0"/>
                                  </a:rPr>
                                  <m:t>𝑝</m:t>
                                </m:r>
                              </m:e>
                            </m:acc>
                            <m:r>
                              <a:rPr lang="es-PE" sz="1800" i="1">
                                <a:latin typeface="Cambria Math" panose="02040503050406030204" pitchFamily="18" charset="0"/>
                                <a:cs typeface="Arial" panose="020B0604020202020204" pitchFamily="34" charset="0"/>
                              </a:rPr>
                              <m:t>(1−</m:t>
                            </m:r>
                            <m:acc>
                              <m:accPr>
                                <m:chr m:val="̅"/>
                                <m:ctrlPr>
                                  <a:rPr lang="es-PE" sz="1800" i="1">
                                    <a:latin typeface="Cambria Math" panose="02040503050406030204" pitchFamily="18" charset="0"/>
                                    <a:cs typeface="Arial" panose="020B0604020202020204" pitchFamily="34" charset="0"/>
                                  </a:rPr>
                                </m:ctrlPr>
                              </m:accPr>
                              <m:e>
                                <m:r>
                                  <a:rPr lang="es-PE" sz="1800" i="1">
                                    <a:latin typeface="Cambria Math" panose="02040503050406030204" pitchFamily="18" charset="0"/>
                                    <a:cs typeface="Arial" panose="020B0604020202020204" pitchFamily="34" charset="0"/>
                                  </a:rPr>
                                  <m:t>𝑝</m:t>
                                </m:r>
                              </m:e>
                            </m:acc>
                            <m:r>
                              <a:rPr lang="es-PE" sz="1800" i="1">
                                <a:latin typeface="Cambria Math" panose="02040503050406030204" pitchFamily="18" charset="0"/>
                                <a:cs typeface="Arial" panose="020B0604020202020204" pitchFamily="34" charset="0"/>
                              </a:rPr>
                              <m:t>)</m:t>
                            </m:r>
                          </m:e>
                          <m:e>
                            <m:r>
                              <a:rPr lang="es-PE" sz="1800" i="1">
                                <a:latin typeface="Cambria Math" panose="02040503050406030204" pitchFamily="18" charset="0"/>
                                <a:cs typeface="Arial" panose="020B0604020202020204" pitchFamily="34" charset="0"/>
                              </a:rPr>
                              <m:t>𝑛</m:t>
                            </m:r>
                          </m:e>
                        </m:eqArr>
                      </m:e>
                    </m:rad>
                  </m:oMath>
                </a14:m>
                <a:r>
                  <a:rPr lang="es-PE" sz="1800" dirty="0">
                    <a:latin typeface="Arial" panose="020B0604020202020204" pitchFamily="34" charset="0"/>
                    <a:cs typeface="Arial" panose="020B0604020202020204" pitchFamily="34" charset="0"/>
                  </a:rPr>
                  <a:t>  ] = 1- </a:t>
                </a:r>
                <a:r>
                  <a:rPr lang="el-GR" sz="1800" dirty="0">
                    <a:latin typeface="Arial" panose="020B0604020202020204" pitchFamily="34" charset="0"/>
                    <a:cs typeface="Arial" panose="020B0604020202020204" pitchFamily="34" charset="0"/>
                  </a:rPr>
                  <a:t>α</a:t>
                </a:r>
                <a:endParaRPr lang="es-PE" sz="1800" dirty="0">
                  <a:latin typeface="Arial" panose="020B0604020202020204" pitchFamily="34" charset="0"/>
                  <a:cs typeface="Arial" panose="020B0604020202020204" pitchFamily="34" charset="0"/>
                </a:endParaRPr>
              </a:p>
              <a:p>
                <a:pPr marL="0" indent="0" algn="just">
                  <a:buNone/>
                </a:pPr>
                <a:r>
                  <a:rPr lang="es-PE" dirty="0">
                    <a:solidFill>
                      <a:srgbClr val="FF0000"/>
                    </a:solidFill>
                    <a:latin typeface="Arial" panose="020B0604020202020204" pitchFamily="34" charset="0"/>
                    <a:cs typeface="Arial" panose="020B0604020202020204" pitchFamily="34" charset="0"/>
                  </a:rPr>
                  <a:t>Sol :</a:t>
                </a:r>
              </a:p>
              <a:p>
                <a:pPr marL="0" indent="0" algn="just">
                  <a:buNone/>
                </a:pPr>
                <a:endParaRPr lang="es-PE" dirty="0">
                  <a:latin typeface="Arial" panose="020B0604020202020204" pitchFamily="34" charset="0"/>
                  <a:cs typeface="Arial" panose="020B0604020202020204" pitchFamily="34" charset="0"/>
                </a:endParaRPr>
              </a:p>
            </p:txBody>
          </p:sp>
        </mc:Choice>
        <mc:Fallback>
          <p:sp>
            <p:nvSpPr>
              <p:cNvPr id="3" name="Marcador de contenido 2"/>
              <p:cNvSpPr>
                <a:spLocks noGrp="1" noRot="1" noChangeAspect="1" noMove="1" noResize="1" noEditPoints="1" noAdjustHandles="1" noChangeArrowheads="1" noChangeShapeType="1" noTextEdit="1"/>
              </p:cNvSpPr>
              <p:nvPr>
                <p:ph idx="1"/>
              </p:nvPr>
            </p:nvSpPr>
            <p:spPr>
              <a:xfrm>
                <a:off x="228600" y="304800"/>
                <a:ext cx="8763000" cy="6400800"/>
              </a:xfrm>
              <a:blipFill>
                <a:blip r:embed="rId2"/>
                <a:stretch>
                  <a:fillRect l="-765" r="-557"/>
                </a:stretch>
              </a:blipFill>
            </p:spPr>
            <p:txBody>
              <a:bodyPr/>
              <a:lstStyle/>
              <a:p>
                <a:r>
                  <a:rPr lang="es-PE">
                    <a:noFill/>
                  </a:rPr>
                  <a:t> </a:t>
                </a:r>
              </a:p>
            </p:txBody>
          </p:sp>
        </mc:Fallback>
      </mc:AlternateContent>
      <p:cxnSp>
        <p:nvCxnSpPr>
          <p:cNvPr id="5" name="Conector recto 4"/>
          <p:cNvCxnSpPr/>
          <p:nvPr/>
        </p:nvCxnSpPr>
        <p:spPr>
          <a:xfrm>
            <a:off x="1447800" y="2133600"/>
            <a:ext cx="762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Conector recto 6"/>
          <p:cNvCxnSpPr/>
          <p:nvPr/>
        </p:nvCxnSpPr>
        <p:spPr>
          <a:xfrm>
            <a:off x="1648326" y="3048000"/>
            <a:ext cx="838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Conector recto 7"/>
          <p:cNvCxnSpPr/>
          <p:nvPr/>
        </p:nvCxnSpPr>
        <p:spPr>
          <a:xfrm>
            <a:off x="4572000" y="3048000"/>
            <a:ext cx="838200" cy="0"/>
          </a:xfrm>
          <a:prstGeom prst="line">
            <a:avLst/>
          </a:prstGeom>
        </p:spPr>
        <p:style>
          <a:lnRef idx="1">
            <a:schemeClr val="accent1"/>
          </a:lnRef>
          <a:fillRef idx="0">
            <a:schemeClr val="accent1"/>
          </a:fillRef>
          <a:effectRef idx="0">
            <a:schemeClr val="accent1"/>
          </a:effectRef>
          <a:fontRef idx="minor">
            <a:schemeClr val="tx1"/>
          </a:fontRef>
        </p:style>
      </p:cxnSp>
      <p:pic>
        <p:nvPicPr>
          <p:cNvPr id="9" name="Imagen 8"/>
          <p:cNvPicPr/>
          <p:nvPr/>
        </p:nvPicPr>
        <p:blipFill rotWithShape="1">
          <a:blip r:embed="rId3"/>
          <a:srcRect l="17639" t="22275" r="17980" b="10897"/>
          <a:stretch/>
        </p:blipFill>
        <p:spPr bwMode="auto">
          <a:xfrm>
            <a:off x="6553200" y="3733800"/>
            <a:ext cx="2632166" cy="3124200"/>
          </a:xfrm>
          <a:prstGeom prst="rect">
            <a:avLst/>
          </a:prstGeom>
          <a:ln>
            <a:noFill/>
          </a:ln>
          <a:extLst>
            <a:ext uri="{53640926-AAD7-44D8-BBD7-CCE9431645EC}">
              <a14:shadowObscured xmlns:a14="http://schemas.microsoft.com/office/drawing/2010/main"/>
            </a:ext>
          </a:extLst>
        </p:spPr>
      </p:pic>
      <p:pic>
        <p:nvPicPr>
          <p:cNvPr id="4" name="Imagen 3">
            <a:extLst>
              <a:ext uri="{FF2B5EF4-FFF2-40B4-BE49-F238E27FC236}">
                <a16:creationId xmlns:a16="http://schemas.microsoft.com/office/drawing/2014/main" id="{BC8193FC-D496-4965-B5C8-12A2986F3A4D}"/>
              </a:ext>
            </a:extLst>
          </p:cNvPr>
          <p:cNvPicPr>
            <a:picLocks noChangeAspect="1"/>
          </p:cNvPicPr>
          <p:nvPr/>
        </p:nvPicPr>
        <p:blipFill rotWithShape="1">
          <a:blip r:embed="rId4"/>
          <a:srcRect r="2939"/>
          <a:stretch/>
        </p:blipFill>
        <p:spPr>
          <a:xfrm>
            <a:off x="34835" y="3733800"/>
            <a:ext cx="6670765" cy="3124199"/>
          </a:xfrm>
          <a:prstGeom prst="rect">
            <a:avLst/>
          </a:prstGeom>
        </p:spPr>
      </p:pic>
    </p:spTree>
    <p:extLst>
      <p:ext uri="{BB962C8B-B14F-4D97-AF65-F5344CB8AC3E}">
        <p14:creationId xmlns:p14="http://schemas.microsoft.com/office/powerpoint/2010/main" val="24049757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228600" y="304800"/>
            <a:ext cx="8763000" cy="6400800"/>
          </a:xfrm>
        </p:spPr>
        <p:txBody>
          <a:bodyPr>
            <a:normAutofit/>
          </a:bodyPr>
          <a:lstStyle/>
          <a:p>
            <a:pPr marL="0" indent="0" algn="just">
              <a:buNone/>
            </a:pPr>
            <a:r>
              <a:rPr lang="es-PE" sz="2000" b="1" dirty="0">
                <a:solidFill>
                  <a:srgbClr val="0070C0"/>
                </a:solidFill>
                <a:latin typeface="Arial" panose="020B0604020202020204" pitchFamily="34" charset="0"/>
                <a:cs typeface="Arial" panose="020B0604020202020204" pitchFamily="34" charset="0"/>
              </a:rPr>
              <a:t>INTERVALO DE CONFIANZA PARA UNA PROPORCION</a:t>
            </a:r>
          </a:p>
          <a:p>
            <a:pPr marL="0" indent="0" algn="just">
              <a:buNone/>
            </a:pPr>
            <a:endParaRPr lang="es-PE" dirty="0">
              <a:latin typeface="Arial" panose="020B0604020202020204" pitchFamily="34" charset="0"/>
              <a:cs typeface="Arial" panose="020B0604020202020204" pitchFamily="34" charset="0"/>
            </a:endParaRPr>
          </a:p>
          <a:p>
            <a:pPr marL="0" indent="0" algn="just">
              <a:buNone/>
            </a:pPr>
            <a:endParaRPr lang="es-PE" dirty="0">
              <a:latin typeface="Arial" panose="020B0604020202020204" pitchFamily="34" charset="0"/>
              <a:cs typeface="Arial" panose="020B0604020202020204" pitchFamily="34" charset="0"/>
            </a:endParaRPr>
          </a:p>
          <a:p>
            <a:pPr marL="0" indent="0" algn="just">
              <a:buNone/>
            </a:pPr>
            <a:endParaRPr lang="es-PE" dirty="0">
              <a:latin typeface="Arial" panose="020B0604020202020204" pitchFamily="34" charset="0"/>
              <a:cs typeface="Arial" panose="020B0604020202020204" pitchFamily="34" charset="0"/>
            </a:endParaRPr>
          </a:p>
          <a:p>
            <a:pPr marL="0" indent="0" algn="just">
              <a:buNone/>
            </a:pPr>
            <a:endParaRPr lang="es-PE" dirty="0">
              <a:latin typeface="Arial" panose="020B0604020202020204" pitchFamily="34" charset="0"/>
              <a:cs typeface="Arial" panose="020B0604020202020204" pitchFamily="34" charset="0"/>
            </a:endParaRPr>
          </a:p>
          <a:p>
            <a:pPr marL="0" indent="0" algn="just">
              <a:buNone/>
            </a:pPr>
            <a:endParaRPr lang="es-PE" dirty="0">
              <a:latin typeface="Arial" panose="020B0604020202020204" pitchFamily="34" charset="0"/>
              <a:cs typeface="Arial" panose="020B0604020202020204" pitchFamily="34" charset="0"/>
            </a:endParaRPr>
          </a:p>
          <a:p>
            <a:pPr marL="0" indent="0" algn="just">
              <a:buNone/>
            </a:pPr>
            <a:endParaRPr lang="es-PE" dirty="0">
              <a:latin typeface="Arial" panose="020B0604020202020204" pitchFamily="34" charset="0"/>
              <a:cs typeface="Arial" panose="020B0604020202020204" pitchFamily="34" charset="0"/>
            </a:endParaRPr>
          </a:p>
          <a:p>
            <a:pPr marL="0" indent="0" algn="just">
              <a:buNone/>
            </a:pPr>
            <a:endParaRPr lang="es-PE" dirty="0">
              <a:latin typeface="Arial" panose="020B0604020202020204" pitchFamily="34" charset="0"/>
              <a:cs typeface="Arial" panose="020B0604020202020204" pitchFamily="34" charset="0"/>
            </a:endParaRPr>
          </a:p>
          <a:p>
            <a:pPr marL="0" indent="0" algn="just">
              <a:buNone/>
            </a:pPr>
            <a:r>
              <a:rPr lang="es-PE" dirty="0">
                <a:solidFill>
                  <a:srgbClr val="FF0000"/>
                </a:solidFill>
                <a:latin typeface="Arial" panose="020B0604020202020204" pitchFamily="34" charset="0"/>
                <a:cs typeface="Arial" panose="020B0604020202020204" pitchFamily="34" charset="0"/>
              </a:rPr>
              <a:t>Ej1</a:t>
            </a:r>
            <a:r>
              <a:rPr lang="es-PE" dirty="0">
                <a:latin typeface="Arial" panose="020B0604020202020204" pitchFamily="34" charset="0"/>
                <a:cs typeface="Arial" panose="020B0604020202020204" pitchFamily="34" charset="0"/>
              </a:rPr>
              <a:t> :Una encuestadora utilizo una muestra aleatoria de 600 electores que acaban de votar y encontró que 240 votaron A favor del candidato A.</a:t>
            </a:r>
          </a:p>
          <a:p>
            <a:pPr marL="0" indent="0" algn="just">
              <a:buNone/>
            </a:pPr>
            <a:r>
              <a:rPr lang="es-PE" dirty="0">
                <a:latin typeface="Arial" panose="020B0604020202020204" pitchFamily="34" charset="0"/>
                <a:cs typeface="Arial" panose="020B0604020202020204" pitchFamily="34" charset="0"/>
              </a:rPr>
              <a:t>a) Estimar el % de electores a favor del candidato A,</a:t>
            </a:r>
          </a:p>
          <a:p>
            <a:pPr marL="0" indent="0" algn="just">
              <a:buNone/>
            </a:pPr>
            <a:r>
              <a:rPr lang="es-PE" dirty="0">
                <a:latin typeface="Arial" panose="020B0604020202020204" pitchFamily="34" charset="0"/>
                <a:cs typeface="Arial" panose="020B0604020202020204" pitchFamily="34" charset="0"/>
              </a:rPr>
              <a:t> utilice un nivel de significancia del 5%.</a:t>
            </a:r>
          </a:p>
          <a:p>
            <a:pPr marL="0" indent="0" algn="just">
              <a:buNone/>
            </a:pPr>
            <a:r>
              <a:rPr lang="es-PE" dirty="0">
                <a:solidFill>
                  <a:srgbClr val="FF0000"/>
                </a:solidFill>
                <a:latin typeface="Arial" panose="020B0604020202020204" pitchFamily="34" charset="0"/>
                <a:cs typeface="Arial" panose="020B0604020202020204" pitchFamily="34" charset="0"/>
              </a:rPr>
              <a:t>Sol :</a:t>
            </a:r>
          </a:p>
          <a:p>
            <a:pPr marL="0" indent="0" algn="just">
              <a:buNone/>
            </a:pPr>
            <a:endParaRPr lang="es-PE" dirty="0">
              <a:latin typeface="Arial" panose="020B0604020202020204" pitchFamily="34" charset="0"/>
              <a:cs typeface="Arial" panose="020B0604020202020204" pitchFamily="34" charset="0"/>
            </a:endParaRPr>
          </a:p>
        </p:txBody>
      </p:sp>
      <p:pic>
        <p:nvPicPr>
          <p:cNvPr id="9" name="Imagen 8"/>
          <p:cNvPicPr/>
          <p:nvPr/>
        </p:nvPicPr>
        <p:blipFill rotWithShape="1">
          <a:blip r:embed="rId2"/>
          <a:srcRect l="17639" t="22275" r="17980" b="10897"/>
          <a:stretch/>
        </p:blipFill>
        <p:spPr bwMode="auto">
          <a:xfrm>
            <a:off x="5592049" y="5638800"/>
            <a:ext cx="3241766" cy="914400"/>
          </a:xfrm>
          <a:prstGeom prst="rect">
            <a:avLst/>
          </a:prstGeom>
          <a:ln>
            <a:noFill/>
          </a:ln>
          <a:extLst>
            <a:ext uri="{53640926-AAD7-44D8-BBD7-CCE9431645EC}">
              <a14:shadowObscured xmlns:a14="http://schemas.microsoft.com/office/drawing/2010/main"/>
            </a:ext>
          </a:extLst>
        </p:spPr>
      </p:pic>
      <p:pic>
        <p:nvPicPr>
          <p:cNvPr id="4" name="Imagen 3">
            <a:extLst>
              <a:ext uri="{FF2B5EF4-FFF2-40B4-BE49-F238E27FC236}">
                <a16:creationId xmlns:a16="http://schemas.microsoft.com/office/drawing/2014/main" id="{923A5BEA-0242-4BE9-B4DF-C93D07CEAF77}"/>
              </a:ext>
            </a:extLst>
          </p:cNvPr>
          <p:cNvPicPr>
            <a:picLocks noChangeAspect="1"/>
          </p:cNvPicPr>
          <p:nvPr/>
        </p:nvPicPr>
        <p:blipFill>
          <a:blip r:embed="rId3"/>
          <a:stretch>
            <a:fillRect/>
          </a:stretch>
        </p:blipFill>
        <p:spPr>
          <a:xfrm>
            <a:off x="152400" y="24063"/>
            <a:ext cx="8991600" cy="4239217"/>
          </a:xfrm>
          <a:prstGeom prst="rect">
            <a:avLst/>
          </a:prstGeom>
        </p:spPr>
      </p:pic>
    </p:spTree>
    <p:extLst>
      <p:ext uri="{BB962C8B-B14F-4D97-AF65-F5344CB8AC3E}">
        <p14:creationId xmlns:p14="http://schemas.microsoft.com/office/powerpoint/2010/main" val="7768724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015F35FD-9984-432D-8259-EA6A7FF905D7}"/>
              </a:ext>
            </a:extLst>
          </p:cNvPr>
          <p:cNvSpPr>
            <a:spLocks noGrp="1"/>
          </p:cNvSpPr>
          <p:nvPr>
            <p:ph idx="1"/>
          </p:nvPr>
        </p:nvSpPr>
        <p:spPr>
          <a:xfrm>
            <a:off x="0" y="152400"/>
            <a:ext cx="6571343" cy="420169"/>
          </a:xfrm>
        </p:spPr>
        <p:txBody>
          <a:bodyPr>
            <a:normAutofit lnSpcReduction="10000"/>
          </a:bodyPr>
          <a:lstStyle/>
          <a:p>
            <a:pPr marL="0" indent="0">
              <a:buNone/>
            </a:pPr>
            <a:r>
              <a:rPr lang="es-ES" dirty="0" err="1">
                <a:solidFill>
                  <a:srgbClr val="FF0000"/>
                </a:solidFill>
              </a:rPr>
              <a:t>Ej</a:t>
            </a:r>
            <a:r>
              <a:rPr lang="es-ES" dirty="0">
                <a:solidFill>
                  <a:srgbClr val="FF0000"/>
                </a:solidFill>
              </a:rPr>
              <a:t> 2</a:t>
            </a:r>
            <a:endParaRPr lang="es-PE" dirty="0">
              <a:solidFill>
                <a:srgbClr val="FF0000"/>
              </a:solidFill>
            </a:endParaRPr>
          </a:p>
        </p:txBody>
      </p:sp>
      <p:pic>
        <p:nvPicPr>
          <p:cNvPr id="5" name="Imagen 4">
            <a:extLst>
              <a:ext uri="{FF2B5EF4-FFF2-40B4-BE49-F238E27FC236}">
                <a16:creationId xmlns:a16="http://schemas.microsoft.com/office/drawing/2014/main" id="{39CC2F98-1E02-4D08-98D0-0E7A93D3EC5C}"/>
              </a:ext>
            </a:extLst>
          </p:cNvPr>
          <p:cNvPicPr>
            <a:picLocks noChangeAspect="1"/>
          </p:cNvPicPr>
          <p:nvPr/>
        </p:nvPicPr>
        <p:blipFill>
          <a:blip r:embed="rId2"/>
          <a:stretch>
            <a:fillRect/>
          </a:stretch>
        </p:blipFill>
        <p:spPr>
          <a:xfrm>
            <a:off x="36226" y="548835"/>
            <a:ext cx="7677150" cy="2515646"/>
          </a:xfrm>
          <a:prstGeom prst="rect">
            <a:avLst/>
          </a:prstGeom>
        </p:spPr>
      </p:pic>
      <p:sp>
        <p:nvSpPr>
          <p:cNvPr id="6" name="Marcador de contenido 2">
            <a:extLst>
              <a:ext uri="{FF2B5EF4-FFF2-40B4-BE49-F238E27FC236}">
                <a16:creationId xmlns:a16="http://schemas.microsoft.com/office/drawing/2014/main" id="{DF76F51B-F239-4284-B1B0-8E5EAF232857}"/>
              </a:ext>
            </a:extLst>
          </p:cNvPr>
          <p:cNvSpPr txBox="1">
            <a:spLocks/>
          </p:cNvSpPr>
          <p:nvPr/>
        </p:nvSpPr>
        <p:spPr>
          <a:xfrm>
            <a:off x="-23734" y="2895600"/>
            <a:ext cx="6571343" cy="647971"/>
          </a:xfrm>
          <a:prstGeom prst="rect">
            <a:avLst/>
          </a:prstGeom>
        </p:spPr>
        <p:txBody>
          <a:bodyPr vert="horz" lIns="91440" tIns="45720" rIns="91440" bIns="45720" rtlCol="0" anchor="t">
            <a:normAutofit/>
          </a:bodyPr>
          <a:lstStyle>
            <a:lvl1pPr marL="228600" indent="-228600" algn="l" defTabSz="685800" rtl="0" eaLnBrk="1" latinLnBrk="0" hangingPunct="1">
              <a:lnSpc>
                <a:spcPct val="120000"/>
              </a:lnSpc>
              <a:spcBef>
                <a:spcPts val="1000"/>
              </a:spcBef>
              <a:buClr>
                <a:schemeClr val="accent1"/>
              </a:buClr>
              <a:buSzPct val="100000"/>
              <a:buFont typeface="Arial" panose="020B0604020202020204" pitchFamily="34" charset="0"/>
              <a:buChar char="•"/>
              <a:defRPr sz="2000" kern="1200" cap="none">
                <a:solidFill>
                  <a:schemeClr val="tx1"/>
                </a:solidFill>
                <a:effectLst/>
                <a:latin typeface="+mn-lt"/>
                <a:ea typeface="+mn-ea"/>
                <a:cs typeface="+mn-cs"/>
              </a:defRPr>
            </a:lvl1pPr>
            <a:lvl2pPr marL="6858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baseline="0">
                <a:solidFill>
                  <a:schemeClr val="tx1"/>
                </a:solidFill>
                <a:effectLst/>
                <a:latin typeface="+mn-lt"/>
                <a:ea typeface="+mn-ea"/>
                <a:cs typeface="+mn-cs"/>
              </a:defRPr>
            </a:lvl2pPr>
            <a:lvl3pPr marL="11430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a:solidFill>
                  <a:schemeClr val="tx1"/>
                </a:solidFill>
                <a:effectLst/>
                <a:latin typeface="+mn-lt"/>
                <a:ea typeface="+mn-ea"/>
                <a:cs typeface="+mn-cs"/>
              </a:defRPr>
            </a:lvl3pPr>
            <a:lvl4pPr marL="16002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200" kern="1200" cap="none">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marL="0" indent="0">
              <a:buFont typeface="Arial" panose="020B0604020202020204" pitchFamily="34" charset="0"/>
              <a:buNone/>
            </a:pPr>
            <a:r>
              <a:rPr lang="es-ES" dirty="0">
                <a:solidFill>
                  <a:srgbClr val="FF0000"/>
                </a:solidFill>
              </a:rPr>
              <a:t>Sol</a:t>
            </a:r>
            <a:endParaRPr lang="es-PE" dirty="0">
              <a:solidFill>
                <a:srgbClr val="FF0000"/>
              </a:solidFill>
            </a:endParaRPr>
          </a:p>
        </p:txBody>
      </p:sp>
      <p:pic>
        <p:nvPicPr>
          <p:cNvPr id="8" name="Imagen 7">
            <a:extLst>
              <a:ext uri="{FF2B5EF4-FFF2-40B4-BE49-F238E27FC236}">
                <a16:creationId xmlns:a16="http://schemas.microsoft.com/office/drawing/2014/main" id="{234D6E23-B8F9-423F-9CBE-5485C18F3053}"/>
              </a:ext>
            </a:extLst>
          </p:cNvPr>
          <p:cNvPicPr>
            <a:picLocks noChangeAspect="1"/>
          </p:cNvPicPr>
          <p:nvPr/>
        </p:nvPicPr>
        <p:blipFill>
          <a:blip r:embed="rId3"/>
          <a:stretch>
            <a:fillRect/>
          </a:stretch>
        </p:blipFill>
        <p:spPr>
          <a:xfrm>
            <a:off x="0" y="4326978"/>
            <a:ext cx="8410575" cy="1083221"/>
          </a:xfrm>
          <a:prstGeom prst="rect">
            <a:avLst/>
          </a:prstGeom>
        </p:spPr>
      </p:pic>
      <p:sp>
        <p:nvSpPr>
          <p:cNvPr id="9" name="Marcador de contenido 2">
            <a:extLst>
              <a:ext uri="{FF2B5EF4-FFF2-40B4-BE49-F238E27FC236}">
                <a16:creationId xmlns:a16="http://schemas.microsoft.com/office/drawing/2014/main" id="{130205F7-21D0-47D6-8830-4748E9DE695F}"/>
              </a:ext>
            </a:extLst>
          </p:cNvPr>
          <p:cNvSpPr txBox="1">
            <a:spLocks/>
          </p:cNvSpPr>
          <p:nvPr/>
        </p:nvSpPr>
        <p:spPr>
          <a:xfrm>
            <a:off x="36226" y="3793519"/>
            <a:ext cx="6571343" cy="420169"/>
          </a:xfrm>
          <a:prstGeom prst="rect">
            <a:avLst/>
          </a:prstGeom>
        </p:spPr>
        <p:txBody>
          <a:bodyPr vert="horz" lIns="91440" tIns="45720" rIns="91440" bIns="45720" rtlCol="0" anchor="t">
            <a:normAutofit lnSpcReduction="10000"/>
          </a:bodyPr>
          <a:lstStyle>
            <a:lvl1pPr marL="228600" indent="-228600" algn="l" defTabSz="685800" rtl="0" eaLnBrk="1" latinLnBrk="0" hangingPunct="1">
              <a:lnSpc>
                <a:spcPct val="120000"/>
              </a:lnSpc>
              <a:spcBef>
                <a:spcPts val="1000"/>
              </a:spcBef>
              <a:buClr>
                <a:schemeClr val="accent1"/>
              </a:buClr>
              <a:buSzPct val="100000"/>
              <a:buFont typeface="Arial" panose="020B0604020202020204" pitchFamily="34" charset="0"/>
              <a:buChar char="•"/>
              <a:defRPr sz="2000" kern="1200" cap="none">
                <a:solidFill>
                  <a:schemeClr val="tx1"/>
                </a:solidFill>
                <a:effectLst/>
                <a:latin typeface="+mn-lt"/>
                <a:ea typeface="+mn-ea"/>
                <a:cs typeface="+mn-cs"/>
              </a:defRPr>
            </a:lvl1pPr>
            <a:lvl2pPr marL="6858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baseline="0">
                <a:solidFill>
                  <a:schemeClr val="tx1"/>
                </a:solidFill>
                <a:effectLst/>
                <a:latin typeface="+mn-lt"/>
                <a:ea typeface="+mn-ea"/>
                <a:cs typeface="+mn-cs"/>
              </a:defRPr>
            </a:lvl2pPr>
            <a:lvl3pPr marL="11430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a:solidFill>
                  <a:schemeClr val="tx1"/>
                </a:solidFill>
                <a:effectLst/>
                <a:latin typeface="+mn-lt"/>
                <a:ea typeface="+mn-ea"/>
                <a:cs typeface="+mn-cs"/>
              </a:defRPr>
            </a:lvl3pPr>
            <a:lvl4pPr marL="16002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200" kern="1200" cap="none">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marL="0" indent="0">
              <a:buFont typeface="Arial" panose="020B0604020202020204" pitchFamily="34" charset="0"/>
              <a:buNone/>
            </a:pPr>
            <a:r>
              <a:rPr lang="es-ES" dirty="0" err="1">
                <a:solidFill>
                  <a:srgbClr val="FF0000"/>
                </a:solidFill>
              </a:rPr>
              <a:t>Ej</a:t>
            </a:r>
            <a:r>
              <a:rPr lang="es-ES" dirty="0">
                <a:solidFill>
                  <a:srgbClr val="FF0000"/>
                </a:solidFill>
              </a:rPr>
              <a:t> 3</a:t>
            </a:r>
            <a:endParaRPr lang="es-PE" dirty="0">
              <a:solidFill>
                <a:srgbClr val="FF0000"/>
              </a:solidFill>
            </a:endParaRPr>
          </a:p>
        </p:txBody>
      </p:sp>
      <p:sp>
        <p:nvSpPr>
          <p:cNvPr id="10" name="Marcador de contenido 2">
            <a:extLst>
              <a:ext uri="{FF2B5EF4-FFF2-40B4-BE49-F238E27FC236}">
                <a16:creationId xmlns:a16="http://schemas.microsoft.com/office/drawing/2014/main" id="{C7217982-504F-4C61-A50B-FC183C832F91}"/>
              </a:ext>
            </a:extLst>
          </p:cNvPr>
          <p:cNvSpPr txBox="1">
            <a:spLocks/>
          </p:cNvSpPr>
          <p:nvPr/>
        </p:nvSpPr>
        <p:spPr>
          <a:xfrm>
            <a:off x="26233" y="5523489"/>
            <a:ext cx="6571343" cy="420169"/>
          </a:xfrm>
          <a:prstGeom prst="rect">
            <a:avLst/>
          </a:prstGeom>
        </p:spPr>
        <p:txBody>
          <a:bodyPr vert="horz" lIns="91440" tIns="45720" rIns="91440" bIns="45720" rtlCol="0" anchor="t">
            <a:normAutofit lnSpcReduction="10000"/>
          </a:bodyPr>
          <a:lstStyle>
            <a:lvl1pPr marL="228600" indent="-228600" algn="l" defTabSz="685800" rtl="0" eaLnBrk="1" latinLnBrk="0" hangingPunct="1">
              <a:lnSpc>
                <a:spcPct val="120000"/>
              </a:lnSpc>
              <a:spcBef>
                <a:spcPts val="1000"/>
              </a:spcBef>
              <a:buClr>
                <a:schemeClr val="accent1"/>
              </a:buClr>
              <a:buSzPct val="100000"/>
              <a:buFont typeface="Arial" panose="020B0604020202020204" pitchFamily="34" charset="0"/>
              <a:buChar char="•"/>
              <a:defRPr sz="2000" kern="1200" cap="none">
                <a:solidFill>
                  <a:schemeClr val="tx1"/>
                </a:solidFill>
                <a:effectLst/>
                <a:latin typeface="+mn-lt"/>
                <a:ea typeface="+mn-ea"/>
                <a:cs typeface="+mn-cs"/>
              </a:defRPr>
            </a:lvl1pPr>
            <a:lvl2pPr marL="6858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baseline="0">
                <a:solidFill>
                  <a:schemeClr val="tx1"/>
                </a:solidFill>
                <a:effectLst/>
                <a:latin typeface="+mn-lt"/>
                <a:ea typeface="+mn-ea"/>
                <a:cs typeface="+mn-cs"/>
              </a:defRPr>
            </a:lvl2pPr>
            <a:lvl3pPr marL="11430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a:solidFill>
                  <a:schemeClr val="tx1"/>
                </a:solidFill>
                <a:effectLst/>
                <a:latin typeface="+mn-lt"/>
                <a:ea typeface="+mn-ea"/>
                <a:cs typeface="+mn-cs"/>
              </a:defRPr>
            </a:lvl3pPr>
            <a:lvl4pPr marL="16002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200" kern="1200" cap="none">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marL="0" indent="0">
              <a:buFont typeface="Arial" panose="020B0604020202020204" pitchFamily="34" charset="0"/>
              <a:buNone/>
            </a:pPr>
            <a:r>
              <a:rPr lang="es-ES" dirty="0">
                <a:solidFill>
                  <a:srgbClr val="FF0000"/>
                </a:solidFill>
              </a:rPr>
              <a:t>Sol</a:t>
            </a:r>
            <a:endParaRPr lang="es-PE" dirty="0">
              <a:solidFill>
                <a:srgbClr val="FF0000"/>
              </a:solidFill>
            </a:endParaRPr>
          </a:p>
        </p:txBody>
      </p:sp>
    </p:spTree>
    <p:extLst>
      <p:ext uri="{BB962C8B-B14F-4D97-AF65-F5344CB8AC3E}">
        <p14:creationId xmlns:p14="http://schemas.microsoft.com/office/powerpoint/2010/main" val="4768089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228600" y="228600"/>
            <a:ext cx="8534400" cy="5867400"/>
          </a:xfrm>
        </p:spPr>
        <p:txBody>
          <a:bodyPr/>
          <a:lstStyle/>
          <a:p>
            <a:pPr marL="0" indent="0" algn="just">
              <a:buNone/>
            </a:pPr>
            <a:r>
              <a:rPr lang="es-PE" sz="2000" dirty="0" err="1">
                <a:solidFill>
                  <a:srgbClr val="FF0000"/>
                </a:solidFill>
                <a:latin typeface="Arial" panose="020B0604020202020204" pitchFamily="34" charset="0"/>
                <a:cs typeface="Arial" panose="020B0604020202020204" pitchFamily="34" charset="0"/>
              </a:rPr>
              <a:t>Ej</a:t>
            </a:r>
            <a:r>
              <a:rPr lang="es-PE" sz="2000" dirty="0">
                <a:solidFill>
                  <a:srgbClr val="FF0000"/>
                </a:solidFill>
                <a:latin typeface="Arial" panose="020B0604020202020204" pitchFamily="34" charset="0"/>
                <a:cs typeface="Arial" panose="020B0604020202020204" pitchFamily="34" charset="0"/>
              </a:rPr>
              <a:t> 4: </a:t>
            </a:r>
            <a:r>
              <a:rPr lang="es-PE" sz="2000" dirty="0">
                <a:latin typeface="Arial" panose="020B0604020202020204" pitchFamily="34" charset="0"/>
                <a:cs typeface="Arial" panose="020B0604020202020204" pitchFamily="34" charset="0"/>
              </a:rPr>
              <a:t>Se realizo un estudio para conocer el habito de fumar en las mujeres, se aplico una encuesta a 750 mujeres, donde 287 respondieron que si fumaban. Con base a esta información</a:t>
            </a:r>
          </a:p>
          <a:p>
            <a:pPr marL="0" indent="0" algn="just">
              <a:buNone/>
            </a:pPr>
            <a:r>
              <a:rPr lang="es-PE" sz="2000" dirty="0">
                <a:latin typeface="Arial" panose="020B0604020202020204" pitchFamily="34" charset="0"/>
                <a:cs typeface="Arial" panose="020B0604020202020204" pitchFamily="34" charset="0"/>
              </a:rPr>
              <a:t>a)  Construya un intervalo  con una confianza del 90% para la proporción de todas las mujeres que participan de este habito?</a:t>
            </a:r>
          </a:p>
          <a:p>
            <a:pPr marL="0" indent="0" algn="just">
              <a:buNone/>
            </a:pPr>
            <a:r>
              <a:rPr lang="es-PE" sz="2000" dirty="0">
                <a:latin typeface="Arial" panose="020B0604020202020204" pitchFamily="34" charset="0"/>
                <a:cs typeface="Arial" panose="020B0604020202020204" pitchFamily="34" charset="0"/>
              </a:rPr>
              <a:t>b) Construya un intervalo  con una confianza del 99% para la proporción de todas las mujeres que participan de este habito</a:t>
            </a:r>
          </a:p>
          <a:p>
            <a:pPr marL="0" indent="0" algn="just">
              <a:buNone/>
            </a:pPr>
            <a:r>
              <a:rPr lang="es-PE" sz="2000" dirty="0">
                <a:latin typeface="Arial" panose="020B0604020202020204" pitchFamily="34" charset="0"/>
                <a:cs typeface="Arial" panose="020B0604020202020204" pitchFamily="34" charset="0"/>
              </a:rPr>
              <a:t>Sol :</a:t>
            </a:r>
          </a:p>
        </p:txBody>
      </p:sp>
    </p:spTree>
    <p:extLst>
      <p:ext uri="{BB962C8B-B14F-4D97-AF65-F5344CB8AC3E}">
        <p14:creationId xmlns:p14="http://schemas.microsoft.com/office/powerpoint/2010/main" val="25924026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a:extLst>
              <a:ext uri="{FF2B5EF4-FFF2-40B4-BE49-F238E27FC236}">
                <a16:creationId xmlns:a16="http://schemas.microsoft.com/office/drawing/2014/main" id="{9651B274-EC6B-4BFD-B716-A075418516DF}"/>
              </a:ext>
            </a:extLst>
          </p:cNvPr>
          <p:cNvSpPr/>
          <p:nvPr/>
        </p:nvSpPr>
        <p:spPr>
          <a:xfrm>
            <a:off x="1676400" y="3200400"/>
            <a:ext cx="2818400" cy="707886"/>
          </a:xfrm>
          <a:prstGeom prst="rect">
            <a:avLst/>
          </a:prstGeom>
          <a:noFill/>
        </p:spPr>
        <p:txBody>
          <a:bodyPr wrap="none">
            <a:spAutoFit/>
          </a:bodyPr>
          <a:lstStyle/>
          <a:p>
            <a:pPr algn="ctr" eaLnBrk="1" hangingPunct="1">
              <a:defRPr/>
            </a:pPr>
            <a:r>
              <a:rPr lang="es-ES" sz="4000" b="1" spc="300" dirty="0">
                <a:ln w="11430" cmpd="sng">
                  <a:solidFill>
                    <a:schemeClr val="accent1">
                      <a:tint val="10000"/>
                    </a:schemeClr>
                  </a:solidFill>
                  <a:prstDash val="solid"/>
                  <a:miter lim="800000"/>
                </a:ln>
                <a:gradFill>
                  <a:gsLst>
                    <a:gs pos="10000">
                      <a:schemeClr val="accent1">
                        <a:tint val="83000"/>
                        <a:shade val="100000"/>
                        <a:satMod val="200000"/>
                      </a:schemeClr>
                    </a:gs>
                    <a:gs pos="75000">
                      <a:schemeClr val="accent1">
                        <a:tint val="100000"/>
                        <a:shade val="50000"/>
                        <a:satMod val="150000"/>
                      </a:schemeClr>
                    </a:gs>
                  </a:gsLst>
                  <a:lin ang="5400000"/>
                </a:gradFill>
                <a:effectLst>
                  <a:glow rad="45500">
                    <a:schemeClr val="accent1">
                      <a:satMod val="220000"/>
                      <a:alpha val="35000"/>
                    </a:schemeClr>
                  </a:glow>
                </a:effectLst>
                <a:latin typeface="Arial" charset="0"/>
                <a:cs typeface="Arial" charset="0"/>
              </a:rPr>
              <a:t>GRACIAS</a:t>
            </a:r>
          </a:p>
        </p:txBody>
      </p:sp>
      <p:pic>
        <p:nvPicPr>
          <p:cNvPr id="38914" name="Picture 2" descr="http://ciberprensa.com/wp-content/uploads/2008/09/poker1.jpg">
            <a:hlinkClick r:id="rId2" action="ppaction://hlinkfile"/>
            <a:extLst>
              <a:ext uri="{FF2B5EF4-FFF2-40B4-BE49-F238E27FC236}">
                <a16:creationId xmlns:a16="http://schemas.microsoft.com/office/drawing/2014/main" id="{58653BBD-9082-49FB-A78A-6AC90A1D69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94800" y="1054030"/>
            <a:ext cx="4000500" cy="500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9" presetClass="exit" presetSubtype="0" accel="100000" fill="hold" nodeType="clickEffect">
                                  <p:stCondLst>
                                    <p:cond delay="0"/>
                                  </p:stCondLst>
                                  <p:childTnLst>
                                    <p:anim calcmode="lin" valueType="num">
                                      <p:cBhvr>
                                        <p:cTn id="6" dur="500"/>
                                        <p:tgtEl>
                                          <p:spTgt spid="4"/>
                                        </p:tgtEl>
                                        <p:attrNameLst>
                                          <p:attrName>ppt_w</p:attrName>
                                        </p:attrNameLst>
                                      </p:cBhvr>
                                      <p:tavLst>
                                        <p:tav tm="0">
                                          <p:val>
                                            <p:strVal val="ppt_w"/>
                                          </p:val>
                                        </p:tav>
                                        <p:tav tm="100000">
                                          <p:val>
                                            <p:fltVal val="0"/>
                                          </p:val>
                                        </p:tav>
                                      </p:tavLst>
                                    </p:anim>
                                    <p:anim calcmode="lin" valueType="num">
                                      <p:cBhvr>
                                        <p:cTn id="7" dur="500"/>
                                        <p:tgtEl>
                                          <p:spTgt spid="4"/>
                                        </p:tgtEl>
                                        <p:attrNameLst>
                                          <p:attrName>ppt_h</p:attrName>
                                        </p:attrNameLst>
                                      </p:cBhvr>
                                      <p:tavLst>
                                        <p:tav tm="0">
                                          <p:val>
                                            <p:strVal val="ppt_h"/>
                                          </p:val>
                                        </p:tav>
                                        <p:tav tm="100000">
                                          <p:val>
                                            <p:fltVal val="0"/>
                                          </p:val>
                                        </p:tav>
                                      </p:tavLst>
                                    </p:anim>
                                    <p:anim calcmode="lin" valueType="num">
                                      <p:cBhvr>
                                        <p:cTn id="8" dur="500"/>
                                        <p:tgtEl>
                                          <p:spTgt spid="4"/>
                                        </p:tgtEl>
                                        <p:attrNameLst>
                                          <p:attrName>style.rotation</p:attrName>
                                        </p:attrNameLst>
                                      </p:cBhvr>
                                      <p:tavLst>
                                        <p:tav tm="0">
                                          <p:val>
                                            <p:fltVal val="0"/>
                                          </p:val>
                                        </p:tav>
                                        <p:tav tm="100000">
                                          <p:val>
                                            <p:fltVal val="360"/>
                                          </p:val>
                                        </p:tav>
                                      </p:tavLst>
                                    </p:anim>
                                    <p:animEffect transition="out" filter="fade">
                                      <p:cBhvr>
                                        <p:cTn id="9" dur="500"/>
                                        <p:tgtEl>
                                          <p:spTgt spid="4"/>
                                        </p:tgtEl>
                                      </p:cBhvr>
                                    </p:animEffect>
                                    <p:set>
                                      <p:cBhvr>
                                        <p:cTn id="10" dur="1" fill="hold">
                                          <p:stCondLst>
                                            <p:cond delay="499"/>
                                          </p:stCondLst>
                                        </p:cTn>
                                        <p:tgtEl>
                                          <p:spTgt spid="4"/>
                                        </p:tgtEl>
                                        <p:attrNameLst>
                                          <p:attrName>style.visibility</p:attrName>
                                        </p:attrNameLst>
                                      </p:cBhvr>
                                      <p:to>
                                        <p:strVal val="hidden"/>
                                      </p:to>
                                    </p:set>
                                  </p:childTnLst>
                                </p:cTn>
                              </p:par>
                              <p:par>
                                <p:cTn id="11" presetID="55" presetClass="entr" presetSubtype="0" fill="hold" nodeType="withEffect">
                                  <p:stCondLst>
                                    <p:cond delay="0"/>
                                  </p:stCondLst>
                                  <p:childTnLst>
                                    <p:set>
                                      <p:cBhvr>
                                        <p:cTn id="12" dur="1" fill="hold">
                                          <p:stCondLst>
                                            <p:cond delay="0"/>
                                          </p:stCondLst>
                                        </p:cTn>
                                        <p:tgtEl>
                                          <p:spTgt spid="38914"/>
                                        </p:tgtEl>
                                        <p:attrNameLst>
                                          <p:attrName>style.visibility</p:attrName>
                                        </p:attrNameLst>
                                      </p:cBhvr>
                                      <p:to>
                                        <p:strVal val="visible"/>
                                      </p:to>
                                    </p:set>
                                    <p:anim calcmode="lin" valueType="num">
                                      <p:cBhvr>
                                        <p:cTn id="13" dur="1000" fill="hold"/>
                                        <p:tgtEl>
                                          <p:spTgt spid="38914"/>
                                        </p:tgtEl>
                                        <p:attrNameLst>
                                          <p:attrName>ppt_w</p:attrName>
                                        </p:attrNameLst>
                                      </p:cBhvr>
                                      <p:tavLst>
                                        <p:tav tm="0">
                                          <p:val>
                                            <p:strVal val="#ppt_w*0.70"/>
                                          </p:val>
                                        </p:tav>
                                        <p:tav tm="100000">
                                          <p:val>
                                            <p:strVal val="#ppt_w"/>
                                          </p:val>
                                        </p:tav>
                                      </p:tavLst>
                                    </p:anim>
                                    <p:anim calcmode="lin" valueType="num">
                                      <p:cBhvr>
                                        <p:cTn id="14" dur="1000" fill="hold"/>
                                        <p:tgtEl>
                                          <p:spTgt spid="38914"/>
                                        </p:tgtEl>
                                        <p:attrNameLst>
                                          <p:attrName>ppt_h</p:attrName>
                                        </p:attrNameLst>
                                      </p:cBhvr>
                                      <p:tavLst>
                                        <p:tav tm="0">
                                          <p:val>
                                            <p:strVal val="#ppt_h"/>
                                          </p:val>
                                        </p:tav>
                                        <p:tav tm="100000">
                                          <p:val>
                                            <p:strVal val="#ppt_h"/>
                                          </p:val>
                                        </p:tav>
                                      </p:tavLst>
                                    </p:anim>
                                    <p:animEffect transition="in" filter="fade">
                                      <p:cBhvr>
                                        <p:cTn id="15" dur="1000"/>
                                        <p:tgtEl>
                                          <p:spTgt spid="389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Galería">
  <a:themeElements>
    <a:clrScheme name="Galería">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ería">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ería">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Gallery</Template>
  <TotalTime>5228</TotalTime>
  <Words>1449</Words>
  <Application>Microsoft Office PowerPoint</Application>
  <PresentationFormat>Presentación en pantalla (4:3)</PresentationFormat>
  <Paragraphs>99</Paragraphs>
  <Slides>19</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19</vt:i4>
      </vt:variant>
    </vt:vector>
  </HeadingPairs>
  <TitlesOfParts>
    <vt:vector size="26" baseType="lpstr">
      <vt:lpstr>Arial</vt:lpstr>
      <vt:lpstr>Arial Narrow</vt:lpstr>
      <vt:lpstr>Calibri</vt:lpstr>
      <vt:lpstr>Cambria Math</vt:lpstr>
      <vt:lpstr>Gill Sans MT</vt:lpstr>
      <vt:lpstr>Wingdings</vt:lpstr>
      <vt:lpstr>Galería</vt:lpstr>
      <vt:lpstr>INTERVALO DE CONFIANZA PARA UNA MEDIA – UNA PROPORCION</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Probabilidad</dc:title>
  <dc:creator>Eliud</dc:creator>
  <cp:lastModifiedBy>USER</cp:lastModifiedBy>
  <cp:revision>232</cp:revision>
  <dcterms:created xsi:type="dcterms:W3CDTF">2010-02-01T06:23:52Z</dcterms:created>
  <dcterms:modified xsi:type="dcterms:W3CDTF">2025-05-13T16:42:31Z</dcterms:modified>
</cp:coreProperties>
</file>